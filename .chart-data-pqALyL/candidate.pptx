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59c48ee288844e3" /><Relationship Type="http://schemas.openxmlformats.org/officeDocument/2006/relationships/extended-properties" Target="/docProps/app.xml" Id="R44c1ce39aef843f7" /><Relationship Type="http://schemas.openxmlformats.org/officeDocument/2006/relationships/officeDocument" Target="/ppt/presentation.xml" Id="Ra48f68d3a2cd4897" /></Relationships>
</file>

<file path=ppt/presentation.xml><?xml version="1.0" encoding="utf-8"?>
<p:presentation xmlns:p="http://schemas.openxmlformats.org/presentationml/2006/main">
  <p:sldMasterIdLst>
    <p:sldMasterId xmlns:r="http://schemas.openxmlformats.org/officeDocument/2006/relationships" id="2147483648" r:id="R78fe869be4ef4508"/>
  </p:sldMasterIdLst>
  <p:notesMasterIdLst>
    <p:notesMasterId xmlns:r="http://schemas.openxmlformats.org/officeDocument/2006/relationships" r:id="R645c392dc6e642f0"/>
  </p:notesMasterIdLst>
  <p:sldIdLst>
    <p:sldId xmlns:r="http://schemas.openxmlformats.org/officeDocument/2006/relationships" id="256" r:id="Rb999cb5d614a43d5"/>
    <p:sldId xmlns:r="http://schemas.openxmlformats.org/officeDocument/2006/relationships" id="257" r:id="R7447612609564b19"/>
    <p:sldId xmlns:r="http://schemas.openxmlformats.org/officeDocument/2006/relationships" id="258" r:id="Rffe27ef07722424e"/>
    <p:sldId xmlns:r="http://schemas.openxmlformats.org/officeDocument/2006/relationships" id="259" r:id="R855f6cc4636a4e57"/>
    <p:sldId xmlns:r="http://schemas.openxmlformats.org/officeDocument/2006/relationships" id="260" r:id="R20fbcb1476024950"/>
    <p:sldId xmlns:r="http://schemas.openxmlformats.org/officeDocument/2006/relationships" id="261" r:id="Rbea4ba7f589b46ae"/>
    <p:sldId xmlns:r="http://schemas.openxmlformats.org/officeDocument/2006/relationships" id="262" r:id="R83e6f721471a4479"/>
    <p:sldId xmlns:r="http://schemas.openxmlformats.org/officeDocument/2006/relationships" id="263" r:id="R1bfc3d731fa14374"/>
    <p:sldId xmlns:r="http://schemas.openxmlformats.org/officeDocument/2006/relationships" id="264" r:id="R31c378baf9da475b"/>
    <p:sldId xmlns:r="http://schemas.openxmlformats.org/officeDocument/2006/relationships" id="265" r:id="R92bacb2821ec497e"/>
    <p:sldId xmlns:r="http://schemas.openxmlformats.org/officeDocument/2006/relationships" id="266" r:id="R91f844debc50454f"/>
    <p:sldId xmlns:r="http://schemas.openxmlformats.org/officeDocument/2006/relationships" id="267" r:id="R3d04d2a420084f4d"/>
    <p:sldId xmlns:r="http://schemas.openxmlformats.org/officeDocument/2006/relationships" id="268" r:id="R3ecaa6601b214483"/>
    <p:sldId xmlns:r="http://schemas.openxmlformats.org/officeDocument/2006/relationships" id="269" r:id="R2af3065cbb4740a9"/>
    <p:sldId xmlns:r="http://schemas.openxmlformats.org/officeDocument/2006/relationships" id="270" r:id="R9674d8a230504a13"/>
    <p:sldId xmlns:r="http://schemas.openxmlformats.org/officeDocument/2006/relationships" id="271" r:id="R009211bd4d7f429b"/>
    <p:sldId xmlns:r="http://schemas.openxmlformats.org/officeDocument/2006/relationships" id="272" r:id="R26827c707a21430b"/>
    <p:sldId xmlns:r="http://schemas.openxmlformats.org/officeDocument/2006/relationships" id="273" r:id="R2adb4e74279849ec"/>
    <p:sldId xmlns:r="http://schemas.openxmlformats.org/officeDocument/2006/relationships" id="274" r:id="R29f2abb6bbf84d47"/>
    <p:sldId xmlns:r="http://schemas.openxmlformats.org/officeDocument/2006/relationships" id="275" r:id="R69eaa3c206744094"/>
    <p:sldId xmlns:r="http://schemas.openxmlformats.org/officeDocument/2006/relationships" id="276" r:id="R546e282ae5cd41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bb851dd74d4f31" /><Relationship Type="http://schemas.openxmlformats.org/officeDocument/2006/relationships/slideMaster" Target="/ppt/slideMasters/slideMaster1.xml" Id="R78fe869be4ef4508" /><Relationship Type="http://schemas.openxmlformats.org/officeDocument/2006/relationships/notesMaster" Target="/ppt/notesMasters/notesMaster1.xml" Id="R645c392dc6e642f0" /><Relationship Type="http://schemas.openxmlformats.org/officeDocument/2006/relationships/presProps" Target="/ppt/presProps.xml" Id="R49d4834debf54871" /><Relationship Type="http://schemas.openxmlformats.org/officeDocument/2006/relationships/tableStyles" Target="/ppt/tableStyles.xml" Id="R5600f9357d3744f2" /><Relationship Type="http://schemas.openxmlformats.org/officeDocument/2006/relationships/slide" Target="/ppt/slides/slide1.xml" Id="Rb999cb5d614a43d5" /><Relationship Type="http://schemas.openxmlformats.org/officeDocument/2006/relationships/slide" Target="/ppt/slides/slide2.xml" Id="R7447612609564b19" /><Relationship Type="http://schemas.openxmlformats.org/officeDocument/2006/relationships/slide" Target="/ppt/slides/slide3.xml" Id="Rffe27ef07722424e" /><Relationship Type="http://schemas.openxmlformats.org/officeDocument/2006/relationships/slide" Target="/ppt/slides/slide4.xml" Id="R855f6cc4636a4e57" /><Relationship Type="http://schemas.openxmlformats.org/officeDocument/2006/relationships/slide" Target="/ppt/slides/slide5.xml" Id="R20fbcb1476024950" /><Relationship Type="http://schemas.openxmlformats.org/officeDocument/2006/relationships/slide" Target="/ppt/slides/slide6.xml" Id="Rbea4ba7f589b46ae" /><Relationship Type="http://schemas.openxmlformats.org/officeDocument/2006/relationships/slide" Target="/ppt/slides/slide7.xml" Id="R83e6f721471a4479" /><Relationship Type="http://schemas.openxmlformats.org/officeDocument/2006/relationships/slide" Target="/ppt/slides/slide8.xml" Id="R1bfc3d731fa14374" /><Relationship Type="http://schemas.openxmlformats.org/officeDocument/2006/relationships/slide" Target="/ppt/slides/slide9.xml" Id="R31c378baf9da475b" /><Relationship Type="http://schemas.openxmlformats.org/officeDocument/2006/relationships/slide" Target="/ppt/slides/slide10.xml" Id="R92bacb2821ec497e" /><Relationship Type="http://schemas.openxmlformats.org/officeDocument/2006/relationships/slide" Target="/ppt/slides/slide11.xml" Id="R91f844debc50454f" /><Relationship Type="http://schemas.openxmlformats.org/officeDocument/2006/relationships/slide" Target="/ppt/slides/slide12.xml" Id="R3d04d2a420084f4d" /><Relationship Type="http://schemas.openxmlformats.org/officeDocument/2006/relationships/slide" Target="/ppt/slides/slide13.xml" Id="R3ecaa6601b214483" /><Relationship Type="http://schemas.openxmlformats.org/officeDocument/2006/relationships/slide" Target="/ppt/slides/slide14.xml" Id="R2af3065cbb4740a9" /><Relationship Type="http://schemas.openxmlformats.org/officeDocument/2006/relationships/slide" Target="/ppt/slides/slide15.xml" Id="R9674d8a230504a13" /><Relationship Type="http://schemas.openxmlformats.org/officeDocument/2006/relationships/slide" Target="/ppt/slides/slide16.xml" Id="R009211bd4d7f429b" /><Relationship Type="http://schemas.openxmlformats.org/officeDocument/2006/relationships/slide" Target="/ppt/slides/slide17.xml" Id="R26827c707a21430b" /><Relationship Type="http://schemas.openxmlformats.org/officeDocument/2006/relationships/slide" Target="/ppt/slides/slide18.xml" Id="R2adb4e74279849ec" /><Relationship Type="http://schemas.openxmlformats.org/officeDocument/2006/relationships/slide" Target="/ppt/slides/slide19.xml" Id="R29f2abb6bbf84d47" /><Relationship Type="http://schemas.openxmlformats.org/officeDocument/2006/relationships/slide" Target="/ppt/slides/slide20.xml" Id="R69eaa3c206744094" /><Relationship Type="http://schemas.openxmlformats.org/officeDocument/2006/relationships/slide" Target="/ppt/slides/slide21.xml" Id="R546e282ae5cd41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a3083af16041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2be78fdee452f" /><Relationship Type="http://schemas.openxmlformats.org/officeDocument/2006/relationships/notesMaster" Target="/ppt/notesMasters/notesMaster1.xml" Id="R27cb91b9bb834ac9"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67a1b1e9b64261" /><Relationship Type="http://schemas.openxmlformats.org/officeDocument/2006/relationships/notesMaster" Target="/ppt/notesMasters/notesMaster1.xml" Id="R003827ad440d4a58"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c7fc37657e4449" /><Relationship Type="http://schemas.openxmlformats.org/officeDocument/2006/relationships/notesMaster" Target="/ppt/notesMasters/notesMaster1.xml" Id="R2b6dbc0d8f814451"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a5ec19ca9e45e9" /><Relationship Type="http://schemas.openxmlformats.org/officeDocument/2006/relationships/notesMaster" Target="/ppt/notesMasters/notesMaster1.xml" Id="R263b1b277eb24b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df9f50fe384e81" /><Relationship Type="http://schemas.openxmlformats.org/officeDocument/2006/relationships/notesMaster" Target="/ppt/notesMasters/notesMaster1.xml" Id="Rbb44d1fd1c3241c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74ef1add5243e0" /><Relationship Type="http://schemas.openxmlformats.org/officeDocument/2006/relationships/notesMaster" Target="/ppt/notesMasters/notesMaster1.xml" Id="Ra0076706baaf47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f0df15915f94068" /><Relationship Type="http://schemas.openxmlformats.org/officeDocument/2006/relationships/notesMaster" Target="/ppt/notesMasters/notesMaster1.xml" Id="R681c578ba32e41f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9e8681d7d24ccf" /><Relationship Type="http://schemas.openxmlformats.org/officeDocument/2006/relationships/notesMaster" Target="/ppt/notesMasters/notesMaster1.xml" Id="Rf7c3d187ed7b48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fe6353e871504b38" /><Relationship Type="http://schemas.openxmlformats.org/officeDocument/2006/relationships/notesMaster" Target="/ppt/notesMasters/notesMaster1.xml" Id="R0f9b6c4ef1f344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fc0d8d7fe0d49d4" /><Relationship Type="http://schemas.openxmlformats.org/officeDocument/2006/relationships/notesMaster" Target="/ppt/notesMasters/notesMaster1.xml" Id="R1303362cd79a4f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df198e692b34516" /><Relationship Type="http://schemas.openxmlformats.org/officeDocument/2006/relationships/notesMaster" Target="/ppt/notesMasters/notesMaster1.xml" Id="Rced339671e694e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d582e3db684c9d" /><Relationship Type="http://schemas.openxmlformats.org/officeDocument/2006/relationships/notesMaster" Target="/ppt/notesMasters/notesMaster1.xml" Id="R1919334d636747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9dabe876b24959" /><Relationship Type="http://schemas.openxmlformats.org/officeDocument/2006/relationships/notesMaster" Target="/ppt/notesMasters/notesMaster1.xml" Id="R3f8b13c14d1740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432e8c64a64617" /><Relationship Type="http://schemas.openxmlformats.org/officeDocument/2006/relationships/notesMaster" Target="/ppt/notesMasters/notesMaster1.xml" Id="R04a97e0cfd5a49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23424cdd0eb4f4e" /><Relationship Type="http://schemas.openxmlformats.org/officeDocument/2006/relationships/notesMaster" Target="/ppt/notesMasters/notesMaster1.xml" Id="R2335a6ca3047458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fdfd8d25c874d8a" /><Relationship Type="http://schemas.openxmlformats.org/officeDocument/2006/relationships/notesMaster" Target="/ppt/notesMasters/notesMaster1.xml" Id="R31572e275cdb472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a68f84e8a5448d2" /><Relationship Type="http://schemas.openxmlformats.org/officeDocument/2006/relationships/notesMaster" Target="/ppt/notesMasters/notesMaster1.xml" Id="R2b773249ae4b45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1645d3762f441e2" /><Relationship Type="http://schemas.openxmlformats.org/officeDocument/2006/relationships/notesMaster" Target="/ppt/notesMasters/notesMaster1.xml" Id="R1e696ae79bde46a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ab938a78e845bd" /><Relationship Type="http://schemas.openxmlformats.org/officeDocument/2006/relationships/notesMaster" Target="/ppt/notesMasters/notesMaster1.xml" Id="Re8e55d5b16184b6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101b46a2314983" /><Relationship Type="http://schemas.openxmlformats.org/officeDocument/2006/relationships/notesMaster" Target="/ppt/notesMasters/notesMaster1.xml" Id="Rd7b8458bc1094e4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ac7c804d4c447eb" /><Relationship Type="http://schemas.openxmlformats.org/officeDocument/2006/relationships/notesMaster" Target="/ppt/notesMasters/notesMaster1.xml" Id="Rbc00bc72f4f547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Em là Nguyễn Thành Lộc, MSSV 25410244. Em trình bày đồ án Website Scam / Phishing Detector của môn Kỹ thuật lập trình Python. Nội dung tập trung vào cách kết hợp bằng chứng, kết quả mô hình và demo ứng dụng. Thời lượng gợi ý: khoảng 15–18 phút cho 19 slide chính, 2 slide cuối dùng khi trao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giả mạo có thể đánh lừa người dùng để lấy mật khẩu, OTP hoặc thông tin thẻ. Đồ án nhận một URL và trả về dấu hiệu rủi ro có giải thích. Ba nguồn bằng chứng bổ sung cho nhau: luật cung cấp lý do, mô hình nhận dạng mẫu dữ liệu, blacklist nhận diện mục đã ghi nhận. Điểm cuối là chỉ số tổng hợp, không phải xác suất.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Python\Code\Final_project\docs\slide_report.md</a:t>
            </a:r>
          </a:p>
          <a:p xmlns:a="http://schemas.openxmlformats.org/drawingml/2006/main">
            <a:r>
              <a:t>D:\NguyenThanhLoc\UIT\Kỹ thuật lập trình Python\Code\Final_project\README.md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cung cấp API, Jinja2 dựng giao diện web và SQLAlchemy lưu lượt quét. Các module scanner, feature, ML và risk tách trách nhiệm. FeatureExtractor dùng chung schema và thứ tự 30 thuộc tính cho huấn luyện và suy luận. Việc dùng chung schema giảm lỗi ánh xạ nhưng chưa loại bỏ khác biệt giữa dữ liệu offline và dữ liệu quét thật.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Python\Code\Final_project\requirements.txt</a:t>
            </a:r>
          </a:p>
          <a:p xmlns:a="http://schemas.openxmlformats.org/drawingml/2006/main">
            <a:r>
              <a:t>D:\NguyenThanhLoc\UIT\Kỹ thuật lập trình Python\Code\Final_project\docs\architecture.md</a:t>
            </a:r>
          </a:p>
          <a:p xmlns:a="http://schemas.openxmlformats.org/drawingml/2006/main">
            <a:r>
              <a:t>D:\NguyenThanhLoc\UIT\Kỹ thuật lập trình Python\Code\Final_project\app\features\extractor.py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URL đi qua bước kiểm tra an toàn và tải trang có giới hạn. Scanner tạo tín hiệu để FeatureExtractor xây vector 30 thuộc tính. Luật và mô hình tạo bằng chứng riêng, blacklist đi trực tiếp vào Risk Engine. Sau tổng hợp, dịch vụ lưu kết quả cùng các dấu hiệu rồi trả qua web hoặc API. Danh sách đen không nằm trong vector ML.</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Python\Code\Final_project\docs\architecture.md</a:t>
            </a:r>
          </a:p>
          <a:p xmlns:a="http://schemas.openxmlformats.org/drawingml/2006/main">
            <a:r>
              <a:t>D:\NguyenThanhLoc\UIT\Kỹ thuật lập trình Python\Code\Final_project\app\services\scan_service.py</a:t>
            </a:r>
          </a:p>
          <a:p xmlns:a="http://schemas.openxmlformats.org/drawingml/2006/main">
            <a:r>
              <a:t>D:\NguyenThanhLoc\UIT\Kỹ thuật lập trình Python\Code\Final_project\app\risk\engine.py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URL analyzer kiểm tra cấu trúc. Domain analyzer dùng RDAP, dự phòng WHOIS. TLS analyzer kiểm tra chứng chỉ thật khi quét. HTML analyzer chỉ đọc HTML tĩnh. Brand detector dùng so khớp mờ và dấu hiệu form đăng nhập để giảm cảnh báo chỉ vì tên gần giống. Hệ thống hiện cấu hình 12 thương hiệu và 28 TLD đáng ngờ.</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Python\Code\Final_project\app\scanners\url_analyzer.py</a:t>
            </a:r>
          </a:p>
          <a:p xmlns:a="http://schemas.openxmlformats.org/drawingml/2006/main">
            <a:r>
              <a:t>D:\NguyenThanhLoc\UIT\Kỹ thuật lập trình Python\Code\Final_project\app\scanners\domain_analyzer.py</a:t>
            </a:r>
          </a:p>
          <a:p xmlns:a="http://schemas.openxmlformats.org/drawingml/2006/main">
            <a:r>
              <a:t>D:\NguyenThanhLoc\UIT\Kỹ thuật lập trình Python\Code\Final_project\app\scanners\ssl_analyzer.py</a:t>
            </a:r>
          </a:p>
          <a:p xmlns:a="http://schemas.openxmlformats.org/drawingml/2006/main">
            <a:r>
              <a:t>D:\NguyenThanhLoc\UIT\Kỹ thuật lập trình Python\Code\Final_project\app\scanners\html_analyzer.py</a:t>
            </a:r>
          </a:p>
          <a:p xmlns:a="http://schemas.openxmlformats.org/drawingml/2006/main">
            <a:r>
              <a:t>D:\NguyenThanhLoc\UIT\Kỹ thuật lập trình Python\Code\Final_project\app\scanners\brand_detector.py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luật tạo finding gồm loại, mức độ, nội dung và số điểm. Bảng chọn các luật tiêu biểu. Tuổi tên miền dưới 7 ngày nhận 30 điểm, từ 7 đến dưới 30 ngày nhận 20 điểm, không cộng cả hai. Giả mạo thương hiệu đòi hỏi thêm dấu hiệu đăng nhập và không thuộc domain chính thức. Tổng điểm được chặn trong 0–100.</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Python\Code\Final_project\app\risk\rules.py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PhiUSIIL gốc có 235.795 URL. Sau loại trùng, metadata ghi 235.370 dòng, tức loại 425 dòng. Các confusion matrix train và test cho thấy tổng sau làm sạch là 134.850 hợp lệ và 100.520 phishing. Không dùng tỷ lệ lớp của dữ liệu gốc để mô tả dữ liệu đã làm sạch. Chia theo registrable domain để hạn chế việc cùng tên miền xuất hiện ở hai tập. Nhãn nội bộ: 1 phishing, 0 hợp lệ.</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Python\Code\Final_project\artifacts\phishing_model_v1\metadata.json</a:t>
            </a:r>
          </a:p>
          <a:p xmlns:a="http://schemas.openxmlformats.org/drawingml/2006/main">
            <a:r>
              <a:t>D:\NguyenThanhLoc\UIT\Kỹ thuật lập trình Python\Code\Final_project\artifacts\phishing_model_v1\metrics.json</a:t>
            </a:r>
          </a:p>
          <a:p xmlns:a="http://schemas.openxmlformats.org/drawingml/2006/main">
            <a:r>
              <a:t>D:\NguyenThanhLoc\UIT\Kỹ thuật lập trình Python\Code\Final_project\app\ml\splitting.py</a:t>
            </a:r>
          </a:p>
          <a:p xmlns:a="http://schemas.openxmlformats.org/drawingml/2006/main">
            <a:r>
              <a:t>D:\NguyenThanhLoc\UIT\Kỹ thuật lập trình Python\Code\Final_project\scripts\train_model.py</a:t>
            </a:r>
          </a:p>
          <a:p xmlns:a="http://schemas.openxmlformats.org/drawingml/2006/main">
            <a:r>
              <a:t>D:\NguyenThanhLoc\UIT\Kỹ thuật lập trình Python\Code\Final_project\docs\slide_report.md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nhóm cộng thành 30 thuộc tính: URL 14, domain và TLS 5, HTML 7, thương hiệu 3, chuyển hướng 1. FeatureExtractor giữ thứ tự cột nhất quán. Blacklist được tách khỏi ML để hạn chế rò rỉ nhãn. Với dữ liệu offline thiếu tuổi domain và chứng chỉ thật, schema giống nhau không có nghĩa chất lượng tín hiệu giống nhau.</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Python\Code\Final_project\app\features\definitions.py</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FNR là FN chia cho FN cộng TP, đo tỷ lệ phishing bị dự đoán hợp lệ. Script chọn mô hình có test FNR thấp nhất, nếu hòa chọn F1 cao hơn. XGBoost đạt 3,47%, thấp hơn Random Forest khoảng 0,085 điểm phần trăm, tương ứng 19 URL trong 22.238 URL phishing. Chênh lệch nhỏ, chưa có kiểm định thống kê để kết luận vượt trội. Việc chọn trên test cũng là hạn chế của quy trình đánh giá.</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Python\Code\Final_project\artifacts\phishing_model_v1\metrics.json</a:t>
            </a:r>
          </a:p>
          <a:p xmlns:a="http://schemas.openxmlformats.org/drawingml/2006/main">
            <a:r>
              <a:t>D:\NguyenThanhLoc\UIT\Kỹ thuật lập trình Python\Code\Final_project\scripts\train_model.py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Tập test có 27.178 URL hợp lệ và 22.238 phishing. Mô hình nhận đúng 21.466 phishing, bỏ sót 772, và cảnh báo nhầm 292 URL hợp lệ. Recall phishing 96,53%, precision 98,66%, F1 97,58%, accuracy 97,85%. Accuracy train 97,876% và test 97,847% chênh khoảng 0,029 điểm phần trăm, nhưng chưa đủ để khẳng định không overfit hoặc đảm bảo chất lượng ngoài thực tế.</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Gain là mức cải thiện khi tách cây, đã chuẩn hóa trong feature_importances_. has_https chiếm 43,15% và hostname_match 30,96%, tổng 74,11%. PhiUSIIL không có kiểm tra SAN/hostname thật. Dù metadata nói không sao chép IsHTTPS trực tiếp, extract_url_only vẫn dùng scheme URL làm giá trị mặc định cho hostname_match. Vì vậy không diễn giải 31% này là mô hình đã học chất lượng chứng chỉ thật.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Python\Code\Final_project\artifacts\phishing_model_v1\model.joblib</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Số liệu là snapshot feed_meta.json ngày 28/09/2026, không phải số lượng cố định theo thời gian. OpenPhish và URLhaus cung cấp URL. Phishing.Database cung cấp domain. Tổng domain được hợp nhất và loại trùng, nên không lấy phép cộng thô từng nguồn làm tổng. Local seed là nguồn nhập tay riêng. Tự đồng bộ khi khởi động nếu dữ liệu cũ hơn 24 giờ.</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Python\Code\Final_project\data\blacklist\feed_meta.json</a:t>
            </a:r>
          </a:p>
          <a:p xmlns:a="http://schemas.openxmlformats.org/drawingml/2006/main">
            <a:r>
              <a:t>D:\NguyenThanhLoc\UIT\Kỹ thuật lập trình Python\Code\Final_project\app\scanners\blacklist_checker.py</a:t>
            </a:r>
          </a:p>
          <a:p xmlns:a="http://schemas.openxmlformats.org/drawingml/2006/main">
            <a:r>
              <a:t>D:\NguyenThanhLoc\UIT\Kỹ thuật lập trình Python\Code\Final_project\app\scanners\blacklist_feeds.py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không có blacklist và có ML, công thức thường dùng trọng số luật 0,55 và ML 0,45. Nếu điểm luật ít nhất 50 và p ít nhất 0,5, wML giảm thành 0,3825 và wRule tăng thành 0,6175. Có blacklist thì điểm ít nhất 85, có thể tăng theo luật và ML. Không có mô hình thì dùng luật. Kết quả làm tròn số nguyên và giới hạn 0–100.</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Python\Code\Final_project\app\risk\engine.py</a:t>
            </a:r>
          </a:p>
          <a:p xmlns:a="http://schemas.openxmlformats.org/drawingml/2006/main">
            <a:r>
              <a:t>D:\NguyenThanhLoc\UIT\Kỹ thuật lập trình Python\Code\Final_project\app\config.py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SSRF là trường hợp server bị lợi dụng để gửi yêu cầu vào mạng nội bộ. Hệ thống kiểm tra URL, DNS và IP, chặn mạng private/loopback/link-local và kiểm tra lại mỗi redirect. Chỉ http/https, không URL chứa thông tin đăng nhập. Giới hạn timeout và HTML giảm nguy cơ treo/tải quá lớn. Đây là các biện pháp giảm rủi ro, không phải chứng nhận an toàn tuyệt đối. Bộ kiểm thử pytest chạy ngày 28/09/2026: 16 passed in 3.73s.</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Python\Code\Final_project\app\core\ssrf.py</a:t>
            </a:r>
          </a:p>
          <a:p xmlns:a="http://schemas.openxmlformats.org/drawingml/2006/main">
            <a:r>
              <a:t>D:\NguyenThanhLoc\UIT\Kỹ thuật lập trình Python\Code\Final_project\app\core\http_client.py</a:t>
            </a:r>
          </a:p>
          <a:p xmlns:a="http://schemas.openxmlformats.org/drawingml/2006/main">
            <a:r>
              <a:t>D:\NguyenThanhLoc\UIT\Kỹ thuật lập trình Python\Code\Final_project\app\config.py</a:t>
            </a:r>
          </a:p>
          <a:p xmlns:a="http://schemas.openxmlformats.org/drawingml/2006/main">
            <a:r>
              <a:t>D:\NguyenThanhLoc\UIT\Kỹ thuật lập trình Python\Code\Final_project\tests\test_core.py</a:t>
            </a:r>
          </a:p>
          <a:p xmlns:a="http://schemas.openxmlformats.org/drawingml/2006/main">
            <a:r>
              <a:t>D:\NguyenThanhLoc\UIT\Kỹ thuật lập trình Python\Code\Final_project\tests\test_blacklist.py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trang chủ của ứng dụng đang chạy tại localhost:8000. Người dùng nhập domain hoặc URL và nhấn Phân tích. Ứng dụng chuyển sang trang tiến trình rồi trang kết quả. Danh sách vừa kiểm tra cho phép mở lại kết quả đã lưu. Khi demo trực tiếp có thể dùng https://github.com hoặc một kết quả đã có sẵn. Không mở trực tiếp trang đáng ngờ để trình bày.</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Python\Code\Final_project\app\templates\index.html</a:t>
            </a:r>
          </a:p>
          <a:p xmlns:a="http://schemas.openxmlformats.org/drawingml/2006/main">
            <a:r>
              <a:t>D:\NguyenThanhLoc\UIT\Kỹ thuật lập trình Python\Code\Final_project\app\templates\analyze.html</a:t>
            </a:r>
          </a:p>
          <a:p xmlns:a="http://schemas.openxmlformats.org/drawingml/2006/main">
            <a:r>
              <a:t>D:\NguyenThanhLoc\UIT\Kỹ thuật lập trình Python\Code\Final_project\app\web\routes\pages.py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thật của lượt quét #63 đã lưu, phiên bản mô hình 1.2. Điểm luật 28, ML 99,9%, không blacklist, điểm tổng hợp 60. 0,55 × 28 + 0,45 × 99,9 ≈ 60. Trạng thái partial vì thiếu dữ liệu ssrf_or_dns. Kết quả này minh họa cách hiển thị, không chứng minh website chắc chắn phishing. Checklist còn có những mục thể hiện không phát hiện dù dữ liệu thiếu, nên cần đọc cùng trạng thái partial.</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Python\Code\Final_project\app\templates\result.html</a:t>
            </a:r>
          </a:p>
          <a:p xmlns:a="http://schemas.openxmlformats.org/drawingml/2006/main">
            <a:r>
              <a:t>D:\NguyenThanhLoc\UIT\Kỹ thuật lập trình Python\Code\Final_project\data\scans.db</a:t>
            </a:r>
          </a:p>
          <a:p xmlns:a="http://schemas.openxmlformats.org/drawingml/2006/main">
            <a:r>
              <a:t>D:\NguyenThanhLoc\UIT\Kỹ thuật lập trình Python\Code\Final_project\app\risk\checklist.py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đo trên một tập PhiUSIIL đã dùng để chọn mô hình, chưa phải đánh giá độc lập ngoài mẫu. Cần tách validation để chọn mô hình và giữ test độc lập. Dữ liệu offline không có tuổi domain hoặc kiểm tra chứng chỉ thật, hostname_match dùng mặc định theo scheme. Bộ quét chỉ đọc HTML tĩnh, chưa quan sát DOM do JavaScript tạo. RDAP/WHOIS hoặc DNS lỗi làm thiếu bằng chứng. Checklist cần phân biệt rõ chưa biết và đạt.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Python\Code\Final_project\scripts\train_model.py</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Python\Code\Final_project\app\core\http_client.py</a:t>
            </a:r>
          </a:p>
          <a:p xmlns:a="http://schemas.openxmlformats.org/drawingml/2006/main">
            <a:r>
              <a:t>D:\NguyenThanhLoc\UIT\Kỹ thuật lập trình Python\Code\Final_project\app\risk\checklist.py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tiếp theo là cải thiện đánh giá trước khi mở rộng giao diện. Tách train/validation/test theo domain và bổ sung kiểm tra theo thời gian. Thu thập tuổi domain, TLS thật, thử ablation bỏ nhóm HTTPS để đo phụ thuộc. Hiệu chỉnh xác suất trên tập riêng. Trong vận hành, phân biệt unknown với đạt trong checklist, bổ sung headless có kiểm soát khi quét JavaScript. Cuối cùng mở rộng thương hiệu và tiện ích trình duyệt. Các mục này là kế hoạch, chưa triển khai.</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Python\Code\Final_project\docs\slide_report.md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Đồ án triển khai một luồng Python hoàn chỉnh từ URL, phân tích bằng chứng, tính điểm đến lưu trữ và giao diện. XGBoost có FNR 3,47% và F1 97,58% trên tập đánh giá hiện tại. Thành quả chính là kết hợp các nguồn bằng chứng và giải thích cho người dùng. Chất lượng ngoài thực tế còn cần kiểm chứng bằng dữ liệu độc lập và cập nhật hơn. Em xin cảm ơn thầy cô và sẵn sàng trao đổi.</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Python\Code\Final_project\README.md</a:t>
            </a:r>
          </a:p>
          <a:p xmlns:a="http://schemas.openxmlformats.org/drawingml/2006/main">
            <a:r>
              <a:t>D:\NguyenThanhLoc\UIT\Kỹ thuật lập trình Python\Code\Final_project\artifacts\phishing_model_v1\metrics.json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Toàn bộ chỉ số trong bảng lấy từ metrics.json, phần test. Cột bỏ sót là FN. Tổng mẫu test 49.416, phishing 22.238. Script lựa chọn bằng FNR và phá hòa bằng F1. Chênh lệch train/test accuracy của XGBoost khoảng 0,029 điểm phần trăm không đủ để loại trừ overfitting hoặc dịch chuyển phân phối.</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số câu trả lời ngắn: ưu tiên FNR để theo dõi bỏ sót phishing. Điểm risk 80 không có nghĩa 80% khả năng lừa đảo, vì đây là điểm tổng hợp. Không có blacklist không đảm bảo an toàn. Unknown không phải tuổi 0 ngày. Nếu được hỏi model dùng tuổi domain hay chưa: thuộc tính có trong schema nhưng gain bằng 0 do PhiUSIIL không có dữ liệu thật. Model hiện tại dùng hostname_match như proxy HTTPS ở offline, cần cải thiện dữ liệu.</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Python\Code\Final_project\app\risk\engine.py</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Python\Code\Final_project\artifacts\phishing_model_v1\metadata.json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cdf61c497174d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6ebf750a6b41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2941fb40ba4cd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e04df47bf2b4d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5e1df43de74b8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0947d91e6a4d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A56BDBAC-1659-40DE-AFFA-4E6DACF06271}"/>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EA126A3-7BB4-4075-B99E-90323936BDA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B61B96C3-0F71-4C89-8137-70B81EE9D8D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8948DDA2-0642-4CD9-827E-EF2A57CD368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50B141F-9A96-4F6A-BE98-931C04EEDBA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D54373C-2D6D-4AF2-9275-CE2B41EAC06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B490026-D355-4E92-9C25-16EA3ED676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BA0BA491-D200-4466-9D24-586C76FFD2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A6D41632-80FB-4824-89AD-7B46948528E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759461A-0E42-4B97-89DE-D7D9EEAD19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34BE5FC-E025-4A14-B5D9-C645D0CC5C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4BA94806-E5D0-4420-AA0B-382D09D92F7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AA0494-016E-4F96-8E4E-63835C4A0EF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A3074F-9C71-461B-B838-DED0B2C01C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B174E80-8E39-45F8-9BEC-B5563AF308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865d24d0c144ff" /><Relationship Type="http://schemas.openxmlformats.org/officeDocument/2006/relationships/slideLayout" Target="/ppt/slideLayouts/slideLayout1.xml" Id="R36d5482652c1465d" /><Relationship Type="http://schemas.openxmlformats.org/officeDocument/2006/relationships/slideLayout" Target="/ppt/slideLayouts/slideLayout2.xml" Id="R806468f06693416a" /><Relationship Type="http://schemas.openxmlformats.org/officeDocument/2006/relationships/slideLayout" Target="/ppt/slideLayouts/slideLayout3.xml" Id="R65e8c39c6e724bfc" /><Relationship Type="http://schemas.openxmlformats.org/officeDocument/2006/relationships/slideLayout" Target="/ppt/slideLayouts/slideLayout4.xml" Id="Rd198e8a4aea54680" /><Relationship Type="http://schemas.openxmlformats.org/officeDocument/2006/relationships/slideLayout" Target="/ppt/slideLayouts/slideLayout5.xml" Id="R1bca8c8e4b5e4761" /><Relationship Type="http://schemas.openxmlformats.org/officeDocument/2006/relationships/slideLayout" Target="/ppt/slideLayouts/slideLayout6.xml" Id="R5bbf648e7f0a4b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d5482652c1465d"/>
    <p:sldLayoutId xmlns:r="http://schemas.openxmlformats.org/officeDocument/2006/relationships" id="2147483650" r:id="R806468f06693416a"/>
    <p:sldLayoutId xmlns:r="http://schemas.openxmlformats.org/officeDocument/2006/relationships" id="2147483651" r:id="R65e8c39c6e724bfc"/>
    <p:sldLayoutId xmlns:r="http://schemas.openxmlformats.org/officeDocument/2006/relationships" id="2147483652" r:id="Rd198e8a4aea54680"/>
    <p:sldLayoutId xmlns:r="http://schemas.openxmlformats.org/officeDocument/2006/relationships" id="2147483653" r:id="R1bca8c8e4b5e4761"/>
    <p:sldLayoutId xmlns:r="http://schemas.openxmlformats.org/officeDocument/2006/relationships" id="2147483654" r:id="R5bbf648e7f0a4b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be4e633220a4f96" /><Relationship Type="http://schemas.openxmlformats.org/officeDocument/2006/relationships/notesSlide" Target="/ppt/notesSlides/notesSlide1.xml" Id="Rde484c1c0bb74e9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f3a20205a144b7a" /><Relationship Type="http://schemas.openxmlformats.org/officeDocument/2006/relationships/notesSlide" Target="/ppt/notesSlides/notesSlide2.xml" Id="R6031ec02e57245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8e7e315b1c142ff" /><Relationship Type="http://schemas.openxmlformats.org/officeDocument/2006/relationships/notesSlide" Target="/ppt/notesSlides/notesSlide3.xml" Id="Rbe0801c2203d43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68b12d3bc744a5" /><Relationship Type="http://schemas.openxmlformats.org/officeDocument/2006/relationships/notesSlide" Target="/ppt/notesSlides/notesSlide4.xml" Id="Rc90b6071e2774f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3c7610ada34a17" /><Relationship Type="http://schemas.openxmlformats.org/officeDocument/2006/relationships/notesSlide" Target="/ppt/notesSlides/notesSlide5.xml" Id="Rb582ad7a3e0441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0ae909cd7b74156" /><Relationship Type="http://schemas.openxmlformats.org/officeDocument/2006/relationships/notesSlide" Target="/ppt/notesSlides/notesSlide6.xml" Id="R6dbfbf046f3b41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3fc8e7f748740f9" /><Relationship Type="http://schemas.openxmlformats.org/officeDocument/2006/relationships/notesSlide" Target="/ppt/notesSlides/notesSlide7.xml" Id="R5ac849c8225546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5a730de22ca4143" /><Relationship Type="http://schemas.openxmlformats.org/officeDocument/2006/relationships/notesSlide" Target="/ppt/notesSlides/notesSlide8.xml" Id="Rec7de49f78c74de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15eb4418aa84590" /><Relationship Type="http://schemas.openxmlformats.org/officeDocument/2006/relationships/chart" Target="/ppt/slides/charts/chart1.xml" Id="R872d92b58a944561" /><Relationship Type="http://schemas.openxmlformats.org/officeDocument/2006/relationships/notesSlide" Target="/ppt/notesSlides/notesSlide9.xml" Id="Rdd6e48b9d9c64d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602413c333455b" /><Relationship Type="http://schemas.openxmlformats.org/officeDocument/2006/relationships/notesSlide" Target="/ppt/notesSlides/notesSlide10.xml" Id="R9b32c234da7e47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62805dda18242ce" /><Relationship Type="http://schemas.openxmlformats.org/officeDocument/2006/relationships/chart" Target="/ppt/slides/charts/chart2.xml" Id="R0e14398140964597" /><Relationship Type="http://schemas.openxmlformats.org/officeDocument/2006/relationships/notesSlide" Target="/ppt/notesSlides/notesSlide11.xml" Id="Rd0115bce7cba40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c64ae2faef459e" /><Relationship Type="http://schemas.openxmlformats.org/officeDocument/2006/relationships/notesSlide" Target="/ppt/notesSlides/notesSlide12.xml" Id="R2be7674c1b3849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7391ec6e8634449" /><Relationship Type="http://schemas.openxmlformats.org/officeDocument/2006/relationships/notesSlide" Target="/ppt/notesSlides/notesSlide13.xml" Id="R6e2e658ebce04e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a6d64e620444eed" /><Relationship Type="http://schemas.openxmlformats.org/officeDocument/2006/relationships/notesSlide" Target="/ppt/notesSlides/notesSlide14.xml" Id="Rd0e29b56513b4b0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de735e94beb47e8" /><Relationship Type="http://schemas.openxmlformats.org/officeDocument/2006/relationships/image" Target="/ppt/media/image.jpeg" Id="R1ae69a65edb64222" /><Relationship Type="http://schemas.openxmlformats.org/officeDocument/2006/relationships/notesSlide" Target="/ppt/notesSlides/notesSlide15.xml" Id="R80074967badb405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7edcd3921424430" /><Relationship Type="http://schemas.openxmlformats.org/officeDocument/2006/relationships/image" Target="/ppt/media/image2.jpeg" Id="R1e1757b77be54a05" /><Relationship Type="http://schemas.openxmlformats.org/officeDocument/2006/relationships/notesSlide" Target="/ppt/notesSlides/notesSlide16.xml" Id="R570eaa37c28f45a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a0b9e47b64e4377" /><Relationship Type="http://schemas.openxmlformats.org/officeDocument/2006/relationships/notesSlide" Target="/ppt/notesSlides/notesSlide17.xml" Id="Rb05791b046844aa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b7d455e9a8448f5" /><Relationship Type="http://schemas.openxmlformats.org/officeDocument/2006/relationships/notesSlide" Target="/ppt/notesSlides/notesSlide18.xml" Id="R0e416c0bb4a940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43637f5a68d4585" /><Relationship Type="http://schemas.openxmlformats.org/officeDocument/2006/relationships/notesSlide" Target="/ppt/notesSlides/notesSlide19.xml" Id="R644c1468030244e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7c6f98993a144c0" /><Relationship Type="http://schemas.openxmlformats.org/officeDocument/2006/relationships/notesSlide" Target="/ppt/notesSlides/notesSlide20.xml" Id="R0acd5274e57d48d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a3d6f8d9f754e1b" /><Relationship Type="http://schemas.openxmlformats.org/officeDocument/2006/relationships/notesSlide" Target="/ppt/notesSlides/notesSlide21.xml" Id="R3a952db1733548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Tỷ lệ</c:v>
          </c:tx>
          <c:spPr>
            <a:solidFill xmlns:a="http://schemas.openxmlformats.org/drawingml/2006/main">
              <a:srgbClr val="007F86"/>
            </a:solidFill>
            <a:ln xmlns:a="http://schemas.openxmlformats.org/drawingml/2006/main" w="0">
              <a:noFill/>
            </a:ln>
          </c:spPr>
          <c:dPt>
            <c:idx val="0"/>
            <c:invertIfNegative val="0"/>
            <c:spPr>
              <a:solidFill xmlns:a="http://schemas.openxmlformats.org/drawingml/2006/main">
                <a:srgbClr val="91A6B5"/>
              </a:solidFill>
            </c:spPr>
          </c:dPt>
          <c:dPt>
            <c:idx val="1"/>
            <c:invertIfNegative val="0"/>
            <c:spPr>
              <a:solidFill xmlns:a="http://schemas.openxmlformats.org/drawingml/2006/main">
                <a:srgbClr val="6D8C9F"/>
              </a:solidFill>
            </c:spPr>
          </c:dPt>
          <c:dPt>
            <c:idx val="2"/>
            <c:invertIfNegative val="0"/>
            <c:spPr>
              <a:solidFill xmlns:a="http://schemas.openxmlformats.org/drawingml/2006/main">
                <a:srgbClr val="397B89"/>
              </a:solidFill>
            </c:spPr>
          </c:dPt>
          <c:dPt>
            <c:idx val="3"/>
            <c:invertIfNegative val="0"/>
            <c:spPr>
              <a:solidFill xmlns:a="http://schemas.openxmlformats.org/drawingml/2006/main">
                <a:srgbClr val="007F86"/>
              </a:solidFill>
            </c:spPr>
          </c:dPt>
          <c:cat>
            <c:strRef>
              <c:f>'Chart Data'!$A$2:$A$5</c:f>
              <c:strCache>
                <c:ptCount val="4"/>
                <c:pt idx="0">
                  <c:v>Logistic
Regression</c:v>
                </c:pt>
                <c:pt idx="1">
                  <c:v>Decision
Tree</c:v>
                </c:pt>
                <c:pt idx="2">
                  <c:v>Random
Forest</c:v>
                </c:pt>
                <c:pt idx="3">
                  <c:v>XGBoost</c:v>
                </c:pt>
              </c:strCache>
            </c:strRef>
          </c:cat>
          <c:val>
            <c:numRef>
              <c:f>'Chart Data'!$B$2:$B$5</c:f>
              <c:numCache>
                <c:formatCode>0.00%</c:formatCode>
                <c:ptCount val="4"/>
                <c:pt idx="0">
                  <c:v>0.05499595</c:v>
                </c:pt>
                <c:pt idx="1">
                  <c:v>0.04487814</c:v>
                </c:pt>
                <c:pt idx="2">
                  <c:v>0.03556975</c:v>
                </c:pt>
                <c:pt idx="3">
                  <c:v>0.03471535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02A43"/>
                </a:solidFill>
                <a:latin typeface="Arial"/>
                <a:ea typeface="Arial"/>
                <a:cs typeface="Arial"/>
              </a:defRPr>
            </a:pPr>
          </a:p>
        </c:txPr>
        <c:crossAx val="48672768"/>
      </c:catAx>
      <c:valAx>
        <c:axId val="48672768"/>
        <c:scaling>
          <c:orientation val="minMax"/>
          <c:max val="0.065"/>
          <c:min val="0"/>
        </c:scaling>
        <c:delete val="0"/>
        <c:axPos val="l"/>
        <c:majorGridlines>
          <c:spPr>
            <a:ln xmlns:a="http://schemas.openxmlformats.org/drawingml/2006/main" w="9525">
              <a:solidFill>
                <a:srgbClr val="D6E0E5"/>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rial"/>
                <a:ea typeface="Arial"/>
                <a:cs typeface="Arial"/>
              </a:defRPr>
            </a:pPr>
          </a:p>
        </c:txPr>
        <c:crossAx val="48650112"/>
        <c:crossBetween val="between"/>
      </c:valAx>
      <c:spPr>
        <a:solidFill xmlns:a="http://schemas.openxmlformats.org/drawingml/2006/main">
          <a:srgbClr val="F5F7F8"/>
        </a:solidFill>
        <a:ln xmlns:a="http://schemas.openxmlformats.org/drawingml/2006/main" w="0">
          <a:noFill/>
        </a:ln>
      </c:spPr>
    </c:plotArea>
    <c:plotVisOnly val="1"/>
  </c:chart>
  <c:spPr>
    <a:solidFill xmlns:a="http://schemas.openxmlformats.org/drawingml/2006/main">
      <a:srgbClr val="F5F7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Tỷ lệ</c:v>
          </c:tx>
          <c:spPr>
            <a:solidFill xmlns:a="http://schemas.openxmlformats.org/drawingml/2006/main">
              <a:srgbClr val="007F86"/>
            </a:solidFill>
            <a:ln xmlns:a="http://schemas.openxmlformats.org/drawingml/2006/main" w="0">
              <a:noFill/>
            </a:ln>
          </c:spPr>
          <c:cat>
            <c:strRef>
              <c:f>'Chart Data'!$A$2:$A$9</c:f>
              <c:strCache>
                <c:ptCount val="8"/>
                <c:pt idx="0">
                  <c:v>iframe_count</c:v>
                </c:pt>
                <c:pt idx="1">
                  <c:v>num_subdomains</c:v>
                </c:pt>
                <c:pt idx="2">
                  <c:v>num_digits</c:v>
                </c:pt>
                <c:pt idx="3">
                  <c:v>url_length</c:v>
                </c:pt>
                <c:pt idx="4">
                  <c:v>path_depth</c:v>
                </c:pt>
                <c:pt idx="5">
                  <c:v>form_count</c:v>
                </c:pt>
                <c:pt idx="6">
                  <c:v>hostname_match</c:v>
                </c:pt>
                <c:pt idx="7">
                  <c:v>has_https</c:v>
                </c:pt>
              </c:strCache>
            </c:strRef>
          </c:cat>
          <c:val>
            <c:numRef>
              <c:f>'Chart Data'!$B$2:$B$9</c:f>
              <c:numCache>
                <c:formatCode>0.0%</c:formatCode>
                <c:ptCount val="8"/>
                <c:pt idx="0">
                  <c:v>0.02218174</c:v>
                </c:pt>
                <c:pt idx="1">
                  <c:v>0.02939001</c:v>
                </c:pt>
                <c:pt idx="2">
                  <c:v>0.0296434</c:v>
                </c:pt>
                <c:pt idx="3">
                  <c:v>0.04019796</c:v>
                </c:pt>
                <c:pt idx="4">
                  <c:v>0.04155073</c:v>
                </c:pt>
                <c:pt idx="5">
                  <c:v>0.04740275</c:v>
                </c:pt>
                <c:pt idx="6">
                  <c:v>0.30961189</c:v>
                </c:pt>
                <c:pt idx="7">
                  <c:v>0.43151408</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6E0E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A43"/>
                </a:solidFill>
                <a:latin typeface="Arial"/>
                <a:ea typeface="Arial"/>
                <a:cs typeface="Arial"/>
              </a:defRPr>
            </a:pPr>
          </a:p>
        </c:txPr>
        <c:crossAx val="48650112"/>
        <c:crossBetween val="between"/>
      </c:valAx>
      <c:spPr>
        <a:solidFill xmlns:a="http://schemas.openxmlformats.org/drawingml/2006/main">
          <a:srgbClr val="F5F7F8"/>
        </a:solidFill>
        <a:ln xmlns:a="http://schemas.openxmlformats.org/drawingml/2006/main" w="0">
          <a:noFill/>
        </a:ln>
      </c:spPr>
    </c:plotArea>
    <c:plotVisOnly val="1"/>
  </c:chart>
  <c:spPr>
    <a:solidFill xmlns:a="http://schemas.openxmlformats.org/drawingml/2006/main">
      <a:srgbClr val="F5F7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14B0D74-BD70-4E55-B163-354719766070}"/>
              </a:ext>
            </a:extLst>
          </p:cNvPr>
          <p:cNvSpPr>
            <a:spLocks xmlns:a="http://schemas.openxmlformats.org/drawingml/2006/main" noGrp="1"/>
          </p:cNvSpPr>
          <p:nvPr/>
        </p:nvSpPr>
        <p:spPr>
          <a:xfrm xmlns:a="http://schemas.openxmlformats.org/drawingml/2006/main">
            <a:off x="609600" y="523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9DBACB"/>
                </a:solidFill>
                <a:latin typeface="Arial"/>
                <a:ea typeface="Arial"/>
                <a:cs typeface="Arial"/>
              </a:defRPr>
            </a:pPr>
            <a:r>
              <a:rPr sz="1725" b="1">
                <a:solidFill>
                  <a:srgbClr val="9DBACB"/>
                </a:solidFill>
                <a:latin typeface="Arial"/>
                <a:ea typeface="Arial"/>
                <a:cs typeface="Arial"/>
              </a:rPr>
              <a:t>BÁO CÁO ĐỒ ÁN MÔN KỸ THUẬT LẬP TRÌNH PYTHON</a:t>
            </a:r>
          </a:p>
        </p:txBody>
      </p:sp>
      <p:sp>
        <p:nvSpPr>
          <p:cNvPr id="2" name="text-1">
            <a:extLst xmlns:a="http://schemas.openxmlformats.org/drawingml/2006/main">
              <a:ext uri="{FF2B5EF4-FFF2-40B4-BE49-F238E27FC236}">
                <a16:creationId xmlns:a16="http://schemas.microsoft.com/office/drawing/2014/main" id="{E1E30B7A-7815-4F61-A21F-E06EE8CE35C0}"/>
              </a:ext>
            </a:extLst>
          </p:cNvPr>
          <p:cNvSpPr>
            <a:spLocks xmlns:a="http://schemas.openxmlformats.org/drawingml/2006/main" noGrp="1"/>
          </p:cNvSpPr>
          <p:nvPr/>
        </p:nvSpPr>
        <p:spPr>
          <a:xfrm xmlns:a="http://schemas.openxmlformats.org/drawingml/2006/main">
            <a:off x="609600" y="1647825"/>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Website Scam /</a:t>
            </a:r>
          </a:p>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Phishing Detector</a:t>
            </a:r>
          </a:p>
        </p:txBody>
      </p:sp>
      <p:sp>
        <p:nvSpPr>
          <p:cNvPr id="3" name="text-2">
            <a:extLst xmlns:a="http://schemas.openxmlformats.org/drawingml/2006/main">
              <a:ext uri="{FF2B5EF4-FFF2-40B4-BE49-F238E27FC236}">
                <a16:creationId xmlns:a16="http://schemas.microsoft.com/office/drawing/2014/main" id="{566828B7-403C-45BC-A705-8012E4C76C94}"/>
              </a:ext>
            </a:extLst>
          </p:cNvPr>
          <p:cNvSpPr>
            <a:spLocks xmlns:a="http://schemas.openxmlformats.org/drawingml/2006/main" noGrp="1"/>
          </p:cNvSpPr>
          <p:nvPr/>
        </p:nvSpPr>
        <p:spPr>
          <a:xfrm xmlns:a="http://schemas.openxmlformats.org/drawingml/2006/main">
            <a:off x="609600" y="39052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9DE0DD"/>
                </a:solidFill>
                <a:latin typeface="Arial"/>
                <a:ea typeface="Arial"/>
                <a:cs typeface="Arial"/>
              </a:defRPr>
            </a:pPr>
            <a:r>
              <a:rPr sz="2550" b="0">
                <a:solidFill>
                  <a:srgbClr val="9DE0DD"/>
                </a:solidFill>
                <a:latin typeface="Arial"/>
                <a:ea typeface="Arial"/>
                <a:cs typeface="Arial"/>
              </a:rPr>
              <a:t>Phân tích và phát hiện dấu hiệu</a:t>
            </a:r>
          </a:p>
          <a:p xmlns:a="http://schemas.openxmlformats.org/drawingml/2006/main">
            <a:pPr algn="l">
              <a:defRPr sz="2550" b="0">
                <a:solidFill>
                  <a:srgbClr val="9DE0DD"/>
                </a:solidFill>
                <a:latin typeface="Arial"/>
                <a:ea typeface="Arial"/>
                <a:cs typeface="Arial"/>
              </a:defRPr>
            </a:pPr>
            <a:r>
              <a:rPr sz="2550" b="0">
                <a:solidFill>
                  <a:srgbClr val="9DE0DD"/>
                </a:solidFill>
                <a:latin typeface="Arial"/>
                <a:ea typeface="Arial"/>
                <a:cs typeface="Arial"/>
              </a:rPr>
              <a:t>website lừa đảo bằng Python</a:t>
            </a:r>
          </a:p>
        </p:txBody>
      </p:sp>
      <p:sp>
        <p:nvSpPr>
          <p:cNvPr id="4" name="text-3">
            <a:extLst xmlns:a="http://schemas.openxmlformats.org/drawingml/2006/main">
              <a:ext uri="{FF2B5EF4-FFF2-40B4-BE49-F238E27FC236}">
                <a16:creationId xmlns:a16="http://schemas.microsoft.com/office/drawing/2014/main" id="{7FD4A65D-94A5-4EF9-A805-EAFA0CD90877}"/>
              </a:ext>
            </a:extLst>
          </p:cNvPr>
          <p:cNvSpPr>
            <a:spLocks xmlns:a="http://schemas.openxmlformats.org/drawingml/2006/main" noGrp="1"/>
          </p:cNvSpPr>
          <p:nvPr/>
        </p:nvSpPr>
        <p:spPr>
          <a:xfrm xmlns:a="http://schemas.openxmlformats.org/drawingml/2006/main">
            <a:off x="609600" y="5610225"/>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Nguyễn Thành Lộc</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MSSV: 25410244</a:t>
            </a:r>
          </a:p>
        </p:txBody>
      </p:sp>
      <p:sp>
        <p:nvSpPr>
          <p:cNvPr id="5" name="text-4">
            <a:extLst xmlns:a="http://schemas.openxmlformats.org/drawingml/2006/main">
              <a:ext uri="{FF2B5EF4-FFF2-40B4-BE49-F238E27FC236}">
                <a16:creationId xmlns:a16="http://schemas.microsoft.com/office/drawing/2014/main" id="{C95338E8-A67B-40C5-ADA2-17D3C0C7EEAA}"/>
              </a:ext>
            </a:extLst>
          </p:cNvPr>
          <p:cNvSpPr>
            <a:spLocks xmlns:a="http://schemas.openxmlformats.org/drawingml/2006/main" noGrp="1"/>
          </p:cNvSpPr>
          <p:nvPr/>
        </p:nvSpPr>
        <p:spPr>
          <a:xfrm xmlns:a="http://schemas.openxmlformats.org/drawingml/2006/main">
            <a:off x="10477500" y="5838825"/>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2100" b="1">
                <a:solidFill>
                  <a:srgbClr val="9DBACB"/>
                </a:solidFill>
                <a:latin typeface="Arial"/>
                <a:ea typeface="Arial"/>
                <a:cs typeface="Arial"/>
              </a:defRPr>
            </a:pPr>
            <a:r>
              <a:rPr sz="2100" b="1">
                <a:solidFill>
                  <a:srgbClr val="9DBACB"/>
                </a:solidFill>
                <a:latin typeface="Arial"/>
                <a:ea typeface="Arial"/>
                <a:cs typeface="Arial"/>
              </a:rPr>
              <a:t>UIT</a:t>
            </a:r>
          </a:p>
        </p:txBody>
      </p:sp>
    </p:spTree>
    <p:extLst>
      <p:ext uri="{BB962C8B-B14F-4D97-AF65-F5344CB8AC3E}">
        <p14:creationId xmlns:p14="http://schemas.microsoft.com/office/powerpoint/2010/main" val="707691032"/>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70D27E8C-3E6E-4902-843A-A2BB5B1078FD}"/>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Bài toán và mục tiêu</a:t>
            </a:r>
          </a:p>
        </p:txBody>
      </p:sp>
      <p:sp>
        <p:nvSpPr>
          <p:cNvPr id="2" name="text-1">
            <a:extLst xmlns:a="http://schemas.openxmlformats.org/drawingml/2006/main">
              <a:ext uri="{FF2B5EF4-FFF2-40B4-BE49-F238E27FC236}">
                <a16:creationId xmlns:a16="http://schemas.microsoft.com/office/drawing/2014/main" id="{F86F4284-87C5-4DEE-902B-D7C606481DD3}"/>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22D512E3-EEE0-4056-B9E7-5B2F7F7E39E4}"/>
              </a:ext>
            </a:extLst>
          </p:cNvPr>
          <p:cNvSpPr>
            <a:spLocks xmlns:a="http://schemas.openxmlformats.org/drawingml/2006/main" noGrp="1"/>
          </p:cNvSpPr>
          <p:nvPr/>
        </p:nvSpPr>
        <p:spPr>
          <a:xfrm xmlns:a="http://schemas.openxmlformats.org/drawingml/2006/main">
            <a:off x="609600" y="16668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7F86"/>
                </a:solidFill>
                <a:latin typeface="Arial"/>
                <a:ea typeface="Arial"/>
                <a:cs typeface="Arial"/>
              </a:defRPr>
            </a:pPr>
            <a:r>
              <a:rPr sz="2550" b="1">
                <a:solidFill>
                  <a:srgbClr val="007F86"/>
                </a:solidFill>
                <a:latin typeface="Arial"/>
                <a:ea typeface="Arial"/>
                <a:cs typeface="Arial"/>
              </a:rPr>
              <a:t>Một URL đáng ngờ</a:t>
            </a:r>
          </a:p>
        </p:txBody>
      </p:sp>
      <p:sp>
        <p:nvSpPr>
          <p:cNvPr id="4" name="text-3">
            <a:extLst xmlns:a="http://schemas.openxmlformats.org/drawingml/2006/main">
              <a:ext uri="{FF2B5EF4-FFF2-40B4-BE49-F238E27FC236}">
                <a16:creationId xmlns:a16="http://schemas.microsoft.com/office/drawing/2014/main" id="{3004E64F-0C3B-413B-AE1F-C81A96469C43}"/>
              </a:ext>
            </a:extLst>
          </p:cNvPr>
          <p:cNvSpPr>
            <a:spLocks xmlns:a="http://schemas.openxmlformats.org/drawingml/2006/main" noGrp="1"/>
          </p:cNvSpPr>
          <p:nvPr/>
        </p:nvSpPr>
        <p:spPr>
          <a:xfrm xmlns:a="http://schemas.openxmlformats.org/drawingml/2006/main">
            <a:off x="609600" y="23907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Người dùng khó đánh giá chỉ từ</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tên miền, HTTPS hoặc giao diện.</a:t>
            </a:r>
          </a:p>
        </p:txBody>
      </p:sp>
      <p:sp>
        <p:nvSpPr>
          <p:cNvPr id="5" name="text-4">
            <a:extLst xmlns:a="http://schemas.openxmlformats.org/drawingml/2006/main">
              <a:ext uri="{FF2B5EF4-FFF2-40B4-BE49-F238E27FC236}">
                <a16:creationId xmlns:a16="http://schemas.microsoft.com/office/drawing/2014/main" id="{52AFCFC4-EE26-45C6-BBCF-6A2CE3E3F112}"/>
              </a:ext>
            </a:extLst>
          </p:cNvPr>
          <p:cNvSpPr>
            <a:spLocks xmlns:a="http://schemas.openxmlformats.org/drawingml/2006/main" noGrp="1"/>
          </p:cNvSpPr>
          <p:nvPr/>
        </p:nvSpPr>
        <p:spPr>
          <a:xfrm xmlns:a="http://schemas.openxmlformats.org/drawingml/2006/main">
            <a:off x="6362700" y="1666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7F86"/>
                </a:solidFill>
                <a:latin typeface="Arial"/>
                <a:ea typeface="Arial"/>
                <a:cs typeface="Arial"/>
              </a:defRPr>
            </a:pPr>
            <a:r>
              <a:rPr sz="2550" b="1">
                <a:solidFill>
                  <a:srgbClr val="007F86"/>
                </a:solidFill>
                <a:latin typeface="Arial"/>
                <a:ea typeface="Arial"/>
                <a:cs typeface="Arial"/>
              </a:rPr>
              <a:t>Đầu ra của hệ thống</a:t>
            </a:r>
          </a:p>
        </p:txBody>
      </p:sp>
      <p:sp>
        <p:nvSpPr>
          <p:cNvPr id="6" name="text-5">
            <a:extLst xmlns:a="http://schemas.openxmlformats.org/drawingml/2006/main">
              <a:ext uri="{FF2B5EF4-FFF2-40B4-BE49-F238E27FC236}">
                <a16:creationId xmlns:a16="http://schemas.microsoft.com/office/drawing/2014/main" id="{114453A3-A86E-4B8F-936B-3827FC98D1B2}"/>
              </a:ext>
            </a:extLst>
          </p:cNvPr>
          <p:cNvSpPr>
            <a:spLocks xmlns:a="http://schemas.openxmlformats.org/drawingml/2006/main" noGrp="1"/>
          </p:cNvSpPr>
          <p:nvPr/>
        </p:nvSpPr>
        <p:spPr>
          <a:xfrm xmlns:a="http://schemas.openxmlformats.org/drawingml/2006/main">
            <a:off x="6362700" y="2390775"/>
            <a:ext cx="5143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Điểm rủi ro 0–100</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Mức rủi ro và từng dấu hiệu</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Lịch sử quét trên web / API</a:t>
            </a:r>
          </a:p>
        </p:txBody>
      </p:sp>
      <p:sp>
        <p:nvSpPr>
          <p:cNvPr id="7" name="text-6">
            <a:extLst xmlns:a="http://schemas.openxmlformats.org/drawingml/2006/main">
              <a:ext uri="{FF2B5EF4-FFF2-40B4-BE49-F238E27FC236}">
                <a16:creationId xmlns:a16="http://schemas.microsoft.com/office/drawing/2014/main" id="{7C7B7BE4-36D8-479A-A9D7-1ED7B5524E00}"/>
              </a:ext>
            </a:extLst>
          </p:cNvPr>
          <p:cNvSpPr>
            <a:spLocks xmlns:a="http://schemas.openxmlformats.org/drawingml/2006/main" noGrp="1"/>
          </p:cNvSpPr>
          <p:nvPr/>
        </p:nvSpPr>
        <p:spPr>
          <a:xfrm xmlns:a="http://schemas.openxmlformats.org/drawingml/2006/main">
            <a:off x="609600" y="481012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A43"/>
                </a:solidFill>
                <a:latin typeface="Arial"/>
                <a:ea typeface="Arial"/>
                <a:cs typeface="Arial"/>
              </a:defRPr>
            </a:pPr>
            <a:r>
              <a:rPr sz="2400" b="1">
                <a:solidFill>
                  <a:srgbClr val="102A43"/>
                </a:solidFill>
                <a:latin typeface="Arial"/>
                <a:ea typeface="Arial"/>
                <a:cs typeface="Arial"/>
              </a:rPr>
              <a:t>Luật heuristic  +  Machine Learning  +  Danh sách đen</a:t>
            </a:r>
          </a:p>
        </p:txBody>
      </p:sp>
      <p:sp>
        <p:nvSpPr>
          <p:cNvPr id="8" name="text-7">
            <a:extLst xmlns:a="http://schemas.openxmlformats.org/drawingml/2006/main">
              <a:ext uri="{FF2B5EF4-FFF2-40B4-BE49-F238E27FC236}">
                <a16:creationId xmlns:a16="http://schemas.microsoft.com/office/drawing/2014/main" id="{DB4166D1-9EF2-4E02-87A2-95F40ABBB2D7}"/>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Điểm rủi ro là chỉ số tổng hợp. Xác suất do ML ước tính được hiển thị riêng.</a:t>
            </a:r>
          </a:p>
        </p:txBody>
      </p:sp>
    </p:spTree>
    <p:extLst>
      <p:ext uri="{BB962C8B-B14F-4D97-AF65-F5344CB8AC3E}">
        <p14:creationId xmlns:p14="http://schemas.microsoft.com/office/powerpoint/2010/main" val="2018317518"/>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DABBAC02-A37D-42BA-9843-9EC346DED3A9}"/>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Công nghệ và tổ chức mã nguồn</a:t>
            </a:r>
          </a:p>
        </p:txBody>
      </p:sp>
      <p:sp>
        <p:nvSpPr>
          <p:cNvPr id="2" name="text-1">
            <a:extLst xmlns:a="http://schemas.openxmlformats.org/drawingml/2006/main">
              <a:ext uri="{FF2B5EF4-FFF2-40B4-BE49-F238E27FC236}">
                <a16:creationId xmlns:a16="http://schemas.microsoft.com/office/drawing/2014/main" id="{FCF79861-D8B7-4A9F-9EBD-73684C6CBC50}"/>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03</a:t>
            </a:r>
          </a:p>
        </p:txBody>
      </p:sp>
      <p:graphicFrame>
        <p:nvGraphicFramePr>
          <p:cNvPr id="7" name=""/>
          <p:cNvGraphicFramePr/>
          <p:nvPr/>
        </p:nvGraphicFramePr>
        <p:xfrm>
          <a:off xmlns:a="http://schemas.openxmlformats.org/drawingml/2006/main" x="609600" y="1571625"/>
          <a:ext xmlns:a="http://schemas.openxmlformats.org/drawingml/2006/main" cx="10972800" cy="3886200"/>
        </p:xfrm>
        <a:graphic xmlns:a="http://schemas.openxmlformats.org/drawingml/2006/main">
          <a:graphicData uri="http://schemas.openxmlformats.org/drawingml/2006/table">
            <a:tbl>
              <a:tblPr/>
              <a:tblGrid>
                <a:gridCol w="2190750"/>
                <a:gridCol w="4191000"/>
                <a:gridCol w="4591050"/>
              </a:tblGrid>
              <a:tr h="647700">
                <a:tc>
                  <a:txBody>
                    <a:bodyPr/>
                    <a:lstStyle/>
                    <a:p>
                      <a:r>
                        <a:rPr sz="1800" b="1">
                          <a:solidFill>
                            <a:srgbClr val="FFFFFF"/>
                          </a:solidFill>
                          <a:latin typeface="Arial"/>
                          <a:ea typeface="Arial"/>
                          <a:cs typeface="Arial"/>
                        </a:rPr>
                        <a:t>Thành phần</a:t>
                      </a:r>
                    </a:p>
                  </a:txBody>
                  <a:tcPr marL="152400" marR="133350" marT="95250" marB="95250">
                    <a:solidFill>
                      <a:srgbClr val="102A43"/>
                    </a:solidFill>
                  </a:tcPr>
                </a:tc>
                <a:tc>
                  <a:txBody>
                    <a:bodyPr/>
                    <a:lstStyle/>
                    <a:p>
                      <a:r>
                        <a:rPr sz="1800" b="1">
                          <a:solidFill>
                            <a:srgbClr val="FFFFFF"/>
                          </a:solidFill>
                          <a:latin typeface="Arial"/>
                          <a:ea typeface="Arial"/>
                          <a:cs typeface="Arial"/>
                        </a:rPr>
                        <a:t>Công nghệ</a:t>
                      </a:r>
                    </a:p>
                  </a:txBody>
                  <a:tcPr marL="152400" marR="133350" marT="95250" marB="95250">
                    <a:solidFill>
                      <a:srgbClr val="102A43"/>
                    </a:solidFill>
                  </a:tcPr>
                </a:tc>
                <a:tc>
                  <a:txBody>
                    <a:bodyPr/>
                    <a:lstStyle/>
                    <a:p>
                      <a:r>
                        <a:rPr sz="1800" b="1">
                          <a:solidFill>
                            <a:srgbClr val="FFFFFF"/>
                          </a:solidFill>
                          <a:latin typeface="Arial"/>
                          <a:ea typeface="Arial"/>
                          <a:cs typeface="Arial"/>
                        </a:rPr>
                        <a:t>Vai trò</a:t>
                      </a:r>
                    </a:p>
                  </a:txBody>
                  <a:tcPr marL="152400" marR="133350" marT="95250" marB="95250">
                    <a:solidFill>
                      <a:srgbClr val="102A43"/>
                    </a:solidFill>
                  </a:tcPr>
                </a:tc>
              </a:tr>
              <a:tr h="647700">
                <a:tc>
                  <a:txBody>
                    <a:bodyPr/>
                    <a:lstStyle/>
                    <a:p>
                      <a:r>
                        <a:rPr sz="1800">
                          <a:solidFill>
                            <a:srgbClr val="102A43"/>
                          </a:solidFill>
                          <a:latin typeface="Arial"/>
                          <a:ea typeface="Arial"/>
                          <a:cs typeface="Arial"/>
                        </a:rPr>
                        <a:t>Web / API</a:t>
                      </a:r>
                    </a:p>
                  </a:txBody>
                  <a:tcPr marL="152400" marR="133350" marT="95250" marB="95250">
                    <a:solidFill>
                      <a:srgbClr val="FFFFFF"/>
                    </a:solidFill>
                  </a:tcPr>
                </a:tc>
                <a:tc>
                  <a:txBody>
                    <a:bodyPr/>
                    <a:lstStyle/>
                    <a:p>
                      <a:r>
                        <a:rPr sz="1800">
                          <a:solidFill>
                            <a:srgbClr val="102A43"/>
                          </a:solidFill>
                          <a:latin typeface="Arial"/>
                          <a:ea typeface="Arial"/>
                          <a:cs typeface="Arial"/>
                        </a:rPr>
                        <a:t>FastAPI, Uvicorn, Jinja2</a:t>
                      </a:r>
                    </a:p>
                  </a:txBody>
                  <a:tcPr marL="152400" marR="133350" marT="95250" marB="95250">
                    <a:solidFill>
                      <a:srgbClr val="FFFFFF"/>
                    </a:solidFill>
                  </a:tcPr>
                </a:tc>
                <a:tc>
                  <a:txBody>
                    <a:bodyPr/>
                    <a:lstStyle/>
                    <a:p>
                      <a:r>
                        <a:rPr sz="1800">
                          <a:solidFill>
                            <a:srgbClr val="102A43"/>
                          </a:solidFill>
                          <a:latin typeface="Arial"/>
                          <a:ea typeface="Arial"/>
                          <a:cs typeface="Arial"/>
                        </a:rPr>
                        <a:t>Nhập URL, trả kết quả, lịch sử</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Dữ liệu</a:t>
                      </a:r>
                    </a:p>
                  </a:txBody>
                  <a:tcPr marL="152400" marR="133350" marT="95250" marB="95250">
                    <a:solidFill>
                      <a:srgbClr val="FFFFFF"/>
                    </a:solidFill>
                  </a:tcPr>
                </a:tc>
                <a:tc>
                  <a:txBody>
                    <a:bodyPr/>
                    <a:lstStyle/>
                    <a:p>
                      <a:r>
                        <a:rPr sz="1800">
                          <a:solidFill>
                            <a:srgbClr val="102A43"/>
                          </a:solidFill>
                          <a:latin typeface="Arial"/>
                          <a:ea typeface="Arial"/>
                          <a:cs typeface="Arial"/>
                        </a:rPr>
                        <a:t>SQLAlchemy, SQLite / PostgreSQL</a:t>
                      </a:r>
                    </a:p>
                  </a:txBody>
                  <a:tcPr marL="152400" marR="133350" marT="95250" marB="95250">
                    <a:solidFill>
                      <a:srgbClr val="FFFFFF"/>
                    </a:solidFill>
                  </a:tcPr>
                </a:tc>
                <a:tc>
                  <a:txBody>
                    <a:bodyPr/>
                    <a:lstStyle/>
                    <a:p>
                      <a:r>
                        <a:rPr sz="1800">
                          <a:solidFill>
                            <a:srgbClr val="102A43"/>
                          </a:solidFill>
                          <a:latin typeface="Arial"/>
                          <a:ea typeface="Arial"/>
                          <a:cs typeface="Arial"/>
                        </a:rPr>
                        <a:t>Lưu lượt quét và dấu hiệu</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Phân tích</a:t>
                      </a:r>
                    </a:p>
                  </a:txBody>
                  <a:tcPr marL="152400" marR="133350" marT="95250" marB="95250">
                    <a:solidFill>
                      <a:srgbClr val="FFFFFF"/>
                    </a:solidFill>
                  </a:tcPr>
                </a:tc>
                <a:tc>
                  <a:txBody>
                    <a:bodyPr/>
                    <a:lstStyle/>
                    <a:p>
                      <a:r>
                        <a:rPr sz="1800">
                          <a:solidFill>
                            <a:srgbClr val="102A43"/>
                          </a:solidFill>
                          <a:latin typeface="Arial"/>
                          <a:ea typeface="Arial"/>
                          <a:cs typeface="Arial"/>
                        </a:rPr>
                        <a:t>httpx, BeautifulSoup4, RDAP/WHOIS</a:t>
                      </a:r>
                    </a:p>
                  </a:txBody>
                  <a:tcPr marL="152400" marR="133350" marT="95250" marB="95250">
                    <a:solidFill>
                      <a:srgbClr val="FFFFFF"/>
                    </a:solidFill>
                  </a:tcPr>
                </a:tc>
                <a:tc>
                  <a:txBody>
                    <a:bodyPr/>
                    <a:lstStyle/>
                    <a:p>
                      <a:r>
                        <a:rPr sz="1800">
                          <a:solidFill>
                            <a:srgbClr val="102A43"/>
                          </a:solidFill>
                          <a:latin typeface="Arial"/>
                          <a:ea typeface="Arial"/>
                          <a:cs typeface="Arial"/>
                        </a:rPr>
                        <a:t>Thu thập URL, domain, TLS, HTML</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ML</a:t>
                      </a:r>
                    </a:p>
                  </a:txBody>
                  <a:tcPr marL="152400" marR="133350" marT="95250" marB="95250">
                    <a:solidFill>
                      <a:srgbClr val="FFFFFF"/>
                    </a:solidFill>
                  </a:tcPr>
                </a:tc>
                <a:tc>
                  <a:txBody>
                    <a:bodyPr/>
                    <a:lstStyle/>
                    <a:p>
                      <a:r>
                        <a:rPr sz="1800">
                          <a:solidFill>
                            <a:srgbClr val="102A43"/>
                          </a:solidFill>
                          <a:latin typeface="Arial"/>
                          <a:ea typeface="Arial"/>
                          <a:cs typeface="Arial"/>
                        </a:rPr>
                        <a:t>scikit-learn, XGBoost, pandas</a:t>
                      </a:r>
                    </a:p>
                  </a:txBody>
                  <a:tcPr marL="152400" marR="133350" marT="95250" marB="95250">
                    <a:solidFill>
                      <a:srgbClr val="FFFFFF"/>
                    </a:solidFill>
                  </a:tcPr>
                </a:tc>
                <a:tc>
                  <a:txBody>
                    <a:bodyPr/>
                    <a:lstStyle/>
                    <a:p>
                      <a:r>
                        <a:rPr sz="1800">
                          <a:solidFill>
                            <a:srgbClr val="102A43"/>
                          </a:solidFill>
                          <a:latin typeface="Arial"/>
                          <a:ea typeface="Arial"/>
                          <a:cs typeface="Arial"/>
                        </a:rPr>
                        <a:t>Huấn luyện và dự đoán</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Kiểm thử</a:t>
                      </a:r>
                    </a:p>
                  </a:txBody>
                  <a:tcPr marL="152400" marR="133350" marT="95250" marB="95250">
                    <a:solidFill>
                      <a:srgbClr val="FFFFFF"/>
                    </a:solidFill>
                  </a:tcPr>
                </a:tc>
                <a:tc>
                  <a:txBody>
                    <a:bodyPr/>
                    <a:lstStyle/>
                    <a:p>
                      <a:r>
                        <a:rPr sz="1800">
                          <a:solidFill>
                            <a:srgbClr val="102A43"/>
                          </a:solidFill>
                          <a:latin typeface="Arial"/>
                          <a:ea typeface="Arial"/>
                          <a:cs typeface="Arial"/>
                        </a:rPr>
                        <a:t>pytest</a:t>
                      </a:r>
                    </a:p>
                  </a:txBody>
                  <a:tcPr marL="152400" marR="133350" marT="95250" marB="95250">
                    <a:solidFill>
                      <a:srgbClr val="FFFFFF"/>
                    </a:solidFill>
                  </a:tcPr>
                </a:tc>
                <a:tc>
                  <a:txBody>
                    <a:bodyPr/>
                    <a:lstStyle/>
                    <a:p>
                      <a:r>
                        <a:rPr sz="1800">
                          <a:solidFill>
                            <a:srgbClr val="102A43"/>
                          </a:solidFill>
                          <a:latin typeface="Arial"/>
                          <a:ea typeface="Arial"/>
                          <a:cs typeface="Arial"/>
                        </a:rPr>
                        <a:t>16 test chạy thành công</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2F1850D5-214D-4FA0-875E-DCF109C53A4E}"/>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Cấu trúc chính: scanners / features / ml / risk / services / api / web</a:t>
            </a:r>
          </a:p>
        </p:txBody>
      </p:sp>
    </p:spTree>
    <p:extLst>
      <p:ext uri="{BB962C8B-B14F-4D97-AF65-F5344CB8AC3E}">
        <p14:creationId xmlns:p14="http://schemas.microsoft.com/office/powerpoint/2010/main" val="1661655394"/>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cxnSp>
        <p:nvCxnSpPr>
          <p:cNvPr id="20" name=""/>
          <p:cNvCxnSpPr>
            <a:stCxn xmlns:a="http://schemas.openxmlformats.org/drawingml/2006/main" id="8" idx="3"/>
            <a:endCxn xmlns:a="http://schemas.openxmlformats.org/drawingml/2006/main" id="10" idx="1"/>
          </p:cNvCxnSpPr>
          <p:nvPr/>
        </p:nvCxnSpPr>
        <p:spPr>
          <a:xfrm xmlns:a="http://schemas.openxmlformats.org/drawingml/2006/main">
            <a:off x="5810250" y="497205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1" name=""/>
          <p:cNvCxnSpPr>
            <a:stCxn xmlns:a="http://schemas.openxmlformats.org/drawingml/2006/main" id="9" idx="3"/>
            <a:endCxn xmlns:a="http://schemas.openxmlformats.org/drawingml/2006/main" id="8" idx="1"/>
          </p:cNvCxnSpPr>
          <p:nvPr/>
        </p:nvCxnSpPr>
        <p:spPr>
          <a:xfrm xmlns:a="http://schemas.openxmlformats.org/drawingml/2006/main">
            <a:off x="2419350" y="497205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2" name=""/>
          <p:cNvCxnSpPr>
            <a:stCxn xmlns:a="http://schemas.openxmlformats.org/drawingml/2006/main" id="7" idx="2"/>
            <a:endCxn xmlns:a="http://schemas.openxmlformats.org/drawingml/2006/main" id="8" idx="0"/>
          </p:cNvCxnSpPr>
          <p:nvPr/>
        </p:nvCxnSpPr>
        <p:spPr>
          <a:xfrm xmlns:a="http://schemas.openxmlformats.org/drawingml/2006/main">
            <a:off x="4419600" y="3752850"/>
            <a:ext cx="0" cy="85725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3" name=""/>
          <p:cNvCxnSpPr>
            <a:stCxn xmlns:a="http://schemas.openxmlformats.org/drawingml/2006/main" id="6" idx="1"/>
            <a:endCxn xmlns:a="http://schemas.openxmlformats.org/drawingml/2006/main" id="7" idx="3"/>
          </p:cNvCxnSpPr>
          <p:nvPr/>
        </p:nvCxnSpPr>
        <p:spPr>
          <a:xfrm xmlns:a="http://schemas.openxmlformats.org/drawingml/2006/main" flipH="1">
            <a:off x="5810250" y="339090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4" name=""/>
          <p:cNvCxnSpPr>
            <a:stCxn xmlns:a="http://schemas.openxmlformats.org/drawingml/2006/main" id="5" idx="2"/>
            <a:endCxn xmlns:a="http://schemas.openxmlformats.org/drawingml/2006/main" id="6" idx="0"/>
          </p:cNvCxnSpPr>
          <p:nvPr/>
        </p:nvCxnSpPr>
        <p:spPr>
          <a:xfrm xmlns:a="http://schemas.openxmlformats.org/drawingml/2006/main">
            <a:off x="7729538" y="2381250"/>
            <a:ext cx="0" cy="64770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5810250" y="201930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6" name=""/>
          <p:cNvCxnSpPr>
            <a:stCxn xmlns:a="http://schemas.openxmlformats.org/drawingml/2006/main" id="3" idx="3"/>
            <a:endCxn xmlns:a="http://schemas.openxmlformats.org/drawingml/2006/main" id="4" idx="1"/>
          </p:cNvCxnSpPr>
          <p:nvPr/>
        </p:nvCxnSpPr>
        <p:spPr>
          <a:xfrm xmlns:a="http://schemas.openxmlformats.org/drawingml/2006/main">
            <a:off x="2419350" y="201930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sp>
        <p:nvSpPr>
          <p:cNvPr id="27" name="text-0">
            <a:extLst xmlns:a="http://schemas.openxmlformats.org/drawingml/2006/main">
              <a:ext uri="{FF2B5EF4-FFF2-40B4-BE49-F238E27FC236}">
                <a16:creationId xmlns:a16="http://schemas.microsoft.com/office/drawing/2014/main" id="{8BB92DF3-9F88-40A4-8660-B20C2A2B27F0}"/>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Kiến trúc xử lý một URL</a:t>
            </a:r>
          </a:p>
        </p:txBody>
      </p:sp>
      <p:sp>
        <p:nvSpPr>
          <p:cNvPr id="2" name="text-1">
            <a:extLst xmlns:a="http://schemas.openxmlformats.org/drawingml/2006/main">
              <a:ext uri="{FF2B5EF4-FFF2-40B4-BE49-F238E27FC236}">
                <a16:creationId xmlns:a16="http://schemas.microsoft.com/office/drawing/2014/main" id="{4C0A1AC6-60BC-4376-A0BD-53B9B3F19BE9}"/>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3B08909-9D22-4A25-95FA-C5F859AE9705}"/>
              </a:ext>
            </a:extLst>
          </p:cNvPr>
          <p:cNvSpPr>
            <a:spLocks xmlns:a="http://schemas.openxmlformats.org/drawingml/2006/main" noGrp="1"/>
          </p:cNvSpPr>
          <p:nvPr/>
        </p:nvSpPr>
        <p:spPr>
          <a:xfrm xmlns:a="http://schemas.openxmlformats.org/drawingml/2006/main">
            <a:off x="609600" y="1657350"/>
            <a:ext cx="180975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URL đầu vào</a:t>
            </a:r>
          </a:p>
        </p:txBody>
      </p:sp>
      <p:sp>
        <p:nvSpPr>
          <p:cNvPr id="4" name="">
            <a:extLst xmlns:a="http://schemas.openxmlformats.org/drawingml/2006/main">
              <a:ext uri="{FF2B5EF4-FFF2-40B4-BE49-F238E27FC236}">
                <a16:creationId xmlns:a16="http://schemas.microsoft.com/office/drawing/2014/main" id="{7ABA8133-FB39-4563-8671-41CA90AF0716}"/>
              </a:ext>
            </a:extLst>
          </p:cNvPr>
          <p:cNvSpPr>
            <a:spLocks xmlns:a="http://schemas.openxmlformats.org/drawingml/2006/main" noGrp="1"/>
          </p:cNvSpPr>
          <p:nvPr/>
        </p:nvSpPr>
        <p:spPr>
          <a:xfrm xmlns:a="http://schemas.openxmlformats.org/drawingml/2006/main">
            <a:off x="3028950" y="1657350"/>
            <a:ext cx="278130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SSRF + tải trang</a:t>
            </a:r>
          </a:p>
        </p:txBody>
      </p:sp>
      <p:sp>
        <p:nvSpPr>
          <p:cNvPr id="5" name="">
            <a:extLst xmlns:a="http://schemas.openxmlformats.org/drawingml/2006/main">
              <a:ext uri="{FF2B5EF4-FFF2-40B4-BE49-F238E27FC236}">
                <a16:creationId xmlns:a16="http://schemas.microsoft.com/office/drawing/2014/main" id="{8A1CA092-BA29-4C83-B616-1BE72185CDE9}"/>
              </a:ext>
            </a:extLst>
          </p:cNvPr>
          <p:cNvSpPr>
            <a:spLocks xmlns:a="http://schemas.openxmlformats.org/drawingml/2006/main" noGrp="1"/>
          </p:cNvSpPr>
          <p:nvPr/>
        </p:nvSpPr>
        <p:spPr>
          <a:xfrm xmlns:a="http://schemas.openxmlformats.org/drawingml/2006/main">
            <a:off x="6419850" y="1657350"/>
            <a:ext cx="261937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Các scanner</a:t>
            </a:r>
          </a:p>
        </p:txBody>
      </p:sp>
      <p:sp>
        <p:nvSpPr>
          <p:cNvPr id="6" name="">
            <a:extLst xmlns:a="http://schemas.openxmlformats.org/drawingml/2006/main">
              <a:ext uri="{FF2B5EF4-FFF2-40B4-BE49-F238E27FC236}">
                <a16:creationId xmlns:a16="http://schemas.microsoft.com/office/drawing/2014/main" id="{E5E48D89-EEF9-42BD-93E5-F37969F38756}"/>
              </a:ext>
            </a:extLst>
          </p:cNvPr>
          <p:cNvSpPr>
            <a:spLocks xmlns:a="http://schemas.openxmlformats.org/drawingml/2006/main" noGrp="1"/>
          </p:cNvSpPr>
          <p:nvPr/>
        </p:nvSpPr>
        <p:spPr>
          <a:xfrm xmlns:a="http://schemas.openxmlformats.org/drawingml/2006/main">
            <a:off x="6419850" y="3028950"/>
            <a:ext cx="261937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30 thuộc tính</a:t>
            </a:r>
          </a:p>
        </p:txBody>
      </p:sp>
      <p:sp>
        <p:nvSpPr>
          <p:cNvPr id="7" name="">
            <a:extLst xmlns:a="http://schemas.openxmlformats.org/drawingml/2006/main">
              <a:ext uri="{FF2B5EF4-FFF2-40B4-BE49-F238E27FC236}">
                <a16:creationId xmlns:a16="http://schemas.microsoft.com/office/drawing/2014/main" id="{994F3FC4-52B0-424F-8595-EF0BAC5408A4}"/>
              </a:ext>
            </a:extLst>
          </p:cNvPr>
          <p:cNvSpPr>
            <a:spLocks xmlns:a="http://schemas.openxmlformats.org/drawingml/2006/main" noGrp="1"/>
          </p:cNvSpPr>
          <p:nvPr/>
        </p:nvSpPr>
        <p:spPr>
          <a:xfrm xmlns:a="http://schemas.openxmlformats.org/drawingml/2006/main">
            <a:off x="3028950" y="3028950"/>
            <a:ext cx="278130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Luật + XGBoost</a:t>
            </a:r>
          </a:p>
        </p:txBody>
      </p:sp>
      <p:sp>
        <p:nvSpPr>
          <p:cNvPr id="8" name="">
            <a:extLst xmlns:a="http://schemas.openxmlformats.org/drawingml/2006/main">
              <a:ext uri="{FF2B5EF4-FFF2-40B4-BE49-F238E27FC236}">
                <a16:creationId xmlns:a16="http://schemas.microsoft.com/office/drawing/2014/main" id="{FA9DCFCE-ADFE-4EF0-9045-91C3187338B1}"/>
              </a:ext>
            </a:extLst>
          </p:cNvPr>
          <p:cNvSpPr>
            <a:spLocks xmlns:a="http://schemas.openxmlformats.org/drawingml/2006/main" noGrp="1"/>
          </p:cNvSpPr>
          <p:nvPr/>
        </p:nvSpPr>
        <p:spPr>
          <a:xfrm xmlns:a="http://schemas.openxmlformats.org/drawingml/2006/main">
            <a:off x="3028950" y="4610100"/>
            <a:ext cx="2781300" cy="723900"/>
          </a:xfrm>
          <a:prstGeom xmlns:a="http://schemas.openxmlformats.org/drawingml/2006/main" prst="rect">
            <a:avLst/>
          </a:prstGeom>
          <a:solidFill xmlns:a="http://schemas.openxmlformats.org/drawingml/2006/main">
            <a:srgbClr val="E5F2F1"/>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Risk Engine</a:t>
            </a:r>
          </a:p>
        </p:txBody>
      </p:sp>
      <p:sp>
        <p:nvSpPr>
          <p:cNvPr id="9" name="">
            <a:extLst xmlns:a="http://schemas.openxmlformats.org/drawingml/2006/main">
              <a:ext uri="{FF2B5EF4-FFF2-40B4-BE49-F238E27FC236}">
                <a16:creationId xmlns:a16="http://schemas.microsoft.com/office/drawing/2014/main" id="{C889AF6D-942E-4103-9FA6-DB80F20BF71A}"/>
              </a:ext>
            </a:extLst>
          </p:cNvPr>
          <p:cNvSpPr>
            <a:spLocks xmlns:a="http://schemas.openxmlformats.org/drawingml/2006/main" noGrp="1"/>
          </p:cNvSpPr>
          <p:nvPr/>
        </p:nvSpPr>
        <p:spPr>
          <a:xfrm xmlns:a="http://schemas.openxmlformats.org/drawingml/2006/main">
            <a:off x="609600" y="4610100"/>
            <a:ext cx="180975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Danh sách đen</a:t>
            </a:r>
          </a:p>
        </p:txBody>
      </p:sp>
      <p:sp>
        <p:nvSpPr>
          <p:cNvPr id="10" name="">
            <a:extLst xmlns:a="http://schemas.openxmlformats.org/drawingml/2006/main">
              <a:ext uri="{FF2B5EF4-FFF2-40B4-BE49-F238E27FC236}">
                <a16:creationId xmlns:a16="http://schemas.microsoft.com/office/drawing/2014/main" id="{C39BA8C3-DC09-45A6-B3C0-2BE47F599098}"/>
              </a:ext>
            </a:extLst>
          </p:cNvPr>
          <p:cNvSpPr>
            <a:spLocks xmlns:a="http://schemas.openxmlformats.org/drawingml/2006/main" noGrp="1"/>
          </p:cNvSpPr>
          <p:nvPr/>
        </p:nvSpPr>
        <p:spPr>
          <a:xfrm xmlns:a="http://schemas.openxmlformats.org/drawingml/2006/main">
            <a:off x="6419850" y="4610100"/>
            <a:ext cx="261937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DB + Web / API</a:t>
            </a:r>
          </a:p>
        </p:txBody>
      </p:sp>
      <p:sp>
        <p:nvSpPr>
          <p:cNvPr id="18" name="text-17">
            <a:extLst xmlns:a="http://schemas.openxmlformats.org/drawingml/2006/main">
              <a:ext uri="{FF2B5EF4-FFF2-40B4-BE49-F238E27FC236}">
                <a16:creationId xmlns:a16="http://schemas.microsoft.com/office/drawing/2014/main" id="{8F1FCC91-922C-4AB5-A6BA-E414DFB6373A}"/>
              </a:ext>
            </a:extLst>
          </p:cNvPr>
          <p:cNvSpPr>
            <a:spLocks xmlns:a="http://schemas.openxmlformats.org/drawingml/2006/main" noGrp="1"/>
          </p:cNvSpPr>
          <p:nvPr/>
        </p:nvSpPr>
        <p:spPr>
          <a:xfrm xmlns:a="http://schemas.openxmlformats.org/drawingml/2006/main">
            <a:off x="9429750" y="1666875"/>
            <a:ext cx="22479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URL</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Domain</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TLS / SSL</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HTML</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Thương hiệu</a:t>
            </a:r>
          </a:p>
        </p:txBody>
      </p:sp>
      <p:sp>
        <p:nvSpPr>
          <p:cNvPr id="19" name="text-18">
            <a:extLst xmlns:a="http://schemas.openxmlformats.org/drawingml/2006/main">
              <a:ext uri="{FF2B5EF4-FFF2-40B4-BE49-F238E27FC236}">
                <a16:creationId xmlns:a16="http://schemas.microsoft.com/office/drawing/2014/main" id="{287D1648-36AC-4401-8305-C54F39C1E1A9}"/>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Blacklist đi thẳng vào Risk Engine, không tham gia 30 thuộc tính đầu vào của ML.</a:t>
            </a:r>
          </a:p>
        </p:txBody>
      </p:sp>
    </p:spTree>
    <p:extLst>
      <p:ext uri="{BB962C8B-B14F-4D97-AF65-F5344CB8AC3E}">
        <p14:creationId xmlns:p14="http://schemas.microsoft.com/office/powerpoint/2010/main" val="1796878559"/>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339A0975-EFE6-4D48-9303-B3E3390B9E3D}"/>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Các bộ phân tích</a:t>
            </a:r>
          </a:p>
        </p:txBody>
      </p:sp>
      <p:sp>
        <p:nvSpPr>
          <p:cNvPr id="2" name="text-1">
            <a:extLst xmlns:a="http://schemas.openxmlformats.org/drawingml/2006/main">
              <a:ext uri="{FF2B5EF4-FFF2-40B4-BE49-F238E27FC236}">
                <a16:creationId xmlns:a16="http://schemas.microsoft.com/office/drawing/2014/main" id="{C8DFBA9A-D90D-4E55-8631-91E544951D1B}"/>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05</a:t>
            </a:r>
          </a:p>
        </p:txBody>
      </p:sp>
      <p:graphicFrame>
        <p:nvGraphicFramePr>
          <p:cNvPr id="6" name=""/>
          <p:cNvGraphicFramePr/>
          <p:nvPr/>
        </p:nvGraphicFramePr>
        <p:xfrm>
          <a:off xmlns:a="http://schemas.openxmlformats.org/drawingml/2006/main" x="609600" y="1571625"/>
          <a:ext xmlns:a="http://schemas.openxmlformats.org/drawingml/2006/main" cx="10972800" cy="4171950"/>
        </p:xfrm>
        <a:graphic xmlns:a="http://schemas.openxmlformats.org/drawingml/2006/main">
          <a:graphicData uri="http://schemas.openxmlformats.org/drawingml/2006/table">
            <a:tbl>
              <a:tblPr/>
              <a:tblGrid>
                <a:gridCol w="2333625"/>
                <a:gridCol w="8639175"/>
              </a:tblGrid>
              <a:tr h="595993">
                <a:tc>
                  <a:txBody>
                    <a:bodyPr/>
                    <a:lstStyle/>
                    <a:p>
                      <a:r>
                        <a:rPr sz="1950" b="1">
                          <a:solidFill>
                            <a:srgbClr val="FFFFFF"/>
                          </a:solidFill>
                          <a:latin typeface="Arial"/>
                          <a:ea typeface="Arial"/>
                          <a:cs typeface="Arial"/>
                        </a:rPr>
                        <a:t>Scanner</a:t>
                      </a:r>
                    </a:p>
                  </a:txBody>
                  <a:tcPr marL="152400" marR="133350" marT="95250" marB="95250">
                    <a:solidFill>
                      <a:srgbClr val="102A43"/>
                    </a:solidFill>
                  </a:tcPr>
                </a:tc>
                <a:tc>
                  <a:txBody>
                    <a:bodyPr/>
                    <a:lstStyle/>
                    <a:p>
                      <a:r>
                        <a:rPr sz="1950" b="1">
                          <a:solidFill>
                            <a:srgbClr val="FFFFFF"/>
                          </a:solidFill>
                          <a:latin typeface="Arial"/>
                          <a:ea typeface="Arial"/>
                          <a:cs typeface="Arial"/>
                        </a:rPr>
                        <a:t>Dấu hiệu thu thập</a:t>
                      </a:r>
                    </a:p>
                  </a:txBody>
                  <a:tcPr marL="152400" marR="133350" marT="95250" marB="95250">
                    <a:solidFill>
                      <a:srgbClr val="102A43"/>
                    </a:solidFill>
                  </a:tcPr>
                </a:tc>
              </a:tr>
              <a:tr h="595993">
                <a:tc>
                  <a:txBody>
                    <a:bodyPr/>
                    <a:lstStyle/>
                    <a:p>
                      <a:r>
                        <a:rPr sz="1950">
                          <a:solidFill>
                            <a:srgbClr val="102A43"/>
                          </a:solidFill>
                          <a:latin typeface="Arial"/>
                          <a:ea typeface="Arial"/>
                          <a:cs typeface="Arial"/>
                        </a:rPr>
                        <a:t>URL</a:t>
                      </a:r>
                    </a:p>
                  </a:txBody>
                  <a:tcPr marL="152400" marR="133350" marT="95250" marB="95250">
                    <a:solidFill>
                      <a:srgbClr val="FFFFFF"/>
                    </a:solidFill>
                  </a:tcPr>
                </a:tc>
                <a:tc>
                  <a:txBody>
                    <a:bodyPr/>
                    <a:lstStyle/>
                    <a:p>
                      <a:r>
                        <a:rPr sz="1950">
                          <a:solidFill>
                            <a:srgbClr val="102A43"/>
                          </a:solidFill>
                          <a:latin typeface="Arial"/>
                          <a:ea typeface="Arial"/>
                          <a:cs typeface="Arial"/>
                        </a:rPr>
                        <a:t>Độ dài, IP thô, ký tự @, subdomain, từ khóa, TLD</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Domain</a:t>
                      </a:r>
                    </a:p>
                  </a:txBody>
                  <a:tcPr marL="152400" marR="133350" marT="95250" marB="95250">
                    <a:solidFill>
                      <a:srgbClr val="FFFFFF"/>
                    </a:solidFill>
                  </a:tcPr>
                </a:tc>
                <a:tc>
                  <a:txBody>
                    <a:bodyPr/>
                    <a:lstStyle/>
                    <a:p>
                      <a:r>
                        <a:rPr sz="1950">
                          <a:solidFill>
                            <a:srgbClr val="102A43"/>
                          </a:solidFill>
                          <a:latin typeface="Arial"/>
                          <a:ea typeface="Arial"/>
                          <a:cs typeface="Arial"/>
                        </a:rPr>
                        <a:t>Tuổi tên miền qua RDAP, dự phòng WHOIS</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TLS / SSL</a:t>
                      </a:r>
                    </a:p>
                  </a:txBody>
                  <a:tcPr marL="152400" marR="133350" marT="95250" marB="95250">
                    <a:solidFill>
                      <a:srgbClr val="FFFFFF"/>
                    </a:solidFill>
                  </a:tcPr>
                </a:tc>
                <a:tc>
                  <a:txBody>
                    <a:bodyPr/>
                    <a:lstStyle/>
                    <a:p>
                      <a:r>
                        <a:rPr sz="1950">
                          <a:solidFill>
                            <a:srgbClr val="102A43"/>
                          </a:solidFill>
                          <a:latin typeface="Arial"/>
                          <a:ea typeface="Arial"/>
                          <a:cs typeface="Arial"/>
                        </a:rPr>
                        <a:t>Tính hợp lệ, hostname, thời hạn chứng chỉ</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HTML</a:t>
                      </a:r>
                    </a:p>
                  </a:txBody>
                  <a:tcPr marL="152400" marR="133350" marT="95250" marB="95250">
                    <a:solidFill>
                      <a:srgbClr val="FFFFFF"/>
                    </a:solidFill>
                  </a:tcPr>
                </a:tc>
                <a:tc>
                  <a:txBody>
                    <a:bodyPr/>
                    <a:lstStyle/>
                    <a:p>
                      <a:r>
                        <a:rPr sz="1950">
                          <a:solidFill>
                            <a:srgbClr val="102A43"/>
                          </a:solidFill>
                          <a:latin typeface="Arial"/>
                          <a:ea typeface="Arial"/>
                          <a:cs typeface="Arial"/>
                        </a:rPr>
                        <a:t>Form mật khẩu, thẻ, iframe, nội dung thúc ép</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Thương hiệu</a:t>
                      </a:r>
                    </a:p>
                  </a:txBody>
                  <a:tcPr marL="152400" marR="133350" marT="95250" marB="95250">
                    <a:solidFill>
                      <a:srgbClr val="FFFFFF"/>
                    </a:solidFill>
                  </a:tcPr>
                </a:tc>
                <a:tc>
                  <a:txBody>
                    <a:bodyPr/>
                    <a:lstStyle/>
                    <a:p>
                      <a:r>
                        <a:rPr sz="1950">
                          <a:solidFill>
                            <a:srgbClr val="102A43"/>
                          </a:solidFill>
                          <a:latin typeface="Arial"/>
                          <a:ea typeface="Arial"/>
                          <a:cs typeface="Arial"/>
                        </a:rPr>
                        <a:t>Tên gần giống và form đăng nhập đáng ngờ</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Blacklist</a:t>
                      </a:r>
                    </a:p>
                  </a:txBody>
                  <a:tcPr marL="152400" marR="133350" marT="95250" marB="95250">
                    <a:solidFill>
                      <a:srgbClr val="FFFFFF"/>
                    </a:solidFill>
                  </a:tcPr>
                </a:tc>
                <a:tc>
                  <a:txBody>
                    <a:bodyPr/>
                    <a:lstStyle/>
                    <a:p>
                      <a:r>
                        <a:rPr sz="1950">
                          <a:solidFill>
                            <a:srgbClr val="102A43"/>
                          </a:solidFill>
                          <a:latin typeface="Arial"/>
                          <a:ea typeface="Arial"/>
                          <a:cs typeface="Arial"/>
                        </a:rPr>
                        <a:t>Khớp URL, tên miền hoặc subdomain</a:t>
                      </a:r>
                    </a:p>
                  </a:txBody>
                  <a:tcPr marL="152400" marR="133350" marT="95250" marB="95250">
                    <a:solidFill>
                      <a:srgbClr val="FFFFFF"/>
                    </a:solidFill>
                  </a:tcPr>
                </a:tc>
              </a:tr>
            </a:tbl>
          </a:graphicData>
        </a:graphic>
      </p:graphicFrame>
    </p:spTree>
    <p:extLst>
      <p:ext uri="{BB962C8B-B14F-4D97-AF65-F5344CB8AC3E}">
        <p14:creationId xmlns:p14="http://schemas.microsoft.com/office/powerpoint/2010/main" val="1665767893"/>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46C44D3-0E88-4597-B9B2-EED829E88082}"/>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Luật heuristic tạo điểm và lời giải thích</a:t>
            </a:r>
          </a:p>
        </p:txBody>
      </p:sp>
      <p:sp>
        <p:nvSpPr>
          <p:cNvPr id="2" name="text-1">
            <a:extLst xmlns:a="http://schemas.openxmlformats.org/drawingml/2006/main">
              <a:ext uri="{FF2B5EF4-FFF2-40B4-BE49-F238E27FC236}">
                <a16:creationId xmlns:a16="http://schemas.microsoft.com/office/drawing/2014/main" id="{17891E01-41A6-4F85-A59E-276263D7E6F0}"/>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06</a:t>
            </a:r>
          </a:p>
        </p:txBody>
      </p:sp>
      <p:graphicFrame>
        <p:nvGraphicFramePr>
          <p:cNvPr id="9" name=""/>
          <p:cNvGraphicFramePr/>
          <p:nvPr/>
        </p:nvGraphicFramePr>
        <p:xfrm>
          <a:off xmlns:a="http://schemas.openxmlformats.org/drawingml/2006/main" x="609600" y="1571625"/>
          <a:ext xmlns:a="http://schemas.openxmlformats.org/drawingml/2006/main" cx="8001000" cy="4095750"/>
        </p:xfrm>
        <a:graphic xmlns:a="http://schemas.openxmlformats.org/drawingml/2006/main">
          <a:graphicData uri="http://schemas.openxmlformats.org/drawingml/2006/table">
            <a:tbl>
              <a:tblPr/>
              <a:tblGrid>
                <a:gridCol w="6191250"/>
                <a:gridCol w="1809750"/>
              </a:tblGrid>
              <a:tr h="585107">
                <a:tc>
                  <a:txBody>
                    <a:bodyPr/>
                    <a:lstStyle/>
                    <a:p>
                      <a:r>
                        <a:rPr sz="1875" b="1">
                          <a:solidFill>
                            <a:srgbClr val="FFFFFF"/>
                          </a:solidFill>
                          <a:latin typeface="Arial"/>
                          <a:ea typeface="Arial"/>
                          <a:cs typeface="Arial"/>
                        </a:rPr>
                        <a:t>Dấu hiệu tiêu biểu</a:t>
                      </a:r>
                    </a:p>
                  </a:txBody>
                  <a:tcPr marL="152400" marR="133350" marT="95250" marB="95250">
                    <a:solidFill>
                      <a:srgbClr val="102A43"/>
                    </a:solidFill>
                  </a:tcPr>
                </a:tc>
                <a:tc>
                  <a:txBody>
                    <a:bodyPr/>
                    <a:lstStyle/>
                    <a:p>
                      <a:r>
                        <a:rPr sz="1875" b="1">
                          <a:solidFill>
                            <a:srgbClr val="FFFFFF"/>
                          </a:solidFill>
                          <a:latin typeface="Arial"/>
                          <a:ea typeface="Arial"/>
                          <a:cs typeface="Arial"/>
                        </a:rPr>
                        <a:t>Điểm</a:t>
                      </a:r>
                    </a:p>
                  </a:txBody>
                  <a:tcPr marL="152400" marR="133350" marT="95250" marB="95250">
                    <a:solidFill>
                      <a:srgbClr val="102A43"/>
                    </a:solidFill>
                  </a:tcPr>
                </a:tc>
              </a:tr>
              <a:tr h="585107">
                <a:tc>
                  <a:txBody>
                    <a:bodyPr/>
                    <a:lstStyle/>
                    <a:p>
                      <a:r>
                        <a:rPr sz="1875">
                          <a:solidFill>
                            <a:srgbClr val="102A43"/>
                          </a:solidFill>
                          <a:latin typeface="Arial"/>
                          <a:ea typeface="Arial"/>
                          <a:cs typeface="Arial"/>
                        </a:rPr>
                        <a:t>Tên miền dưới 7 ngày tuổi</a:t>
                      </a:r>
                    </a:p>
                  </a:txBody>
                  <a:tcPr marL="152400" marR="133350" marT="95250" marB="95250">
                    <a:solidFill>
                      <a:srgbClr val="FFFFFF"/>
                    </a:solidFill>
                  </a:tcPr>
                </a:tc>
                <a:tc>
                  <a:txBody>
                    <a:bodyPr/>
                    <a:lstStyle/>
                    <a:p>
                      <a:r>
                        <a:rPr sz="1875">
                          <a:solidFill>
                            <a:srgbClr val="102A43"/>
                          </a:solidFill>
                          <a:latin typeface="Arial"/>
                          <a:ea typeface="Arial"/>
                          <a:cs typeface="Arial"/>
                        </a:rPr>
                        <a:t>+30</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URL dùng địa chỉ IP</a:t>
                      </a:r>
                    </a:p>
                  </a:txBody>
                  <a:tcPr marL="152400" marR="133350" marT="95250" marB="95250">
                    <a:solidFill>
                      <a:srgbClr val="FFFFFF"/>
                    </a:solidFill>
                  </a:tcPr>
                </a:tc>
                <a:tc>
                  <a:txBody>
                    <a:bodyPr/>
                    <a:lstStyle/>
                    <a:p>
                      <a:r>
                        <a:rPr sz="1875">
                          <a:solidFill>
                            <a:srgbClr val="102A43"/>
                          </a:solidFill>
                          <a:latin typeface="Arial"/>
                          <a:ea typeface="Arial"/>
                          <a:cs typeface="Arial"/>
                        </a:rPr>
                        <a:t>+25</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Giả mạo thương hiệu / sai hostname chứng chỉ</a:t>
                      </a:r>
                    </a:p>
                  </a:txBody>
                  <a:tcPr marL="152400" marR="133350" marT="95250" marB="95250">
                    <a:solidFill>
                      <a:srgbClr val="FFFFFF"/>
                    </a:solidFill>
                  </a:tcPr>
                </a:tc>
                <a:tc>
                  <a:txBody>
                    <a:bodyPr/>
                    <a:lstStyle/>
                    <a:p>
                      <a:r>
                        <a:rPr sz="1875">
                          <a:solidFill>
                            <a:srgbClr val="102A43"/>
                          </a:solidFill>
                          <a:latin typeface="Arial"/>
                          <a:ea typeface="Arial"/>
                          <a:cs typeface="Arial"/>
                        </a:rPr>
                        <a:t>+20 mỗi luật</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Thu thập thẻ / form mật khẩu trên domain mới</a:t>
                      </a:r>
                    </a:p>
                  </a:txBody>
                  <a:tcPr marL="152400" marR="133350" marT="95250" marB="95250">
                    <a:solidFill>
                      <a:srgbClr val="FFFFFF"/>
                    </a:solidFill>
                  </a:tcPr>
                </a:tc>
                <a:tc>
                  <a:txBody>
                    <a:bodyPr/>
                    <a:lstStyle/>
                    <a:p>
                      <a:r>
                        <a:rPr sz="1875">
                          <a:solidFill>
                            <a:srgbClr val="102A43"/>
                          </a:solidFill>
                          <a:latin typeface="Arial"/>
                          <a:ea typeface="Arial"/>
                          <a:cs typeface="Arial"/>
                        </a:rPr>
                        <a:t>+15 mỗi luật</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Form gửi dữ liệu sang domain khác</a:t>
                      </a:r>
                    </a:p>
                  </a:txBody>
                  <a:tcPr marL="152400" marR="133350" marT="95250" marB="95250">
                    <a:solidFill>
                      <a:srgbClr val="FFFFFF"/>
                    </a:solidFill>
                  </a:tcPr>
                </a:tc>
                <a:tc>
                  <a:txBody>
                    <a:bodyPr/>
                    <a:lstStyle/>
                    <a:p>
                      <a:r>
                        <a:rPr sz="1875">
                          <a:solidFill>
                            <a:srgbClr val="102A43"/>
                          </a:solidFill>
                          <a:latin typeface="Arial"/>
                          <a:ea typeface="Arial"/>
                          <a:cs typeface="Arial"/>
                        </a:rPr>
                        <a:t>+12</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Không dùng HTTPS</a:t>
                      </a:r>
                    </a:p>
                  </a:txBody>
                  <a:tcPr marL="152400" marR="133350" marT="95250" marB="95250">
                    <a:solidFill>
                      <a:srgbClr val="FFFFFF"/>
                    </a:solidFill>
                  </a:tcPr>
                </a:tc>
                <a:tc>
                  <a:txBody>
                    <a:bodyPr/>
                    <a:lstStyle/>
                    <a:p>
                      <a:r>
                        <a:rPr sz="1875">
                          <a:solidFill>
                            <a:srgbClr val="102A43"/>
                          </a:solidFill>
                          <a:latin typeface="Arial"/>
                          <a:ea typeface="Arial"/>
                          <a:cs typeface="Arial"/>
                        </a:rPr>
                        <a:t>+5</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0BC1DA1-5DC2-4AFA-8529-53718FF4102C}"/>
              </a:ext>
            </a:extLst>
          </p:cNvPr>
          <p:cNvSpPr>
            <a:spLocks xmlns:a="http://schemas.openxmlformats.org/drawingml/2006/main" noGrp="1"/>
          </p:cNvSpPr>
          <p:nvPr/>
        </p:nvSpPr>
        <p:spPr>
          <a:xfrm xmlns:a="http://schemas.openxmlformats.org/drawingml/2006/main">
            <a:off x="9067800" y="1943100"/>
            <a:ext cx="2514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350" b="1">
                <a:solidFill>
                  <a:srgbClr val="007F86"/>
                </a:solidFill>
                <a:latin typeface="Arial"/>
                <a:ea typeface="Arial"/>
                <a:cs typeface="Arial"/>
              </a:defRPr>
            </a:pPr>
            <a:r>
              <a:rPr sz="4350" b="1">
                <a:solidFill>
                  <a:srgbClr val="007F86"/>
                </a:solidFill>
                <a:latin typeface="Arial"/>
                <a:ea typeface="Arial"/>
                <a:cs typeface="Arial"/>
              </a:rPr>
              <a:t>0–100</a:t>
            </a:r>
          </a:p>
        </p:txBody>
      </p:sp>
      <p:sp>
        <p:nvSpPr>
          <p:cNvPr id="5" name="text-3">
            <a:extLst xmlns:a="http://schemas.openxmlformats.org/drawingml/2006/main">
              <a:ext uri="{FF2B5EF4-FFF2-40B4-BE49-F238E27FC236}">
                <a16:creationId xmlns:a16="http://schemas.microsoft.com/office/drawing/2014/main" id="{E75F081B-17EA-4DBF-8B13-722556BA1528}"/>
              </a:ext>
            </a:extLst>
          </p:cNvPr>
          <p:cNvSpPr>
            <a:spLocks xmlns:a="http://schemas.openxmlformats.org/drawingml/2006/main" noGrp="1"/>
          </p:cNvSpPr>
          <p:nvPr/>
        </p:nvSpPr>
        <p:spPr>
          <a:xfrm xmlns:a="http://schemas.openxmlformats.org/drawingml/2006/main">
            <a:off x="9067800" y="29908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Giới hạn tổng</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điểm luật</a:t>
            </a:r>
          </a:p>
        </p:txBody>
      </p:sp>
      <p:sp>
        <p:nvSpPr>
          <p:cNvPr id="6" name="text-4">
            <a:extLst xmlns:a="http://schemas.openxmlformats.org/drawingml/2006/main">
              <a:ext uri="{FF2B5EF4-FFF2-40B4-BE49-F238E27FC236}">
                <a16:creationId xmlns:a16="http://schemas.microsoft.com/office/drawing/2014/main" id="{3F6A341D-48DE-48F9-8548-BD9DFD1B8D13}"/>
              </a:ext>
            </a:extLst>
          </p:cNvPr>
          <p:cNvSpPr>
            <a:spLocks xmlns:a="http://schemas.openxmlformats.org/drawingml/2006/main" noGrp="1"/>
          </p:cNvSpPr>
          <p:nvPr/>
        </p:nvSpPr>
        <p:spPr>
          <a:xfrm xmlns:a="http://schemas.openxmlformats.org/drawingml/2006/main">
            <a:off x="9067800" y="45053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Mỗi dấu hiệu</a:t>
            </a:r>
          </a:p>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có giải thích</a:t>
            </a:r>
          </a:p>
        </p:txBody>
      </p:sp>
    </p:spTree>
    <p:extLst>
      <p:ext uri="{BB962C8B-B14F-4D97-AF65-F5344CB8AC3E}">
        <p14:creationId xmlns:p14="http://schemas.microsoft.com/office/powerpoint/2010/main" val="789781326"/>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B6B895D-B6C4-4035-A517-2E43FB9AF6E4}"/>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PhiUSIIL: dữ liệu và cách chia tập</a:t>
            </a:r>
          </a:p>
        </p:txBody>
      </p:sp>
      <p:sp>
        <p:nvSpPr>
          <p:cNvPr id="2" name="text-1">
            <a:extLst xmlns:a="http://schemas.openxmlformats.org/drawingml/2006/main">
              <a:ext uri="{FF2B5EF4-FFF2-40B4-BE49-F238E27FC236}">
                <a16:creationId xmlns:a16="http://schemas.microsoft.com/office/drawing/2014/main" id="{0E3BC392-E29C-48F3-B2AF-4D36FDC6663A}"/>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07</a:t>
            </a:r>
          </a:p>
        </p:txBody>
      </p:sp>
      <p:sp>
        <p:nvSpPr>
          <p:cNvPr id="3" name="text-2">
            <a:extLst xmlns:a="http://schemas.openxmlformats.org/drawingml/2006/main">
              <a:ext uri="{FF2B5EF4-FFF2-40B4-BE49-F238E27FC236}">
                <a16:creationId xmlns:a16="http://schemas.microsoft.com/office/drawing/2014/main" id="{F5DD4481-60E2-4EB3-BD56-136682585573}"/>
              </a:ext>
            </a:extLst>
          </p:cNvPr>
          <p:cNvSpPr>
            <a:spLocks xmlns:a="http://schemas.openxmlformats.org/drawingml/2006/main" noGrp="1"/>
          </p:cNvSpPr>
          <p:nvPr/>
        </p:nvSpPr>
        <p:spPr>
          <a:xfrm xmlns:a="http://schemas.openxmlformats.org/drawingml/2006/main">
            <a:off x="609600" y="15716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235.370</a:t>
            </a:r>
          </a:p>
        </p:txBody>
      </p:sp>
      <p:sp>
        <p:nvSpPr>
          <p:cNvPr id="4" name="text-3">
            <a:extLst xmlns:a="http://schemas.openxmlformats.org/drawingml/2006/main">
              <a:ext uri="{FF2B5EF4-FFF2-40B4-BE49-F238E27FC236}">
                <a16:creationId xmlns:a16="http://schemas.microsoft.com/office/drawing/2014/main" id="{389DE1BD-AFBE-4A51-8EDE-EB07CCACAC01}"/>
              </a:ext>
            </a:extLst>
          </p:cNvPr>
          <p:cNvSpPr>
            <a:spLocks xmlns:a="http://schemas.openxmlformats.org/drawingml/2006/main" noGrp="1"/>
          </p:cNvSpPr>
          <p:nvPr/>
        </p:nvSpPr>
        <p:spPr>
          <a:xfrm xmlns:a="http://schemas.openxmlformats.org/drawingml/2006/main">
            <a:off x="609600" y="254317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sau loại trùng</a:t>
            </a:r>
          </a:p>
        </p:txBody>
      </p:sp>
      <p:sp>
        <p:nvSpPr>
          <p:cNvPr id="5" name="text-4">
            <a:extLst xmlns:a="http://schemas.openxmlformats.org/drawingml/2006/main">
              <a:ext uri="{FF2B5EF4-FFF2-40B4-BE49-F238E27FC236}">
                <a16:creationId xmlns:a16="http://schemas.microsoft.com/office/drawing/2014/main" id="{DE44DD36-3B63-4D78-8BD5-A3085C807FF9}"/>
              </a:ext>
            </a:extLst>
          </p:cNvPr>
          <p:cNvSpPr>
            <a:spLocks xmlns:a="http://schemas.openxmlformats.org/drawingml/2006/main" noGrp="1"/>
          </p:cNvSpPr>
          <p:nvPr/>
        </p:nvSpPr>
        <p:spPr>
          <a:xfrm xmlns:a="http://schemas.openxmlformats.org/drawingml/2006/main">
            <a:off x="4857750" y="15716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185.954</a:t>
            </a:r>
          </a:p>
        </p:txBody>
      </p:sp>
      <p:sp>
        <p:nvSpPr>
          <p:cNvPr id="6" name="text-5">
            <a:extLst xmlns:a="http://schemas.openxmlformats.org/drawingml/2006/main">
              <a:ext uri="{FF2B5EF4-FFF2-40B4-BE49-F238E27FC236}">
                <a16:creationId xmlns:a16="http://schemas.microsoft.com/office/drawing/2014/main" id="{8600F9D1-8C5E-4374-8556-CA2C465E7A56}"/>
              </a:ext>
            </a:extLst>
          </p:cNvPr>
          <p:cNvSpPr>
            <a:spLocks xmlns:a="http://schemas.openxmlformats.org/drawingml/2006/main" noGrp="1"/>
          </p:cNvSpPr>
          <p:nvPr/>
        </p:nvSpPr>
        <p:spPr>
          <a:xfrm xmlns:a="http://schemas.openxmlformats.org/drawingml/2006/main">
            <a:off x="4857750" y="25431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huấn luyện</a:t>
            </a:r>
          </a:p>
        </p:txBody>
      </p:sp>
      <p:sp>
        <p:nvSpPr>
          <p:cNvPr id="7" name="text-6">
            <a:extLst xmlns:a="http://schemas.openxmlformats.org/drawingml/2006/main">
              <a:ext uri="{FF2B5EF4-FFF2-40B4-BE49-F238E27FC236}">
                <a16:creationId xmlns:a16="http://schemas.microsoft.com/office/drawing/2014/main" id="{84D211E8-0175-41FD-91E7-741C7E4E56B7}"/>
              </a:ext>
            </a:extLst>
          </p:cNvPr>
          <p:cNvSpPr>
            <a:spLocks xmlns:a="http://schemas.openxmlformats.org/drawingml/2006/main" noGrp="1"/>
          </p:cNvSpPr>
          <p:nvPr/>
        </p:nvSpPr>
        <p:spPr>
          <a:xfrm xmlns:a="http://schemas.openxmlformats.org/drawingml/2006/main">
            <a:off x="8686800" y="157162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49.416</a:t>
            </a:r>
          </a:p>
        </p:txBody>
      </p:sp>
      <p:sp>
        <p:nvSpPr>
          <p:cNvPr id="8" name="text-7">
            <a:extLst xmlns:a="http://schemas.openxmlformats.org/drawingml/2006/main">
              <a:ext uri="{FF2B5EF4-FFF2-40B4-BE49-F238E27FC236}">
                <a16:creationId xmlns:a16="http://schemas.microsoft.com/office/drawing/2014/main" id="{0C230C4C-23B5-4EAE-ABD1-826723825FA0}"/>
              </a:ext>
            </a:extLst>
          </p:cNvPr>
          <p:cNvSpPr>
            <a:spLocks xmlns:a="http://schemas.openxmlformats.org/drawingml/2006/main" noGrp="1"/>
          </p:cNvSpPr>
          <p:nvPr/>
        </p:nvSpPr>
        <p:spPr>
          <a:xfrm xmlns:a="http://schemas.openxmlformats.org/drawingml/2006/main">
            <a:off x="8686800" y="254317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đánh giá</a:t>
            </a:r>
          </a:p>
        </p:txBody>
      </p:sp>
      <p:graphicFrame>
        <p:nvGraphicFramePr>
          <p:cNvPr id="19" name=""/>
          <p:cNvGraphicFramePr/>
          <p:nvPr/>
        </p:nvGraphicFramePr>
        <p:xfrm>
          <a:off xmlns:a="http://schemas.openxmlformats.org/drawingml/2006/main" x="609600" y="3810000"/>
          <a:ext xmlns:a="http://schemas.openxmlformats.org/drawingml/2006/main" cx="10972800" cy="1657350"/>
        </p:xfrm>
        <a:graphic xmlns:a="http://schemas.openxmlformats.org/drawingml/2006/main">
          <a:graphicData uri="http://schemas.openxmlformats.org/drawingml/2006/table">
            <a:tbl>
              <a:tblPr/>
              <a:tblGrid>
                <a:gridCol w="4286250"/>
                <a:gridCol w="3343275"/>
                <a:gridCol w="3343275"/>
              </a:tblGrid>
              <a:tr h="552450">
                <a:tc>
                  <a:txBody>
                    <a:bodyPr/>
                    <a:lstStyle/>
                    <a:p>
                      <a:r>
                        <a:rPr sz="1950" b="1">
                          <a:solidFill>
                            <a:srgbClr val="FFFFFF"/>
                          </a:solidFill>
                          <a:latin typeface="Arial"/>
                          <a:ea typeface="Arial"/>
                          <a:cs typeface="Arial"/>
                        </a:rPr>
                        <a:t>Sau làm sạch</a:t>
                      </a:r>
                    </a:p>
                  </a:txBody>
                  <a:tcPr marL="152400" marR="133350" marT="95250" marB="95250">
                    <a:solidFill>
                      <a:srgbClr val="102A43"/>
                    </a:solidFill>
                  </a:tcPr>
                </a:tc>
                <a:tc>
                  <a:txBody>
                    <a:bodyPr/>
                    <a:lstStyle/>
                    <a:p>
                      <a:r>
                        <a:rPr sz="1950" b="1">
                          <a:solidFill>
                            <a:srgbClr val="FFFFFF"/>
                          </a:solidFill>
                          <a:latin typeface="Arial"/>
                          <a:ea typeface="Arial"/>
                          <a:cs typeface="Arial"/>
                        </a:rPr>
                        <a:t>Hợp lệ</a:t>
                      </a:r>
                    </a:p>
                  </a:txBody>
                  <a:tcPr marL="152400" marR="133350" marT="95250" marB="95250">
                    <a:solidFill>
                      <a:srgbClr val="102A43"/>
                    </a:solidFill>
                  </a:tcPr>
                </a:tc>
                <a:tc>
                  <a:txBody>
                    <a:bodyPr/>
                    <a:lstStyle/>
                    <a:p>
                      <a:r>
                        <a:rPr sz="1950" b="1">
                          <a:solidFill>
                            <a:srgbClr val="FFFFFF"/>
                          </a:solidFill>
                          <a:latin typeface="Arial"/>
                          <a:ea typeface="Arial"/>
                          <a:cs typeface="Arial"/>
                        </a:rPr>
                        <a:t>Phishing</a:t>
                      </a:r>
                    </a:p>
                  </a:txBody>
                  <a:tcPr marL="152400" marR="133350" marT="95250" marB="95250">
                    <a:solidFill>
                      <a:srgbClr val="102A43"/>
                    </a:solidFill>
                  </a:tcPr>
                </a:tc>
              </a:tr>
              <a:tr h="552450">
                <a:tc>
                  <a:txBody>
                    <a:bodyPr/>
                    <a:lstStyle/>
                    <a:p>
                      <a:r>
                        <a:rPr sz="1950">
                          <a:solidFill>
                            <a:srgbClr val="102A43"/>
                          </a:solidFill>
                          <a:latin typeface="Arial"/>
                          <a:ea typeface="Arial"/>
                          <a:cs typeface="Arial"/>
                        </a:rPr>
                        <a:t>Số URL</a:t>
                      </a:r>
                    </a:p>
                  </a:txBody>
                  <a:tcPr marL="152400" marR="133350" marT="95250" marB="95250">
                    <a:solidFill>
                      <a:srgbClr val="FFFFFF"/>
                    </a:solidFill>
                  </a:tcPr>
                </a:tc>
                <a:tc>
                  <a:txBody>
                    <a:bodyPr/>
                    <a:lstStyle/>
                    <a:p>
                      <a:r>
                        <a:rPr sz="1950">
                          <a:solidFill>
                            <a:srgbClr val="102A43"/>
                          </a:solidFill>
                          <a:latin typeface="Arial"/>
                          <a:ea typeface="Arial"/>
                          <a:cs typeface="Arial"/>
                        </a:rPr>
                        <a:t>134.850</a:t>
                      </a:r>
                    </a:p>
                  </a:txBody>
                  <a:tcPr marL="152400" marR="133350" marT="95250" marB="95250">
                    <a:solidFill>
                      <a:srgbClr val="FFFFFF"/>
                    </a:solidFill>
                  </a:tcPr>
                </a:tc>
                <a:tc>
                  <a:txBody>
                    <a:bodyPr/>
                    <a:lstStyle/>
                    <a:p>
                      <a:r>
                        <a:rPr sz="1950">
                          <a:solidFill>
                            <a:srgbClr val="102A43"/>
                          </a:solidFill>
                          <a:latin typeface="Arial"/>
                          <a:ea typeface="Arial"/>
                          <a:cs typeface="Arial"/>
                        </a:rPr>
                        <a:t>100.520</a:t>
                      </a:r>
                    </a:p>
                  </a:txBody>
                  <a:tcPr marL="152400" marR="133350" marT="95250" marB="95250">
                    <a:solidFill>
                      <a:srgbClr val="FFFFFF"/>
                    </a:solidFill>
                  </a:tcPr>
                </a:tc>
              </a:tr>
              <a:tr h="552450">
                <a:tc>
                  <a:txBody>
                    <a:bodyPr/>
                    <a:lstStyle/>
                    <a:p>
                      <a:r>
                        <a:rPr sz="1950">
                          <a:solidFill>
                            <a:srgbClr val="102A43"/>
                          </a:solidFill>
                          <a:latin typeface="Arial"/>
                          <a:ea typeface="Arial"/>
                          <a:cs typeface="Arial"/>
                        </a:rPr>
                        <a:t>Nhãn nội bộ</a:t>
                      </a:r>
                    </a:p>
                  </a:txBody>
                  <a:tcPr marL="152400" marR="133350" marT="95250" marB="95250">
                    <a:solidFill>
                      <a:srgbClr val="FFFFFF"/>
                    </a:solidFill>
                  </a:tcPr>
                </a:tc>
                <a:tc>
                  <a:txBody>
                    <a:bodyPr/>
                    <a:lstStyle/>
                    <a:p>
                      <a:r>
                        <a:rPr sz="1950">
                          <a:solidFill>
                            <a:srgbClr val="102A43"/>
                          </a:solidFill>
                          <a:latin typeface="Arial"/>
                          <a:ea typeface="Arial"/>
                          <a:cs typeface="Arial"/>
                        </a:rPr>
                        <a:t>0</a:t>
                      </a:r>
                    </a:p>
                  </a:txBody>
                  <a:tcPr marL="152400" marR="133350" marT="95250" marB="95250">
                    <a:solidFill>
                      <a:srgbClr val="FFFFFF"/>
                    </a:solidFill>
                  </a:tcPr>
                </a:tc>
                <a:tc>
                  <a:txBody>
                    <a:bodyPr/>
                    <a:lstStyle/>
                    <a:p>
                      <a:r>
                        <a:rPr sz="1950">
                          <a:solidFill>
                            <a:srgbClr val="102A43"/>
                          </a:solidFill>
                          <a:latin typeface="Arial"/>
                          <a:ea typeface="Arial"/>
                          <a:cs typeface="Arial"/>
                        </a:rPr>
                        <a:t>1</a:t>
                      </a:r>
                    </a:p>
                  </a:txBody>
                  <a:tcPr marL="152400" marR="133350" marT="95250" marB="95250">
                    <a:solidFill>
                      <a:srgbClr val="FFFFFF"/>
                    </a:solidFill>
                  </a:tcPr>
                </a:tc>
              </a:tr>
            </a:tbl>
          </a:graphicData>
        </a:graphic>
      </p:graphicFrame>
      <p:sp>
        <p:nvSpPr>
          <p:cNvPr id="10" name="text-8">
            <a:extLst xmlns:a="http://schemas.openxmlformats.org/drawingml/2006/main">
              <a:ext uri="{FF2B5EF4-FFF2-40B4-BE49-F238E27FC236}">
                <a16:creationId xmlns:a16="http://schemas.microsoft.com/office/drawing/2014/main" id="{050D4680-A347-405B-AF61-6E72FEA241C9}"/>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Chia theo tên miền đăng ký để hạn chế trùng domain giữa tập train và test.</a:t>
            </a:r>
          </a:p>
        </p:txBody>
      </p:sp>
    </p:spTree>
    <p:extLst>
      <p:ext uri="{BB962C8B-B14F-4D97-AF65-F5344CB8AC3E}">
        <p14:creationId xmlns:p14="http://schemas.microsoft.com/office/powerpoint/2010/main" val="1957694064"/>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37F6D86E-1BC9-4918-BD80-8C9C41C5D166}"/>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Vector đầu vào gồm 30 thuộc tính</a:t>
            </a:r>
          </a:p>
        </p:txBody>
      </p:sp>
      <p:sp>
        <p:nvSpPr>
          <p:cNvPr id="2" name="text-1">
            <a:extLst xmlns:a="http://schemas.openxmlformats.org/drawingml/2006/main">
              <a:ext uri="{FF2B5EF4-FFF2-40B4-BE49-F238E27FC236}">
                <a16:creationId xmlns:a16="http://schemas.microsoft.com/office/drawing/2014/main" id="{12ABAFFF-8A76-44E3-811C-245BDD6B67E2}"/>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08</a:t>
            </a:r>
          </a:p>
        </p:txBody>
      </p:sp>
      <p:graphicFrame>
        <p:nvGraphicFramePr>
          <p:cNvPr id="7" name=""/>
          <p:cNvGraphicFramePr/>
          <p:nvPr/>
        </p:nvGraphicFramePr>
        <p:xfrm>
          <a:off xmlns:a="http://schemas.openxmlformats.org/drawingml/2006/main" x="609600" y="1571625"/>
          <a:ext xmlns:a="http://schemas.openxmlformats.org/drawingml/2006/main" cx="10972800" cy="3714750"/>
        </p:xfrm>
        <a:graphic xmlns:a="http://schemas.openxmlformats.org/drawingml/2006/main">
          <a:graphicData uri="http://schemas.openxmlformats.org/drawingml/2006/table">
            <a:tbl>
              <a:tblPr/>
              <a:tblGrid>
                <a:gridCol w="2809875"/>
                <a:gridCol w="1476375"/>
                <a:gridCol w="6686550"/>
              </a:tblGrid>
              <a:tr h="619125">
                <a:tc>
                  <a:txBody>
                    <a:bodyPr/>
                    <a:lstStyle/>
                    <a:p>
                      <a:r>
                        <a:rPr sz="1875" b="1">
                          <a:solidFill>
                            <a:srgbClr val="FFFFFF"/>
                          </a:solidFill>
                          <a:latin typeface="Arial"/>
                          <a:ea typeface="Arial"/>
                          <a:cs typeface="Arial"/>
                        </a:rPr>
                        <a:t>Nhóm</a:t>
                      </a:r>
                    </a:p>
                  </a:txBody>
                  <a:tcPr marL="152400" marR="133350" marT="95250" marB="95250">
                    <a:solidFill>
                      <a:srgbClr val="102A43"/>
                    </a:solidFill>
                  </a:tcPr>
                </a:tc>
                <a:tc>
                  <a:txBody>
                    <a:bodyPr/>
                    <a:lstStyle/>
                    <a:p>
                      <a:r>
                        <a:rPr sz="1875" b="1">
                          <a:solidFill>
                            <a:srgbClr val="FFFFFF"/>
                          </a:solidFill>
                          <a:latin typeface="Arial"/>
                          <a:ea typeface="Arial"/>
                          <a:cs typeface="Arial"/>
                        </a:rPr>
                        <a:t>Số lượng</a:t>
                      </a:r>
                    </a:p>
                  </a:txBody>
                  <a:tcPr marL="152400" marR="133350" marT="95250" marB="95250">
                    <a:solidFill>
                      <a:srgbClr val="102A43"/>
                    </a:solidFill>
                  </a:tcPr>
                </a:tc>
                <a:tc>
                  <a:txBody>
                    <a:bodyPr/>
                    <a:lstStyle/>
                    <a:p>
                      <a:r>
                        <a:rPr sz="1875" b="1">
                          <a:solidFill>
                            <a:srgbClr val="FFFFFF"/>
                          </a:solidFill>
                          <a:latin typeface="Arial"/>
                          <a:ea typeface="Arial"/>
                          <a:cs typeface="Arial"/>
                        </a:rPr>
                        <a:t>Ví dụ</a:t>
                      </a:r>
                    </a:p>
                  </a:txBody>
                  <a:tcPr marL="152400" marR="133350" marT="95250" marB="95250">
                    <a:solidFill>
                      <a:srgbClr val="102A43"/>
                    </a:solidFill>
                  </a:tcPr>
                </a:tc>
              </a:tr>
              <a:tr h="619125">
                <a:tc>
                  <a:txBody>
                    <a:bodyPr/>
                    <a:lstStyle/>
                    <a:p>
                      <a:r>
                        <a:rPr sz="1875">
                          <a:solidFill>
                            <a:srgbClr val="102A43"/>
                          </a:solidFill>
                          <a:latin typeface="Arial"/>
                          <a:ea typeface="Arial"/>
                          <a:cs typeface="Arial"/>
                        </a:rPr>
                        <a:t>Cấu trúc URL</a:t>
                      </a:r>
                    </a:p>
                  </a:txBody>
                  <a:tcPr marL="152400" marR="133350" marT="95250" marB="95250">
                    <a:solidFill>
                      <a:srgbClr val="FFFFFF"/>
                    </a:solidFill>
                  </a:tcPr>
                </a:tc>
                <a:tc>
                  <a:txBody>
                    <a:bodyPr/>
                    <a:lstStyle/>
                    <a:p>
                      <a:r>
                        <a:rPr sz="1875">
                          <a:solidFill>
                            <a:srgbClr val="102A43"/>
                          </a:solidFill>
                          <a:latin typeface="Arial"/>
                          <a:ea typeface="Arial"/>
                          <a:cs typeface="Arial"/>
                        </a:rPr>
                        <a:t>14</a:t>
                      </a:r>
                    </a:p>
                  </a:txBody>
                  <a:tcPr marL="152400" marR="133350" marT="95250" marB="95250">
                    <a:solidFill>
                      <a:srgbClr val="FFFFFF"/>
                    </a:solidFill>
                  </a:tcPr>
                </a:tc>
                <a:tc>
                  <a:txBody>
                    <a:bodyPr/>
                    <a:lstStyle/>
                    <a:p>
                      <a:r>
                        <a:rPr sz="1875">
                          <a:solidFill>
                            <a:srgbClr val="102A43"/>
                          </a:solidFill>
                          <a:latin typeface="Arial"/>
                          <a:ea typeface="Arial"/>
                          <a:cs typeface="Arial"/>
                        </a:rPr>
                        <a:t>url_length, has_https, suspicious_tld</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Domain và TLS</a:t>
                      </a:r>
                    </a:p>
                  </a:txBody>
                  <a:tcPr marL="152400" marR="133350" marT="95250" marB="95250">
                    <a:solidFill>
                      <a:srgbClr val="FFFFFF"/>
                    </a:solidFill>
                  </a:tcPr>
                </a:tc>
                <a:tc>
                  <a:txBody>
                    <a:bodyPr/>
                    <a:lstStyle/>
                    <a:p>
                      <a:r>
                        <a:rPr sz="1875">
                          <a:solidFill>
                            <a:srgbClr val="102A43"/>
                          </a:solidFill>
                          <a:latin typeface="Arial"/>
                          <a:ea typeface="Arial"/>
                          <a:cs typeface="Arial"/>
                        </a:rPr>
                        <a:t>5</a:t>
                      </a:r>
                    </a:p>
                  </a:txBody>
                  <a:tcPr marL="152400" marR="133350" marT="95250" marB="95250">
                    <a:solidFill>
                      <a:srgbClr val="FFFFFF"/>
                    </a:solidFill>
                  </a:tcPr>
                </a:tc>
                <a:tc>
                  <a:txBody>
                    <a:bodyPr/>
                    <a:lstStyle/>
                    <a:p>
                      <a:r>
                        <a:rPr sz="1875">
                          <a:solidFill>
                            <a:srgbClr val="102A43"/>
                          </a:solidFill>
                          <a:latin typeface="Arial"/>
                          <a:ea typeface="Arial"/>
                          <a:cs typeface="Arial"/>
                        </a:rPr>
                        <a:t>domain_age_days, hostname_match</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HTML</a:t>
                      </a:r>
                    </a:p>
                  </a:txBody>
                  <a:tcPr marL="152400" marR="133350" marT="95250" marB="95250">
                    <a:solidFill>
                      <a:srgbClr val="FFFFFF"/>
                    </a:solidFill>
                  </a:tcPr>
                </a:tc>
                <a:tc>
                  <a:txBody>
                    <a:bodyPr/>
                    <a:lstStyle/>
                    <a:p>
                      <a:r>
                        <a:rPr sz="1875">
                          <a:solidFill>
                            <a:srgbClr val="102A43"/>
                          </a:solidFill>
                          <a:latin typeface="Arial"/>
                          <a:ea typeface="Arial"/>
                          <a:cs typeface="Arial"/>
                        </a:rPr>
                        <a:t>7</a:t>
                      </a:r>
                    </a:p>
                  </a:txBody>
                  <a:tcPr marL="152400" marR="133350" marT="95250" marB="95250">
                    <a:solidFill>
                      <a:srgbClr val="FFFFFF"/>
                    </a:solidFill>
                  </a:tcPr>
                </a:tc>
                <a:tc>
                  <a:txBody>
                    <a:bodyPr/>
                    <a:lstStyle/>
                    <a:p>
                      <a:r>
                        <a:rPr sz="1875">
                          <a:solidFill>
                            <a:srgbClr val="102A43"/>
                          </a:solidFill>
                          <a:latin typeface="Arial"/>
                          <a:ea typeface="Arial"/>
                          <a:cs typeface="Arial"/>
                        </a:rPr>
                        <a:t>password_input_count, form_count</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Thương hiệu</a:t>
                      </a:r>
                    </a:p>
                  </a:txBody>
                  <a:tcPr marL="152400" marR="133350" marT="95250" marB="95250">
                    <a:solidFill>
                      <a:srgbClr val="FFFFFF"/>
                    </a:solidFill>
                  </a:tcPr>
                </a:tc>
                <a:tc>
                  <a:txBody>
                    <a:bodyPr/>
                    <a:lstStyle/>
                    <a:p>
                      <a:r>
                        <a:rPr sz="1875">
                          <a:solidFill>
                            <a:srgbClr val="102A43"/>
                          </a:solidFill>
                          <a:latin typeface="Arial"/>
                          <a:ea typeface="Arial"/>
                          <a:cs typeface="Arial"/>
                        </a:rPr>
                        <a:t>3</a:t>
                      </a:r>
                    </a:p>
                  </a:txBody>
                  <a:tcPr marL="152400" marR="133350" marT="95250" marB="95250">
                    <a:solidFill>
                      <a:srgbClr val="FFFFFF"/>
                    </a:solidFill>
                  </a:tcPr>
                </a:tc>
                <a:tc>
                  <a:txBody>
                    <a:bodyPr/>
                    <a:lstStyle/>
                    <a:p>
                      <a:r>
                        <a:rPr sz="1875">
                          <a:solidFill>
                            <a:srgbClr val="102A43"/>
                          </a:solidFill>
                          <a:latin typeface="Arial"/>
                          <a:ea typeface="Arial"/>
                          <a:cs typeface="Arial"/>
                        </a:rPr>
                        <a:t>brand_similarity, impersonation_likely</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Chuyển hướng</a:t>
                      </a:r>
                    </a:p>
                  </a:txBody>
                  <a:tcPr marL="152400" marR="133350" marT="95250" marB="95250">
                    <a:solidFill>
                      <a:srgbClr val="FFFFFF"/>
                    </a:solidFill>
                  </a:tcPr>
                </a:tc>
                <a:tc>
                  <a:txBody>
                    <a:bodyPr/>
                    <a:lstStyle/>
                    <a:p>
                      <a:r>
                        <a:rPr sz="1875">
                          <a:solidFill>
                            <a:srgbClr val="102A43"/>
                          </a:solidFill>
                          <a:latin typeface="Arial"/>
                          <a:ea typeface="Arial"/>
                          <a:cs typeface="Arial"/>
                        </a:rPr>
                        <a:t>1</a:t>
                      </a:r>
                    </a:p>
                  </a:txBody>
                  <a:tcPr marL="152400" marR="133350" marT="95250" marB="95250">
                    <a:solidFill>
                      <a:srgbClr val="FFFFFF"/>
                    </a:solidFill>
                  </a:tcPr>
                </a:tc>
                <a:tc>
                  <a:txBody>
                    <a:bodyPr/>
                    <a:lstStyle/>
                    <a:p>
                      <a:r>
                        <a:rPr sz="1875">
                          <a:solidFill>
                            <a:srgbClr val="102A43"/>
                          </a:solidFill>
                          <a:latin typeface="Arial"/>
                          <a:ea typeface="Arial"/>
                          <a:cs typeface="Arial"/>
                        </a:rPr>
                        <a:t>redirect_count</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4E502210-CA32-4E5A-A06B-0C8ED5A9A7F4}"/>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Dùng chung schema cho train và runtime. Blacklist không nằm trong vector ML.</a:t>
            </a:r>
          </a:p>
        </p:txBody>
      </p:sp>
    </p:spTree>
    <p:extLst>
      <p:ext uri="{BB962C8B-B14F-4D97-AF65-F5344CB8AC3E}">
        <p14:creationId xmlns:p14="http://schemas.microsoft.com/office/powerpoint/2010/main" val="989493698"/>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4F5D4352-2515-4D33-983B-A886526240BF}"/>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XGBoost có tỷ lệ bỏ sót thấp nhất</a:t>
            </a:r>
          </a:p>
        </p:txBody>
      </p:sp>
      <p:sp>
        <p:nvSpPr>
          <p:cNvPr id="2" name="text-1">
            <a:extLst xmlns:a="http://schemas.openxmlformats.org/drawingml/2006/main">
              <a:ext uri="{FF2B5EF4-FFF2-40B4-BE49-F238E27FC236}">
                <a16:creationId xmlns:a16="http://schemas.microsoft.com/office/drawing/2014/main" id="{3A713DA9-0909-40C5-883A-07EA3104661B}"/>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09</a:t>
            </a:r>
          </a:p>
        </p:txBody>
      </p:sp>
      <p:sp>
        <p:nvSpPr>
          <p:cNvPr id="3" name="text-2">
            <a:extLst xmlns:a="http://schemas.openxmlformats.org/drawingml/2006/main">
              <a:ext uri="{FF2B5EF4-FFF2-40B4-BE49-F238E27FC236}">
                <a16:creationId xmlns:a16="http://schemas.microsoft.com/office/drawing/2014/main" id="{6F9B84D5-C5F0-4F3E-AF70-5F40915083C0}"/>
              </a:ext>
            </a:extLst>
          </p:cNvPr>
          <p:cNvSpPr>
            <a:spLocks xmlns:a="http://schemas.openxmlformats.org/drawingml/2006/main" noGrp="1"/>
          </p:cNvSpPr>
          <p:nvPr/>
        </p:nvSpPr>
        <p:spPr>
          <a:xfrm xmlns:a="http://schemas.openxmlformats.org/drawingml/2006/main">
            <a:off x="609600" y="142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FNR trên tập đánh giá, càng thấp càng tốt</a:t>
            </a:r>
          </a:p>
        </p:txBody>
      </p:sp>
      <p:graphicFrame>
        <p:nvGraphicFramePr>
          <p:cNvPr id="12" name="Chart"/>
          <p:cNvGraphicFramePr/>
          <p:nvPr/>
        </p:nvGraphicFramePr>
        <p:xfrm>
          <a:off xmlns:a="http://schemas.openxmlformats.org/drawingml/2006/main" x="609600" y="2105025"/>
          <a:ext xmlns:a="http://schemas.openxmlformats.org/drawingml/2006/main" cx="8096250" cy="3476625"/>
        </p:xfrm>
        <a:graphic xmlns:a="http://schemas.openxmlformats.org/drawingml/2006/main">
          <a:graphicData uri="http://schemas.openxmlformats.org/drawingml/2006/chart">
            <c:chart xmlns:r="http://schemas.openxmlformats.org/officeDocument/2006/relationships" xmlns:c="http://schemas.openxmlformats.org/drawingml/2006/chart" r:id="R872d92b58a944561"/>
          </a:graphicData>
        </a:graphic>
      </p:graphicFrame>
      <p:sp>
        <p:nvSpPr>
          <p:cNvPr id="5" name="text-3">
            <a:extLst xmlns:a="http://schemas.openxmlformats.org/drawingml/2006/main">
              <a:ext uri="{FF2B5EF4-FFF2-40B4-BE49-F238E27FC236}">
                <a16:creationId xmlns:a16="http://schemas.microsoft.com/office/drawing/2014/main" id="{32BF9616-88F4-4702-9803-28D9EA70220B}"/>
              </a:ext>
            </a:extLst>
          </p:cNvPr>
          <p:cNvSpPr>
            <a:spLocks xmlns:a="http://schemas.openxmlformats.org/drawingml/2006/main" noGrp="1"/>
          </p:cNvSpPr>
          <p:nvPr/>
        </p:nvSpPr>
        <p:spPr>
          <a:xfrm xmlns:a="http://schemas.openxmlformats.org/drawingml/2006/main">
            <a:off x="9115425" y="2066925"/>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3,47%</a:t>
            </a:r>
          </a:p>
        </p:txBody>
      </p:sp>
      <p:sp>
        <p:nvSpPr>
          <p:cNvPr id="6" name="text-4">
            <a:extLst xmlns:a="http://schemas.openxmlformats.org/drawingml/2006/main">
              <a:ext uri="{FF2B5EF4-FFF2-40B4-BE49-F238E27FC236}">
                <a16:creationId xmlns:a16="http://schemas.microsoft.com/office/drawing/2014/main" id="{63BF07DD-A441-4838-A6B0-51FF83D67FA3}"/>
              </a:ext>
            </a:extLst>
          </p:cNvPr>
          <p:cNvSpPr>
            <a:spLocks xmlns:a="http://schemas.openxmlformats.org/drawingml/2006/main" noGrp="1"/>
          </p:cNvSpPr>
          <p:nvPr/>
        </p:nvSpPr>
        <p:spPr>
          <a:xfrm xmlns:a="http://schemas.openxmlformats.org/drawingml/2006/main">
            <a:off x="9115425" y="3038475"/>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FNR của XGBoost</a:t>
            </a:r>
          </a:p>
        </p:txBody>
      </p:sp>
      <p:sp>
        <p:nvSpPr>
          <p:cNvPr id="7" name="text-5">
            <a:extLst xmlns:a="http://schemas.openxmlformats.org/drawingml/2006/main">
              <a:ext uri="{FF2B5EF4-FFF2-40B4-BE49-F238E27FC236}">
                <a16:creationId xmlns:a16="http://schemas.microsoft.com/office/drawing/2014/main" id="{83925FF1-5D9C-4DB3-815F-3CE0A558C63B}"/>
              </a:ext>
            </a:extLst>
          </p:cNvPr>
          <p:cNvSpPr>
            <a:spLocks xmlns:a="http://schemas.openxmlformats.org/drawingml/2006/main" noGrp="1"/>
          </p:cNvSpPr>
          <p:nvPr/>
        </p:nvSpPr>
        <p:spPr>
          <a:xfrm xmlns:a="http://schemas.openxmlformats.org/drawingml/2006/main">
            <a:off x="8924925" y="426720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Giảm 19 URL bỏ sót</a:t>
            </a:r>
          </a:p>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so với Random Forest</a:t>
            </a:r>
          </a:p>
        </p:txBody>
      </p:sp>
      <p:sp>
        <p:nvSpPr>
          <p:cNvPr id="8" name="text-6">
            <a:extLst xmlns:a="http://schemas.openxmlformats.org/drawingml/2006/main">
              <a:ext uri="{FF2B5EF4-FFF2-40B4-BE49-F238E27FC236}">
                <a16:creationId xmlns:a16="http://schemas.microsoft.com/office/drawing/2014/main" id="{32E5F5A3-C470-4303-9455-95FE75BAE9CD}"/>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Kết quả lưu ngày 28/09/2026 trên 49.416 URL, chia theo tên miền.</a:t>
            </a:r>
          </a:p>
        </p:txBody>
      </p:sp>
    </p:spTree>
    <p:extLst>
      <p:ext uri="{BB962C8B-B14F-4D97-AF65-F5344CB8AC3E}">
        <p14:creationId xmlns:p14="http://schemas.microsoft.com/office/powerpoint/2010/main" val="2137658977"/>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46EE1FC-88F5-4BD8-98CE-DF66E416602C}"/>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Ma trận nhầm lẫn của XGBoost</a:t>
            </a:r>
          </a:p>
        </p:txBody>
      </p:sp>
      <p:sp>
        <p:nvSpPr>
          <p:cNvPr id="2" name="text-1">
            <a:extLst xmlns:a="http://schemas.openxmlformats.org/drawingml/2006/main">
              <a:ext uri="{FF2B5EF4-FFF2-40B4-BE49-F238E27FC236}">
                <a16:creationId xmlns:a16="http://schemas.microsoft.com/office/drawing/2014/main" id="{45ED01A9-C8BD-489B-9BF4-5B62FB391AB0}"/>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10</a:t>
            </a:r>
          </a:p>
        </p:txBody>
      </p:sp>
      <p:graphicFrame>
        <p:nvGraphicFramePr>
          <p:cNvPr id="12" name=""/>
          <p:cNvGraphicFramePr/>
          <p:nvPr/>
        </p:nvGraphicFramePr>
        <p:xfrm>
          <a:off xmlns:a="http://schemas.openxmlformats.org/drawingml/2006/main" x="609600" y="1724025"/>
          <a:ext xmlns:a="http://schemas.openxmlformats.org/drawingml/2006/main" cx="10972800" cy="2400300"/>
        </p:xfrm>
        <a:graphic xmlns:a="http://schemas.openxmlformats.org/drawingml/2006/main">
          <a:graphicData uri="http://schemas.openxmlformats.org/drawingml/2006/table">
            <a:tbl>
              <a:tblPr/>
              <a:tblGrid>
                <a:gridCol w="4572000"/>
                <a:gridCol w="3200400"/>
                <a:gridCol w="3200400"/>
              </a:tblGrid>
              <a:tr h="800100">
                <a:tc>
                  <a:txBody>
                    <a:bodyPr/>
                    <a:lstStyle/>
                    <a:p>
                      <a:r>
                        <a:rPr sz="2175" b="1">
                          <a:solidFill>
                            <a:srgbClr val="FFFFFF"/>
                          </a:solidFill>
                          <a:latin typeface="Arial"/>
                          <a:ea typeface="Arial"/>
                          <a:cs typeface="Arial"/>
                        </a:rPr>
                        <a:t>Thực tế / Dự đoán</a:t>
                      </a:r>
                    </a:p>
                  </a:txBody>
                  <a:tcPr marL="152400" marR="133350" marT="95250" marB="95250">
                    <a:solidFill>
                      <a:srgbClr val="102A43"/>
                    </a:solidFill>
                  </a:tcPr>
                </a:tc>
                <a:tc>
                  <a:txBody>
                    <a:bodyPr/>
                    <a:lstStyle/>
                    <a:p>
                      <a:r>
                        <a:rPr sz="2175" b="1">
                          <a:solidFill>
                            <a:srgbClr val="FFFFFF"/>
                          </a:solidFill>
                          <a:latin typeface="Arial"/>
                          <a:ea typeface="Arial"/>
                          <a:cs typeface="Arial"/>
                        </a:rPr>
                        <a:t>Hợp lệ</a:t>
                      </a:r>
                    </a:p>
                  </a:txBody>
                  <a:tcPr marL="152400" marR="133350" marT="95250" marB="95250">
                    <a:solidFill>
                      <a:srgbClr val="102A43"/>
                    </a:solidFill>
                  </a:tcPr>
                </a:tc>
                <a:tc>
                  <a:txBody>
                    <a:bodyPr/>
                    <a:lstStyle/>
                    <a:p>
                      <a:r>
                        <a:rPr sz="2175" b="1">
                          <a:solidFill>
                            <a:srgbClr val="FFFFFF"/>
                          </a:solidFill>
                          <a:latin typeface="Arial"/>
                          <a:ea typeface="Arial"/>
                          <a:cs typeface="Arial"/>
                        </a:rPr>
                        <a:t>Phishing</a:t>
                      </a:r>
                    </a:p>
                  </a:txBody>
                  <a:tcPr marL="152400" marR="133350" marT="95250" marB="95250">
                    <a:solidFill>
                      <a:srgbClr val="102A43"/>
                    </a:solidFill>
                  </a:tcPr>
                </a:tc>
              </a:tr>
              <a:tr h="800100">
                <a:tc>
                  <a:txBody>
                    <a:bodyPr/>
                    <a:lstStyle/>
                    <a:p>
                      <a:r>
                        <a:rPr sz="2175">
                          <a:solidFill>
                            <a:srgbClr val="102A43"/>
                          </a:solidFill>
                          <a:latin typeface="Arial"/>
                          <a:ea typeface="Arial"/>
                          <a:cs typeface="Arial"/>
                        </a:rPr>
                        <a:t>Hợp lệ</a:t>
                      </a:r>
                    </a:p>
                  </a:txBody>
                  <a:tcPr marL="152400" marR="133350" marT="95250" marB="95250">
                    <a:solidFill>
                      <a:srgbClr val="FFFFFF"/>
                    </a:solidFill>
                  </a:tcPr>
                </a:tc>
                <a:tc>
                  <a:txBody>
                    <a:bodyPr/>
                    <a:lstStyle/>
                    <a:p>
                      <a:r>
                        <a:rPr sz="2175">
                          <a:solidFill>
                            <a:srgbClr val="102A43"/>
                          </a:solidFill>
                          <a:latin typeface="Arial"/>
                          <a:ea typeface="Arial"/>
                          <a:cs typeface="Arial"/>
                        </a:rPr>
                        <a:t>26.886</a:t>
                      </a:r>
                    </a:p>
                  </a:txBody>
                  <a:tcPr marL="152400" marR="133350" marT="95250" marB="95250">
                    <a:solidFill>
                      <a:srgbClr val="FFFFFF"/>
                    </a:solidFill>
                  </a:tcPr>
                </a:tc>
                <a:tc>
                  <a:txBody>
                    <a:bodyPr/>
                    <a:lstStyle/>
                    <a:p>
                      <a:r>
                        <a:rPr sz="2175">
                          <a:solidFill>
                            <a:srgbClr val="102A43"/>
                          </a:solidFill>
                          <a:latin typeface="Arial"/>
                          <a:ea typeface="Arial"/>
                          <a:cs typeface="Arial"/>
                        </a:rPr>
                        <a:t>292</a:t>
                      </a:r>
                    </a:p>
                  </a:txBody>
                  <a:tcPr marL="152400" marR="133350" marT="95250" marB="95250">
                    <a:solidFill>
                      <a:srgbClr val="FFFFFF"/>
                    </a:solidFill>
                  </a:tcPr>
                </a:tc>
              </a:tr>
              <a:tr h="800100">
                <a:tc>
                  <a:txBody>
                    <a:bodyPr/>
                    <a:lstStyle/>
                    <a:p>
                      <a:r>
                        <a:rPr sz="2175">
                          <a:solidFill>
                            <a:srgbClr val="102A43"/>
                          </a:solidFill>
                          <a:latin typeface="Arial"/>
                          <a:ea typeface="Arial"/>
                          <a:cs typeface="Arial"/>
                        </a:rPr>
                        <a:t>Phishing</a:t>
                      </a:r>
                    </a:p>
                  </a:txBody>
                  <a:tcPr marL="152400" marR="133350" marT="95250" marB="95250">
                    <a:solidFill>
                      <a:srgbClr val="FFFFFF"/>
                    </a:solidFill>
                  </a:tcPr>
                </a:tc>
                <a:tc>
                  <a:txBody>
                    <a:bodyPr/>
                    <a:lstStyle/>
                    <a:p>
                      <a:r>
                        <a:rPr sz="2175">
                          <a:solidFill>
                            <a:srgbClr val="102A43"/>
                          </a:solidFill>
                          <a:latin typeface="Arial"/>
                          <a:ea typeface="Arial"/>
                          <a:cs typeface="Arial"/>
                        </a:rPr>
                        <a:t>772</a:t>
                      </a:r>
                    </a:p>
                  </a:txBody>
                  <a:tcPr marL="152400" marR="133350" marT="95250" marB="95250">
                    <a:solidFill>
                      <a:srgbClr val="FFFFFF"/>
                    </a:solidFill>
                  </a:tcPr>
                </a:tc>
                <a:tc>
                  <a:txBody>
                    <a:bodyPr/>
                    <a:lstStyle/>
                    <a:p>
                      <a:r>
                        <a:rPr sz="2175">
                          <a:solidFill>
                            <a:srgbClr val="102A43"/>
                          </a:solidFill>
                          <a:latin typeface="Arial"/>
                          <a:ea typeface="Arial"/>
                          <a:cs typeface="Arial"/>
                        </a:rPr>
                        <a:t>21.466</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E2B4E97-667E-4B47-90E5-3456318F4D49}"/>
              </a:ext>
            </a:extLst>
          </p:cNvPr>
          <p:cNvSpPr>
            <a:spLocks xmlns:a="http://schemas.openxmlformats.org/drawingml/2006/main" noGrp="1"/>
          </p:cNvSpPr>
          <p:nvPr/>
        </p:nvSpPr>
        <p:spPr>
          <a:xfrm xmlns:a="http://schemas.openxmlformats.org/drawingml/2006/main">
            <a:off x="609600" y="45434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96,53%</a:t>
            </a:r>
          </a:p>
        </p:txBody>
      </p:sp>
      <p:sp>
        <p:nvSpPr>
          <p:cNvPr id="5" name="text-3">
            <a:extLst xmlns:a="http://schemas.openxmlformats.org/drawingml/2006/main">
              <a:ext uri="{FF2B5EF4-FFF2-40B4-BE49-F238E27FC236}">
                <a16:creationId xmlns:a16="http://schemas.microsoft.com/office/drawing/2014/main" id="{121FCC98-A313-428D-883C-40E03E330038}"/>
              </a:ext>
            </a:extLst>
          </p:cNvPr>
          <p:cNvSpPr>
            <a:spLocks xmlns:a="http://schemas.openxmlformats.org/drawingml/2006/main" noGrp="1"/>
          </p:cNvSpPr>
          <p:nvPr/>
        </p:nvSpPr>
        <p:spPr>
          <a:xfrm xmlns:a="http://schemas.openxmlformats.org/drawingml/2006/main">
            <a:off x="609600" y="55149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Recall phishing</a:t>
            </a:r>
          </a:p>
        </p:txBody>
      </p:sp>
      <p:sp>
        <p:nvSpPr>
          <p:cNvPr id="6" name="text-4">
            <a:extLst xmlns:a="http://schemas.openxmlformats.org/drawingml/2006/main">
              <a:ext uri="{FF2B5EF4-FFF2-40B4-BE49-F238E27FC236}">
                <a16:creationId xmlns:a16="http://schemas.microsoft.com/office/drawing/2014/main" id="{1EAD70A9-F1AD-4404-89B4-9CF23ED45F9C}"/>
              </a:ext>
            </a:extLst>
          </p:cNvPr>
          <p:cNvSpPr>
            <a:spLocks xmlns:a="http://schemas.openxmlformats.org/drawingml/2006/main" noGrp="1"/>
          </p:cNvSpPr>
          <p:nvPr/>
        </p:nvSpPr>
        <p:spPr>
          <a:xfrm xmlns:a="http://schemas.openxmlformats.org/drawingml/2006/main">
            <a:off x="4610100" y="45434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97,58%</a:t>
            </a:r>
          </a:p>
        </p:txBody>
      </p:sp>
      <p:sp>
        <p:nvSpPr>
          <p:cNvPr id="7" name="text-5">
            <a:extLst xmlns:a="http://schemas.openxmlformats.org/drawingml/2006/main">
              <a:ext uri="{FF2B5EF4-FFF2-40B4-BE49-F238E27FC236}">
                <a16:creationId xmlns:a16="http://schemas.microsoft.com/office/drawing/2014/main" id="{87B0E711-3691-490C-93B2-CF9705ED0454}"/>
              </a:ext>
            </a:extLst>
          </p:cNvPr>
          <p:cNvSpPr>
            <a:spLocks xmlns:a="http://schemas.openxmlformats.org/drawingml/2006/main" noGrp="1"/>
          </p:cNvSpPr>
          <p:nvPr/>
        </p:nvSpPr>
        <p:spPr>
          <a:xfrm xmlns:a="http://schemas.openxmlformats.org/drawingml/2006/main">
            <a:off x="4610100" y="55149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F1 phishing</a:t>
            </a:r>
          </a:p>
        </p:txBody>
      </p:sp>
      <p:sp>
        <p:nvSpPr>
          <p:cNvPr id="8" name="text-6">
            <a:extLst xmlns:a="http://schemas.openxmlformats.org/drawingml/2006/main">
              <a:ext uri="{FF2B5EF4-FFF2-40B4-BE49-F238E27FC236}">
                <a16:creationId xmlns:a16="http://schemas.microsoft.com/office/drawing/2014/main" id="{2B90BFAF-F2E0-4C25-90CC-933F773E5236}"/>
              </a:ext>
            </a:extLst>
          </p:cNvPr>
          <p:cNvSpPr>
            <a:spLocks xmlns:a="http://schemas.openxmlformats.org/drawingml/2006/main" noGrp="1"/>
          </p:cNvSpPr>
          <p:nvPr/>
        </p:nvSpPr>
        <p:spPr>
          <a:xfrm xmlns:a="http://schemas.openxmlformats.org/drawingml/2006/main">
            <a:off x="8610600" y="4543425"/>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97,85%</a:t>
            </a:r>
          </a:p>
        </p:txBody>
      </p:sp>
      <p:sp>
        <p:nvSpPr>
          <p:cNvPr id="9" name="text-7">
            <a:extLst xmlns:a="http://schemas.openxmlformats.org/drawingml/2006/main">
              <a:ext uri="{FF2B5EF4-FFF2-40B4-BE49-F238E27FC236}">
                <a16:creationId xmlns:a16="http://schemas.microsoft.com/office/drawing/2014/main" id="{7223A115-77C2-420A-8097-C167337DD7D7}"/>
              </a:ext>
            </a:extLst>
          </p:cNvPr>
          <p:cNvSpPr>
            <a:spLocks xmlns:a="http://schemas.openxmlformats.org/drawingml/2006/main" noGrp="1"/>
          </p:cNvSpPr>
          <p:nvPr/>
        </p:nvSpPr>
        <p:spPr>
          <a:xfrm xmlns:a="http://schemas.openxmlformats.org/drawingml/2006/main">
            <a:off x="8610600" y="5514975"/>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Accuracy</a:t>
            </a:r>
          </a:p>
        </p:txBody>
      </p:sp>
    </p:spTree>
    <p:extLst>
      <p:ext uri="{BB962C8B-B14F-4D97-AF65-F5344CB8AC3E}">
        <p14:creationId xmlns:p14="http://schemas.microsoft.com/office/powerpoint/2010/main" val="470209970"/>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3918A5A-268F-4AD0-ADCC-6154E3E96140}"/>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Mô hình phụ thuộc mạnh vào tín hiệu HTTPS</a:t>
            </a:r>
          </a:p>
        </p:txBody>
      </p:sp>
      <p:sp>
        <p:nvSpPr>
          <p:cNvPr id="2" name="text-1">
            <a:extLst xmlns:a="http://schemas.openxmlformats.org/drawingml/2006/main">
              <a:ext uri="{FF2B5EF4-FFF2-40B4-BE49-F238E27FC236}">
                <a16:creationId xmlns:a16="http://schemas.microsoft.com/office/drawing/2014/main" id="{CE6C85CB-5FF9-47A9-8A86-FBF97F7967E2}"/>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11</a:t>
            </a:r>
          </a:p>
        </p:txBody>
      </p:sp>
      <p:graphicFrame>
        <p:nvGraphicFramePr>
          <p:cNvPr id="10" name="Chart"/>
          <p:cNvGraphicFramePr/>
          <p:nvPr/>
        </p:nvGraphicFramePr>
        <p:xfrm>
          <a:off xmlns:a="http://schemas.openxmlformats.org/drawingml/2006/main" x="533400" y="1552575"/>
          <a:ext xmlns:a="http://schemas.openxmlformats.org/drawingml/2006/main" cx="7858125" cy="4286250"/>
        </p:xfrm>
        <a:graphic xmlns:a="http://schemas.openxmlformats.org/drawingml/2006/main">
          <a:graphicData uri="http://schemas.openxmlformats.org/drawingml/2006/chart">
            <c:chart xmlns:r="http://schemas.openxmlformats.org/officeDocument/2006/relationships" xmlns:c="http://schemas.openxmlformats.org/drawingml/2006/chart" r:id="R0e14398140964597"/>
          </a:graphicData>
        </a:graphic>
      </p:graphicFrame>
      <p:sp>
        <p:nvSpPr>
          <p:cNvPr id="4" name="text-2">
            <a:extLst xmlns:a="http://schemas.openxmlformats.org/drawingml/2006/main">
              <a:ext uri="{FF2B5EF4-FFF2-40B4-BE49-F238E27FC236}">
                <a16:creationId xmlns:a16="http://schemas.microsoft.com/office/drawing/2014/main" id="{65BDB685-1D93-4398-8FA7-8655E4456DF8}"/>
              </a:ext>
            </a:extLst>
          </p:cNvPr>
          <p:cNvSpPr>
            <a:spLocks xmlns:a="http://schemas.openxmlformats.org/drawingml/2006/main" noGrp="1"/>
          </p:cNvSpPr>
          <p:nvPr/>
        </p:nvSpPr>
        <p:spPr>
          <a:xfrm xmlns:a="http://schemas.openxmlformats.org/drawingml/2006/main">
            <a:off x="8810625" y="1724025"/>
            <a:ext cx="2809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74,1%</a:t>
            </a:r>
          </a:p>
        </p:txBody>
      </p:sp>
      <p:sp>
        <p:nvSpPr>
          <p:cNvPr id="5" name="text-3">
            <a:extLst xmlns:a="http://schemas.openxmlformats.org/drawingml/2006/main">
              <a:ext uri="{FF2B5EF4-FFF2-40B4-BE49-F238E27FC236}">
                <a16:creationId xmlns:a16="http://schemas.microsoft.com/office/drawing/2014/main" id="{0314E3BF-DE8C-4E4D-B793-A985FF75620F}"/>
              </a:ext>
            </a:extLst>
          </p:cNvPr>
          <p:cNvSpPr>
            <a:spLocks xmlns:a="http://schemas.openxmlformats.org/drawingml/2006/main" noGrp="1"/>
          </p:cNvSpPr>
          <p:nvPr/>
        </p:nvSpPr>
        <p:spPr>
          <a:xfrm xmlns:a="http://schemas.openxmlformats.org/drawingml/2006/main">
            <a:off x="8810625" y="2695575"/>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Gain của has_https</a:t>
            </a:r>
          </a:p>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và hostname_match</a:t>
            </a:r>
          </a:p>
        </p:txBody>
      </p:sp>
      <p:sp>
        <p:nvSpPr>
          <p:cNvPr id="6" name="text-4">
            <a:extLst xmlns:a="http://schemas.openxmlformats.org/drawingml/2006/main">
              <a:ext uri="{FF2B5EF4-FFF2-40B4-BE49-F238E27FC236}">
                <a16:creationId xmlns:a16="http://schemas.microsoft.com/office/drawing/2014/main" id="{301BF80A-FEAB-4F05-8697-6321A944310A}"/>
              </a:ext>
            </a:extLst>
          </p:cNvPr>
          <p:cNvSpPr>
            <a:spLocks xmlns:a="http://schemas.openxmlformats.org/drawingml/2006/main" noGrp="1"/>
          </p:cNvSpPr>
          <p:nvPr/>
        </p:nvSpPr>
        <p:spPr>
          <a:xfrm xmlns:a="http://schemas.openxmlformats.org/drawingml/2006/main">
            <a:off x="8810625" y="3943350"/>
            <a:ext cx="2809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Khi train offline,</a:t>
            </a:r>
          </a:p>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hostname_match lấy</a:t>
            </a:r>
          </a:p>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mặc định từ scheme URL.</a:t>
            </a:r>
          </a:p>
        </p:txBody>
      </p:sp>
      <p:sp>
        <p:nvSpPr>
          <p:cNvPr id="7" name="text-5">
            <a:extLst xmlns:a="http://schemas.openxmlformats.org/drawingml/2006/main">
              <a:ext uri="{FF2B5EF4-FFF2-40B4-BE49-F238E27FC236}">
                <a16:creationId xmlns:a16="http://schemas.microsoft.com/office/drawing/2014/main" id="{FFB6DA92-3356-4B8D-A989-DA1F77DC3890}"/>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Gain phản ánh cách mô hình dùng dữ liệu huấn luyện, không phải quan hệ nhân quả.</a:t>
            </a:r>
          </a:p>
        </p:txBody>
      </p:sp>
    </p:spTree>
    <p:extLst>
      <p:ext uri="{BB962C8B-B14F-4D97-AF65-F5344CB8AC3E}">
        <p14:creationId xmlns:p14="http://schemas.microsoft.com/office/powerpoint/2010/main" val="364563181"/>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A1F2C22-4D08-4A98-9037-5603D6EE6E4F}"/>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Danh sách đen bổ sung bằng chứng đã biết</a:t>
            </a:r>
          </a:p>
        </p:txBody>
      </p:sp>
      <p:sp>
        <p:nvSpPr>
          <p:cNvPr id="2" name="text-1">
            <a:extLst xmlns:a="http://schemas.openxmlformats.org/drawingml/2006/main">
              <a:ext uri="{FF2B5EF4-FFF2-40B4-BE49-F238E27FC236}">
                <a16:creationId xmlns:a16="http://schemas.microsoft.com/office/drawing/2014/main" id="{7731DA8C-59C3-46A4-96A4-0E4B9E1D231C}"/>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12</a:t>
            </a:r>
          </a:p>
        </p:txBody>
      </p:sp>
      <p:graphicFrame>
        <p:nvGraphicFramePr>
          <p:cNvPr id="10" name=""/>
          <p:cNvGraphicFramePr/>
          <p:nvPr/>
        </p:nvGraphicFramePr>
        <p:xfrm>
          <a:off xmlns:a="http://schemas.openxmlformats.org/drawingml/2006/main" x="609600" y="1571625"/>
          <a:ext xmlns:a="http://schemas.openxmlformats.org/drawingml/2006/main" cx="10972800" cy="2514600"/>
        </p:xfrm>
        <a:graphic xmlns:a="http://schemas.openxmlformats.org/drawingml/2006/main">
          <a:graphicData uri="http://schemas.openxmlformats.org/drawingml/2006/table">
            <a:tbl>
              <a:tblPr/>
              <a:tblGrid>
                <a:gridCol w="3381375"/>
                <a:gridCol w="3400425"/>
                <a:gridCol w="4191000"/>
              </a:tblGrid>
              <a:tr h="628650">
                <a:tc>
                  <a:txBody>
                    <a:bodyPr/>
                    <a:lstStyle/>
                    <a:p>
                      <a:r>
                        <a:rPr sz="1950" b="1">
                          <a:solidFill>
                            <a:srgbClr val="FFFFFF"/>
                          </a:solidFill>
                          <a:latin typeface="Arial"/>
                          <a:ea typeface="Arial"/>
                          <a:cs typeface="Arial"/>
                        </a:rPr>
                        <a:t>Nguồn feed</a:t>
                      </a:r>
                    </a:p>
                  </a:txBody>
                  <a:tcPr marL="152400" marR="133350" marT="95250" marB="95250">
                    <a:solidFill>
                      <a:srgbClr val="102A43"/>
                    </a:solidFill>
                  </a:tcPr>
                </a:tc>
                <a:tc>
                  <a:txBody>
                    <a:bodyPr/>
                    <a:lstStyle/>
                    <a:p>
                      <a:r>
                        <a:rPr sz="1950" b="1">
                          <a:solidFill>
                            <a:srgbClr val="FFFFFF"/>
                          </a:solidFill>
                          <a:latin typeface="Arial"/>
                          <a:ea typeface="Arial"/>
                          <a:cs typeface="Arial"/>
                        </a:rPr>
                        <a:t>Loại dữ liệu</a:t>
                      </a:r>
                    </a:p>
                  </a:txBody>
                  <a:tcPr marL="152400" marR="133350" marT="95250" marB="95250">
                    <a:solidFill>
                      <a:srgbClr val="102A43"/>
                    </a:solidFill>
                  </a:tcPr>
                </a:tc>
                <a:tc>
                  <a:txBody>
                    <a:bodyPr/>
                    <a:lstStyle/>
                    <a:p>
                      <a:r>
                        <a:rPr sz="1950" b="1">
                          <a:solidFill>
                            <a:srgbClr val="FFFFFF"/>
                          </a:solidFill>
                          <a:latin typeface="Arial"/>
                          <a:ea typeface="Arial"/>
                          <a:cs typeface="Arial"/>
                        </a:rPr>
                        <a:t>Snapshot 28/09/2026</a:t>
                      </a:r>
                    </a:p>
                  </a:txBody>
                  <a:tcPr marL="152400" marR="133350" marT="95250" marB="95250">
                    <a:solidFill>
                      <a:srgbClr val="102A43"/>
                    </a:solidFill>
                  </a:tcPr>
                </a:tc>
              </a:tr>
              <a:tr h="628650">
                <a:tc>
                  <a:txBody>
                    <a:bodyPr/>
                    <a:lstStyle/>
                    <a:p>
                      <a:r>
                        <a:rPr sz="1950">
                          <a:solidFill>
                            <a:srgbClr val="102A43"/>
                          </a:solidFill>
                          <a:latin typeface="Arial"/>
                          <a:ea typeface="Arial"/>
                          <a:cs typeface="Arial"/>
                        </a:rPr>
                        <a:t>OpenPhish</a:t>
                      </a:r>
                    </a:p>
                  </a:txBody>
                  <a:tcPr marL="152400" marR="133350" marT="95250" marB="95250">
                    <a:solidFill>
                      <a:srgbClr val="FFFFFF"/>
                    </a:solidFill>
                  </a:tcPr>
                </a:tc>
                <a:tc>
                  <a:txBody>
                    <a:bodyPr/>
                    <a:lstStyle/>
                    <a:p>
                      <a:r>
                        <a:rPr sz="1950">
                          <a:solidFill>
                            <a:srgbClr val="102A43"/>
                          </a:solidFill>
                          <a:latin typeface="Arial"/>
                          <a:ea typeface="Arial"/>
                          <a:cs typeface="Arial"/>
                        </a:rPr>
                        <a:t>URL phishing</a:t>
                      </a:r>
                    </a:p>
                  </a:txBody>
                  <a:tcPr marL="152400" marR="133350" marT="95250" marB="95250">
                    <a:solidFill>
                      <a:srgbClr val="FFFFFF"/>
                    </a:solidFill>
                  </a:tcPr>
                </a:tc>
                <a:tc>
                  <a:txBody>
                    <a:bodyPr/>
                    <a:lstStyle/>
                    <a:p>
                      <a:r>
                        <a:rPr sz="1950">
                          <a:solidFill>
                            <a:srgbClr val="102A43"/>
                          </a:solidFill>
                          <a:latin typeface="Arial"/>
                          <a:ea typeface="Arial"/>
                          <a:cs typeface="Arial"/>
                        </a:rPr>
                        <a:t>300 URL</a:t>
                      </a:r>
                    </a:p>
                  </a:txBody>
                  <a:tcPr marL="152400" marR="133350" marT="95250" marB="95250">
                    <a:solidFill>
                      <a:srgbClr val="FFFFFF"/>
                    </a:solidFill>
                  </a:tcPr>
                </a:tc>
              </a:tr>
              <a:tr h="628650">
                <a:tc>
                  <a:txBody>
                    <a:bodyPr/>
                    <a:lstStyle/>
                    <a:p>
                      <a:r>
                        <a:rPr sz="1950">
                          <a:solidFill>
                            <a:srgbClr val="102A43"/>
                          </a:solidFill>
                          <a:latin typeface="Arial"/>
                          <a:ea typeface="Arial"/>
                          <a:cs typeface="Arial"/>
                        </a:rPr>
                        <a:t>URLhaus</a:t>
                      </a:r>
                    </a:p>
                  </a:txBody>
                  <a:tcPr marL="152400" marR="133350" marT="95250" marB="95250">
                    <a:solidFill>
                      <a:srgbClr val="FFFFFF"/>
                    </a:solidFill>
                  </a:tcPr>
                </a:tc>
                <a:tc>
                  <a:txBody>
                    <a:bodyPr/>
                    <a:lstStyle/>
                    <a:p>
                      <a:r>
                        <a:rPr sz="1950">
                          <a:solidFill>
                            <a:srgbClr val="102A43"/>
                          </a:solidFill>
                          <a:latin typeface="Arial"/>
                          <a:ea typeface="Arial"/>
                          <a:cs typeface="Arial"/>
                        </a:rPr>
                        <a:t>URL độc hại</a:t>
                      </a:r>
                    </a:p>
                  </a:txBody>
                  <a:tcPr marL="152400" marR="133350" marT="95250" marB="95250">
                    <a:solidFill>
                      <a:srgbClr val="FFFFFF"/>
                    </a:solidFill>
                  </a:tcPr>
                </a:tc>
                <a:tc>
                  <a:txBody>
                    <a:bodyPr/>
                    <a:lstStyle/>
                    <a:p>
                      <a:r>
                        <a:rPr sz="1950">
                          <a:solidFill>
                            <a:srgbClr val="102A43"/>
                          </a:solidFill>
                          <a:latin typeface="Arial"/>
                          <a:ea typeface="Arial"/>
                          <a:cs typeface="Arial"/>
                        </a:rPr>
                        <a:t>16.542 URL</a:t>
                      </a:r>
                    </a:p>
                  </a:txBody>
                  <a:tcPr marL="152400" marR="133350" marT="95250" marB="95250">
                    <a:solidFill>
                      <a:srgbClr val="FFFFFF"/>
                    </a:solidFill>
                  </a:tcPr>
                </a:tc>
              </a:tr>
              <a:tr h="628650">
                <a:tc>
                  <a:txBody>
                    <a:bodyPr/>
                    <a:lstStyle/>
                    <a:p>
                      <a:r>
                        <a:rPr sz="1950">
                          <a:solidFill>
                            <a:srgbClr val="102A43"/>
                          </a:solidFill>
                          <a:latin typeface="Arial"/>
                          <a:ea typeface="Arial"/>
                          <a:cs typeface="Arial"/>
                        </a:rPr>
                        <a:t>Phishing.Database</a:t>
                      </a:r>
                    </a:p>
                  </a:txBody>
                  <a:tcPr marL="152400" marR="133350" marT="95250" marB="95250">
                    <a:solidFill>
                      <a:srgbClr val="FFFFFF"/>
                    </a:solidFill>
                  </a:tcPr>
                </a:tc>
                <a:tc>
                  <a:txBody>
                    <a:bodyPr/>
                    <a:lstStyle/>
                    <a:p>
                      <a:r>
                        <a:rPr sz="1950">
                          <a:solidFill>
                            <a:srgbClr val="102A43"/>
                          </a:solidFill>
                          <a:latin typeface="Arial"/>
                          <a:ea typeface="Arial"/>
                          <a:cs typeface="Arial"/>
                        </a:rPr>
                        <a:t>Tên miền phishing</a:t>
                      </a:r>
                    </a:p>
                  </a:txBody>
                  <a:tcPr marL="152400" marR="133350" marT="95250" marB="95250">
                    <a:solidFill>
                      <a:srgbClr val="FFFFFF"/>
                    </a:solidFill>
                  </a:tcPr>
                </a:tc>
                <a:tc>
                  <a:txBody>
                    <a:bodyPr/>
                    <a:lstStyle/>
                    <a:p>
                      <a:r>
                        <a:rPr sz="1950">
                          <a:solidFill>
                            <a:srgbClr val="102A43"/>
                          </a:solidFill>
                          <a:latin typeface="Arial"/>
                          <a:ea typeface="Arial"/>
                          <a:cs typeface="Arial"/>
                        </a:rPr>
                        <a:t>167.539 domain</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AFFDCE79-5A4F-4871-BAEE-5073F488CB59}"/>
              </a:ext>
            </a:extLst>
          </p:cNvPr>
          <p:cNvSpPr>
            <a:spLocks xmlns:a="http://schemas.openxmlformats.org/drawingml/2006/main" noGrp="1"/>
          </p:cNvSpPr>
          <p:nvPr/>
        </p:nvSpPr>
        <p:spPr>
          <a:xfrm xmlns:a="http://schemas.openxmlformats.org/drawingml/2006/main">
            <a:off x="609600" y="4505325"/>
            <a:ext cx="409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16.842</a:t>
            </a:r>
          </a:p>
        </p:txBody>
      </p:sp>
      <p:sp>
        <p:nvSpPr>
          <p:cNvPr id="5" name="text-3">
            <a:extLst xmlns:a="http://schemas.openxmlformats.org/drawingml/2006/main">
              <a:ext uri="{FF2B5EF4-FFF2-40B4-BE49-F238E27FC236}">
                <a16:creationId xmlns:a16="http://schemas.microsoft.com/office/drawing/2014/main" id="{BD5B22A2-CEA9-4485-B066-CD34BE916241}"/>
              </a:ext>
            </a:extLst>
          </p:cNvPr>
          <p:cNvSpPr>
            <a:spLocks xmlns:a="http://schemas.openxmlformats.org/drawingml/2006/main" noGrp="1"/>
          </p:cNvSpPr>
          <p:nvPr/>
        </p:nvSpPr>
        <p:spPr>
          <a:xfrm xmlns:a="http://schemas.openxmlformats.org/drawingml/2006/main">
            <a:off x="609600" y="547687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trong feed hợp nhất</a:t>
            </a:r>
          </a:p>
        </p:txBody>
      </p:sp>
      <p:sp>
        <p:nvSpPr>
          <p:cNvPr id="6" name="text-4">
            <a:extLst xmlns:a="http://schemas.openxmlformats.org/drawingml/2006/main">
              <a:ext uri="{FF2B5EF4-FFF2-40B4-BE49-F238E27FC236}">
                <a16:creationId xmlns:a16="http://schemas.microsoft.com/office/drawing/2014/main" id="{AB1322FE-B90B-4C4C-8D30-2A09D0E4FF71}"/>
              </a:ext>
            </a:extLst>
          </p:cNvPr>
          <p:cNvSpPr>
            <a:spLocks xmlns:a="http://schemas.openxmlformats.org/drawingml/2006/main" noGrp="1"/>
          </p:cNvSpPr>
          <p:nvPr/>
        </p:nvSpPr>
        <p:spPr>
          <a:xfrm xmlns:a="http://schemas.openxmlformats.org/drawingml/2006/main">
            <a:off x="5924550" y="45053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169.472</a:t>
            </a:r>
          </a:p>
        </p:txBody>
      </p:sp>
      <p:sp>
        <p:nvSpPr>
          <p:cNvPr id="7" name="text-5">
            <a:extLst xmlns:a="http://schemas.openxmlformats.org/drawingml/2006/main">
              <a:ext uri="{FF2B5EF4-FFF2-40B4-BE49-F238E27FC236}">
                <a16:creationId xmlns:a16="http://schemas.microsoft.com/office/drawing/2014/main" id="{82BFABC1-DB0D-43BE-B0A4-5FCF27D09977}"/>
              </a:ext>
            </a:extLst>
          </p:cNvPr>
          <p:cNvSpPr>
            <a:spLocks xmlns:a="http://schemas.openxmlformats.org/drawingml/2006/main" noGrp="1"/>
          </p:cNvSpPr>
          <p:nvPr/>
        </p:nvSpPr>
        <p:spPr>
          <a:xfrm xmlns:a="http://schemas.openxmlformats.org/drawingml/2006/main">
            <a:off x="5924550" y="54768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Domain trong feed hợp nhất</a:t>
            </a:r>
          </a:p>
        </p:txBody>
      </p:sp>
    </p:spTree>
    <p:extLst>
      <p:ext uri="{BB962C8B-B14F-4D97-AF65-F5344CB8AC3E}">
        <p14:creationId xmlns:p14="http://schemas.microsoft.com/office/powerpoint/2010/main" val="2099045352"/>
      </p:ext>
    </p:extLst>
  </p:cSld>
</p:sld>
</file>

<file path=ppt/slides/slide1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4705D0C9-B62D-45A6-B0E1-1283B2BE8B41}"/>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Risk Engine tổng hợp điểm rủi ro</a:t>
            </a:r>
          </a:p>
        </p:txBody>
      </p:sp>
      <p:sp>
        <p:nvSpPr>
          <p:cNvPr id="2" name="text-1">
            <a:extLst xmlns:a="http://schemas.openxmlformats.org/drawingml/2006/main">
              <a:ext uri="{FF2B5EF4-FFF2-40B4-BE49-F238E27FC236}">
                <a16:creationId xmlns:a16="http://schemas.microsoft.com/office/drawing/2014/main" id="{87BC2704-A6D3-4F1D-9DFC-6570CF94B146}"/>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E52FF8A6-6BAC-4804-A291-5DED74B79D22}"/>
              </a:ext>
            </a:extLst>
          </p:cNvPr>
          <p:cNvSpPr>
            <a:spLocks xmlns:a="http://schemas.openxmlformats.org/drawingml/2006/main" noGrp="1"/>
          </p:cNvSpPr>
          <p:nvPr/>
        </p:nvSpPr>
        <p:spPr>
          <a:xfrm xmlns:a="http://schemas.openxmlformats.org/drawingml/2006/main">
            <a:off x="609600" y="16287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75" b="1">
                <a:solidFill>
                  <a:srgbClr val="007F86"/>
                </a:solidFill>
                <a:latin typeface="Arial"/>
                <a:ea typeface="Arial"/>
                <a:cs typeface="Arial"/>
              </a:defRPr>
            </a:pPr>
            <a:r>
              <a:rPr sz="3075" b="1">
                <a:solidFill>
                  <a:srgbClr val="007F86"/>
                </a:solidFill>
                <a:latin typeface="Arial"/>
                <a:ea typeface="Arial"/>
                <a:cs typeface="Arial"/>
              </a:rPr>
              <a:t>R = 0,55 × S + 0,45 × (100 × p)</a:t>
            </a:r>
          </a:p>
        </p:txBody>
      </p:sp>
      <p:sp>
        <p:nvSpPr>
          <p:cNvPr id="4" name="text-3">
            <a:extLst xmlns:a="http://schemas.openxmlformats.org/drawingml/2006/main">
              <a:ext uri="{FF2B5EF4-FFF2-40B4-BE49-F238E27FC236}">
                <a16:creationId xmlns:a16="http://schemas.microsoft.com/office/drawing/2014/main" id="{06CA7525-9D1C-4A83-9A1A-BA892B2A4F0F}"/>
              </a:ext>
            </a:extLst>
          </p:cNvPr>
          <p:cNvSpPr>
            <a:spLocks xmlns:a="http://schemas.openxmlformats.org/drawingml/2006/main" noGrp="1"/>
          </p:cNvSpPr>
          <p:nvPr/>
        </p:nvSpPr>
        <p:spPr>
          <a:xfrm xmlns:a="http://schemas.openxmlformats.org/drawingml/2006/main">
            <a:off x="609600" y="24860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S: điểm luật, p: xác suất ML. Áp dụng khi không khớp danh sách đen.</a:t>
            </a:r>
          </a:p>
        </p:txBody>
      </p:sp>
      <p:graphicFrame>
        <p:nvGraphicFramePr>
          <p:cNvPr id="12" name=""/>
          <p:cNvGraphicFramePr/>
          <p:nvPr/>
        </p:nvGraphicFramePr>
        <p:xfrm>
          <a:off xmlns:a="http://schemas.openxmlformats.org/drawingml/2006/main" x="609600" y="3314700"/>
          <a:ext xmlns:a="http://schemas.openxmlformats.org/drawingml/2006/main" cx="10972800" cy="1371600"/>
        </p:xfrm>
        <a:graphic xmlns:a="http://schemas.openxmlformats.org/drawingml/2006/main">
          <a:graphicData uri="http://schemas.openxmlformats.org/drawingml/2006/table">
            <a:tbl>
              <a:tblPr/>
              <a:tblGrid>
                <a:gridCol w="2743200"/>
                <a:gridCol w="2743200"/>
                <a:gridCol w="2743200"/>
                <a:gridCol w="2743200"/>
              </a:tblGrid>
              <a:tr h="685800">
                <a:tc>
                  <a:txBody>
                    <a:bodyPr/>
                    <a:lstStyle/>
                    <a:p>
                      <a:r>
                        <a:rPr sz="2025" b="1">
                          <a:solidFill>
                            <a:srgbClr val="FFFFFF"/>
                          </a:solidFill>
                          <a:latin typeface="Arial"/>
                          <a:ea typeface="Arial"/>
                          <a:cs typeface="Arial"/>
                        </a:rPr>
                        <a:t>0–39</a:t>
                      </a:r>
                    </a:p>
                  </a:txBody>
                  <a:tcPr marL="152400" marR="133350" marT="95250" marB="95250">
                    <a:solidFill>
                      <a:srgbClr val="102A43"/>
                    </a:solidFill>
                  </a:tcPr>
                </a:tc>
                <a:tc>
                  <a:txBody>
                    <a:bodyPr/>
                    <a:lstStyle/>
                    <a:p>
                      <a:r>
                        <a:rPr sz="2025" b="1">
                          <a:solidFill>
                            <a:srgbClr val="FFFFFF"/>
                          </a:solidFill>
                          <a:latin typeface="Arial"/>
                          <a:ea typeface="Arial"/>
                          <a:cs typeface="Arial"/>
                        </a:rPr>
                        <a:t>40–64</a:t>
                      </a:r>
                    </a:p>
                  </a:txBody>
                  <a:tcPr marL="152400" marR="133350" marT="95250" marB="95250">
                    <a:solidFill>
                      <a:srgbClr val="102A43"/>
                    </a:solidFill>
                  </a:tcPr>
                </a:tc>
                <a:tc>
                  <a:txBody>
                    <a:bodyPr/>
                    <a:lstStyle/>
                    <a:p>
                      <a:r>
                        <a:rPr sz="2025" b="1">
                          <a:solidFill>
                            <a:srgbClr val="FFFFFF"/>
                          </a:solidFill>
                          <a:latin typeface="Arial"/>
                          <a:ea typeface="Arial"/>
                          <a:cs typeface="Arial"/>
                        </a:rPr>
                        <a:t>65–84</a:t>
                      </a:r>
                    </a:p>
                  </a:txBody>
                  <a:tcPr marL="152400" marR="133350" marT="95250" marB="95250">
                    <a:solidFill>
                      <a:srgbClr val="102A43"/>
                    </a:solidFill>
                  </a:tcPr>
                </a:tc>
                <a:tc>
                  <a:txBody>
                    <a:bodyPr/>
                    <a:lstStyle/>
                    <a:p>
                      <a:r>
                        <a:rPr sz="2025" b="1">
                          <a:solidFill>
                            <a:srgbClr val="FFFFFF"/>
                          </a:solidFill>
                          <a:latin typeface="Arial"/>
                          <a:ea typeface="Arial"/>
                          <a:cs typeface="Arial"/>
                        </a:rPr>
                        <a:t>85–100</a:t>
                      </a:r>
                    </a:p>
                  </a:txBody>
                  <a:tcPr marL="152400" marR="133350" marT="95250" marB="95250">
                    <a:solidFill>
                      <a:srgbClr val="102A43"/>
                    </a:solidFill>
                  </a:tcPr>
                </a:tc>
              </a:tr>
              <a:tr h="685800">
                <a:tc>
                  <a:txBody>
                    <a:bodyPr/>
                    <a:lstStyle/>
                    <a:p>
                      <a:r>
                        <a:rPr sz="2025">
                          <a:solidFill>
                            <a:srgbClr val="102A43"/>
                          </a:solidFill>
                          <a:latin typeface="Arial"/>
                          <a:ea typeface="Arial"/>
                          <a:cs typeface="Arial"/>
                        </a:rPr>
                        <a:t>Thấp</a:t>
                      </a:r>
                    </a:p>
                  </a:txBody>
                  <a:tcPr marL="152400" marR="133350" marT="95250" marB="95250">
                    <a:solidFill>
                      <a:srgbClr val="FFFFFF"/>
                    </a:solidFill>
                  </a:tcPr>
                </a:tc>
                <a:tc>
                  <a:txBody>
                    <a:bodyPr/>
                    <a:lstStyle/>
                    <a:p>
                      <a:r>
                        <a:rPr sz="2025">
                          <a:solidFill>
                            <a:srgbClr val="102A43"/>
                          </a:solidFill>
                          <a:latin typeface="Arial"/>
                          <a:ea typeface="Arial"/>
                          <a:cs typeface="Arial"/>
                        </a:rPr>
                        <a:t>Trung bình</a:t>
                      </a:r>
                    </a:p>
                  </a:txBody>
                  <a:tcPr marL="152400" marR="133350" marT="95250" marB="95250">
                    <a:solidFill>
                      <a:srgbClr val="FFFFFF"/>
                    </a:solidFill>
                  </a:tcPr>
                </a:tc>
                <a:tc>
                  <a:txBody>
                    <a:bodyPr/>
                    <a:lstStyle/>
                    <a:p>
                      <a:r>
                        <a:rPr sz="2025">
                          <a:solidFill>
                            <a:srgbClr val="102A43"/>
                          </a:solidFill>
                          <a:latin typeface="Arial"/>
                          <a:ea typeface="Arial"/>
                          <a:cs typeface="Arial"/>
                        </a:rPr>
                        <a:t>Cao</a:t>
                      </a:r>
                    </a:p>
                  </a:txBody>
                  <a:tcPr marL="152400" marR="133350" marT="95250" marB="95250">
                    <a:solidFill>
                      <a:srgbClr val="FFFFFF"/>
                    </a:solidFill>
                  </a:tcPr>
                </a:tc>
                <a:tc>
                  <a:txBody>
                    <a:bodyPr/>
                    <a:lstStyle/>
                    <a:p>
                      <a:r>
                        <a:rPr sz="2025">
                          <a:solidFill>
                            <a:srgbClr val="102A43"/>
                          </a:solidFill>
                          <a:latin typeface="Arial"/>
                          <a:ea typeface="Arial"/>
                          <a:cs typeface="Arial"/>
                        </a:rPr>
                        <a:t>Nghiêm trọng</a:t>
                      </a:r>
                    </a:p>
                  </a:txBody>
                  <a:tcPr marL="152400" marR="133350" marT="95250" marB="95250">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F5F5F3FB-42C3-4CF7-A277-C9BF929DD04B}"/>
              </a:ext>
            </a:extLst>
          </p:cNvPr>
          <p:cNvSpPr>
            <a:spLocks xmlns:a="http://schemas.openxmlformats.org/drawingml/2006/main" noGrp="1"/>
          </p:cNvSpPr>
          <p:nvPr/>
        </p:nvSpPr>
        <p:spPr>
          <a:xfrm xmlns:a="http://schemas.openxmlformats.org/drawingml/2006/main">
            <a:off x="609600" y="504825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Blacklist: điểm tối thiểu 85</a:t>
            </a:r>
          </a:p>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Thiếu mô hình: dùng điểm luật</a:t>
            </a:r>
          </a:p>
        </p:txBody>
      </p:sp>
      <p:sp>
        <p:nvSpPr>
          <p:cNvPr id="7" name="text-5">
            <a:extLst xmlns:a="http://schemas.openxmlformats.org/drawingml/2006/main">
              <a:ext uri="{FF2B5EF4-FFF2-40B4-BE49-F238E27FC236}">
                <a16:creationId xmlns:a16="http://schemas.microsoft.com/office/drawing/2014/main" id="{CC90B057-E1E9-464B-81AD-5CAB21A741BB}"/>
              </a:ext>
            </a:extLst>
          </p:cNvPr>
          <p:cNvSpPr>
            <a:spLocks xmlns:a="http://schemas.openxmlformats.org/drawingml/2006/main" noGrp="1"/>
          </p:cNvSpPr>
          <p:nvPr/>
        </p:nvSpPr>
        <p:spPr>
          <a:xfrm xmlns:a="http://schemas.openxmlformats.org/drawingml/2006/main">
            <a:off x="6324600" y="504825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S ≥ 50 và p ≥ 0,5: đổi trọng số</a:t>
            </a:r>
          </a:p>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Luật 61,75%, ML 38,25%</a:t>
            </a:r>
          </a:p>
        </p:txBody>
      </p:sp>
    </p:spTree>
    <p:extLst>
      <p:ext uri="{BB962C8B-B14F-4D97-AF65-F5344CB8AC3E}">
        <p14:creationId xmlns:p14="http://schemas.microsoft.com/office/powerpoint/2010/main" val="376370173"/>
      </p:ext>
    </p:extLst>
  </p:cSld>
</p:sld>
</file>

<file path=ppt/slides/slide1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736A175-380B-4336-86C5-9EC5A57FFAA8}"/>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An toàn khi quét và kiểm thử</a:t>
            </a:r>
          </a:p>
        </p:txBody>
      </p:sp>
      <p:sp>
        <p:nvSpPr>
          <p:cNvPr id="2" name="text-1">
            <a:extLst xmlns:a="http://schemas.openxmlformats.org/drawingml/2006/main">
              <a:ext uri="{FF2B5EF4-FFF2-40B4-BE49-F238E27FC236}">
                <a16:creationId xmlns:a16="http://schemas.microsoft.com/office/drawing/2014/main" id="{277732FB-FE36-445D-95A0-77AAB23597E1}"/>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14</a:t>
            </a:r>
          </a:p>
        </p:txBody>
      </p:sp>
      <p:sp>
        <p:nvSpPr>
          <p:cNvPr id="3" name="text-2">
            <a:extLst xmlns:a="http://schemas.openxmlformats.org/drawingml/2006/main">
              <a:ext uri="{FF2B5EF4-FFF2-40B4-BE49-F238E27FC236}">
                <a16:creationId xmlns:a16="http://schemas.microsoft.com/office/drawing/2014/main" id="{B8191D2E-D85C-4743-AA92-1EF5DF1D7025}"/>
              </a:ext>
            </a:extLst>
          </p:cNvPr>
          <p:cNvSpPr>
            <a:spLocks xmlns:a="http://schemas.openxmlformats.org/drawingml/2006/main" noGrp="1"/>
          </p:cNvSpPr>
          <p:nvPr/>
        </p:nvSpPr>
        <p:spPr>
          <a:xfrm xmlns:a="http://schemas.openxmlformats.org/drawingml/2006/main">
            <a:off x="609600" y="16668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Chặn truy cập nội bộ</a:t>
            </a:r>
          </a:p>
        </p:txBody>
      </p:sp>
      <p:sp>
        <p:nvSpPr>
          <p:cNvPr id="4" name="text-3">
            <a:extLst xmlns:a="http://schemas.openxmlformats.org/drawingml/2006/main">
              <a:ext uri="{FF2B5EF4-FFF2-40B4-BE49-F238E27FC236}">
                <a16:creationId xmlns:a16="http://schemas.microsoft.com/office/drawing/2014/main" id="{AFC7808C-A4BF-4B37-A7F8-B60CFE8CD813}"/>
              </a:ext>
            </a:extLst>
          </p:cNvPr>
          <p:cNvSpPr>
            <a:spLocks xmlns:a="http://schemas.openxmlformats.org/drawingml/2006/main" noGrp="1"/>
          </p:cNvSpPr>
          <p:nvPr/>
        </p:nvSpPr>
        <p:spPr>
          <a:xfrm xmlns:a="http://schemas.openxmlformats.org/drawingml/2006/main">
            <a:off x="4124325" y="16668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Kiểm tra DNS / IP và kiểm tra lại mỗi redirect</a:t>
            </a:r>
          </a:p>
        </p:txBody>
      </p:sp>
      <p:sp>
        <p:nvSpPr>
          <p:cNvPr id="5" name="text-4">
            <a:extLst xmlns:a="http://schemas.openxmlformats.org/drawingml/2006/main">
              <a:ext uri="{FF2B5EF4-FFF2-40B4-BE49-F238E27FC236}">
                <a16:creationId xmlns:a16="http://schemas.microsoft.com/office/drawing/2014/main" id="{DC4D9B07-C7B6-4689-B743-89472FDA3BE1}"/>
              </a:ext>
            </a:extLst>
          </p:cNvPr>
          <p:cNvSpPr>
            <a:spLocks xmlns:a="http://schemas.openxmlformats.org/drawingml/2006/main" noGrp="1"/>
          </p:cNvSpPr>
          <p:nvPr/>
        </p:nvSpPr>
        <p:spPr>
          <a:xfrm xmlns:a="http://schemas.openxmlformats.org/drawingml/2006/main">
            <a:off x="609600" y="27336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Giới hạn thu thập</a:t>
            </a:r>
          </a:p>
        </p:txBody>
      </p:sp>
      <p:sp>
        <p:nvSpPr>
          <p:cNvPr id="6" name="text-5">
            <a:extLst xmlns:a="http://schemas.openxmlformats.org/drawingml/2006/main">
              <a:ext uri="{FF2B5EF4-FFF2-40B4-BE49-F238E27FC236}">
                <a16:creationId xmlns:a16="http://schemas.microsoft.com/office/drawing/2014/main" id="{7DB72A1F-E091-4367-B5B9-2F350C36E3BF}"/>
              </a:ext>
            </a:extLst>
          </p:cNvPr>
          <p:cNvSpPr>
            <a:spLocks xmlns:a="http://schemas.openxmlformats.org/drawingml/2006/main" noGrp="1"/>
          </p:cNvSpPr>
          <p:nvPr/>
        </p:nvSpPr>
        <p:spPr>
          <a:xfrm xmlns:a="http://schemas.openxmlformats.org/drawingml/2006/main">
            <a:off x="4124325" y="27336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3 redirect, HTML ≤ 2 MB, kết nối 3 s, đọc 5 s</a:t>
            </a:r>
          </a:p>
        </p:txBody>
      </p:sp>
      <p:sp>
        <p:nvSpPr>
          <p:cNvPr id="7" name="text-6">
            <a:extLst xmlns:a="http://schemas.openxmlformats.org/drawingml/2006/main">
              <a:ext uri="{FF2B5EF4-FFF2-40B4-BE49-F238E27FC236}">
                <a16:creationId xmlns:a16="http://schemas.microsoft.com/office/drawing/2014/main" id="{B69EE911-350A-47FB-A610-02B941497F3B}"/>
              </a:ext>
            </a:extLst>
          </p:cNvPr>
          <p:cNvSpPr>
            <a:spLocks xmlns:a="http://schemas.openxmlformats.org/drawingml/2006/main" noGrp="1"/>
          </p:cNvSpPr>
          <p:nvPr/>
        </p:nvSpPr>
        <p:spPr>
          <a:xfrm xmlns:a="http://schemas.openxmlformats.org/drawingml/2006/main">
            <a:off x="609600" y="38004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Dữ liệu thiếu</a:t>
            </a:r>
          </a:p>
        </p:txBody>
      </p:sp>
      <p:sp>
        <p:nvSpPr>
          <p:cNvPr id="8" name="text-7">
            <a:extLst xmlns:a="http://schemas.openxmlformats.org/drawingml/2006/main">
              <a:ext uri="{FF2B5EF4-FFF2-40B4-BE49-F238E27FC236}">
                <a16:creationId xmlns:a16="http://schemas.microsoft.com/office/drawing/2014/main" id="{CE67FD19-0FEE-43D3-B891-4DCCD09EF7EA}"/>
              </a:ext>
            </a:extLst>
          </p:cNvPr>
          <p:cNvSpPr>
            <a:spLocks xmlns:a="http://schemas.openxmlformats.org/drawingml/2006/main" noGrp="1"/>
          </p:cNvSpPr>
          <p:nvPr/>
        </p:nvSpPr>
        <p:spPr>
          <a:xfrm xmlns:a="http://schemas.openxmlformats.org/drawingml/2006/main">
            <a:off x="4124325" y="38004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Tuổi domain chưa rõ được giữ là unknown</a:t>
            </a:r>
          </a:p>
        </p:txBody>
      </p:sp>
      <p:sp>
        <p:nvSpPr>
          <p:cNvPr id="9" name="text-8">
            <a:extLst xmlns:a="http://schemas.openxmlformats.org/drawingml/2006/main">
              <a:ext uri="{FF2B5EF4-FFF2-40B4-BE49-F238E27FC236}">
                <a16:creationId xmlns:a16="http://schemas.microsoft.com/office/drawing/2014/main" id="{99F29B42-1FD0-4473-8BEB-49A4BA4A839F}"/>
              </a:ext>
            </a:extLst>
          </p:cNvPr>
          <p:cNvSpPr>
            <a:spLocks xmlns:a="http://schemas.openxmlformats.org/drawingml/2006/main" noGrp="1"/>
          </p:cNvSpPr>
          <p:nvPr/>
        </p:nvSpPr>
        <p:spPr>
          <a:xfrm xmlns:a="http://schemas.openxmlformats.org/drawingml/2006/main">
            <a:off x="609600" y="51530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800" b="1">
                <a:solidFill>
                  <a:srgbClr val="007F86"/>
                </a:solidFill>
                <a:latin typeface="Arial"/>
                <a:ea typeface="Arial"/>
                <a:cs typeface="Arial"/>
              </a:defRPr>
            </a:pPr>
            <a:r>
              <a:rPr sz="4800" b="1">
                <a:solidFill>
                  <a:srgbClr val="007F86"/>
                </a:solidFill>
                <a:latin typeface="Arial"/>
                <a:ea typeface="Arial"/>
                <a:cs typeface="Arial"/>
              </a:rPr>
              <a:t>16 / 16</a:t>
            </a:r>
          </a:p>
        </p:txBody>
      </p:sp>
      <p:sp>
        <p:nvSpPr>
          <p:cNvPr id="10" name="text-9">
            <a:extLst xmlns:a="http://schemas.openxmlformats.org/drawingml/2006/main">
              <a:ext uri="{FF2B5EF4-FFF2-40B4-BE49-F238E27FC236}">
                <a16:creationId xmlns:a16="http://schemas.microsoft.com/office/drawing/2014/main" id="{DE4A4CDC-3E8E-4F59-A3F5-87C74BB5E6DA}"/>
              </a:ext>
            </a:extLst>
          </p:cNvPr>
          <p:cNvSpPr>
            <a:spLocks xmlns:a="http://schemas.openxmlformats.org/drawingml/2006/main" noGrp="1"/>
          </p:cNvSpPr>
          <p:nvPr/>
        </p:nvSpPr>
        <p:spPr>
          <a:xfrm xmlns:a="http://schemas.openxmlformats.org/drawingml/2006/main">
            <a:off x="4010025" y="5219700"/>
            <a:ext cx="7334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kiểm thử chạy thành công</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pytest, ngày 28/09/2026</a:t>
            </a:r>
          </a:p>
        </p:txBody>
      </p:sp>
    </p:spTree>
    <p:extLst>
      <p:ext uri="{BB962C8B-B14F-4D97-AF65-F5344CB8AC3E}">
        <p14:creationId xmlns:p14="http://schemas.microsoft.com/office/powerpoint/2010/main" val="1734616855"/>
      </p:ext>
    </p:extLst>
  </p:cSld>
</p:sld>
</file>

<file path=ppt/slides/slide1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F655EB2-DE21-4E6B-BC8E-E4EE4E0DFC8B}"/>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Demo: nhập URL và xem lịch sử</a:t>
            </a:r>
          </a:p>
        </p:txBody>
      </p:sp>
      <p:sp>
        <p:nvSpPr>
          <p:cNvPr id="2" name="text-1">
            <a:extLst xmlns:a="http://schemas.openxmlformats.org/drawingml/2006/main">
              <a:ext uri="{FF2B5EF4-FFF2-40B4-BE49-F238E27FC236}">
                <a16:creationId xmlns:a16="http://schemas.microsoft.com/office/drawing/2014/main" id="{9010C521-1CB3-4CD9-9129-23627211D09F}"/>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1ae69a65edb64222"/>
          <a:stretch xmlns:a="http://schemas.openxmlformats.org/drawingml/2006/main"/>
        </p:blipFill>
        <p:spPr>
          <a:xfrm xmlns:a="http://schemas.openxmlformats.org/drawingml/2006/main">
            <a:off x="459728" y="1476375"/>
            <a:ext cx="8224543" cy="46291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62CD92A4-160B-4110-BAD0-EB3CE556A72D}"/>
              </a:ext>
            </a:extLst>
          </p:cNvPr>
          <p:cNvSpPr>
            <a:spLocks xmlns:a="http://schemas.openxmlformats.org/drawingml/2006/main" noGrp="1"/>
          </p:cNvSpPr>
          <p:nvPr/>
        </p:nvSpPr>
        <p:spPr>
          <a:xfrm xmlns:a="http://schemas.openxmlformats.org/drawingml/2006/main">
            <a:off x="9096375" y="2019300"/>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1  Nhập URL</a:t>
            </a:r>
          </a:p>
        </p:txBody>
      </p:sp>
      <p:sp>
        <p:nvSpPr>
          <p:cNvPr id="5" name="text-3">
            <a:extLst xmlns:a="http://schemas.openxmlformats.org/drawingml/2006/main">
              <a:ext uri="{FF2B5EF4-FFF2-40B4-BE49-F238E27FC236}">
                <a16:creationId xmlns:a16="http://schemas.microsoft.com/office/drawing/2014/main" id="{911338C2-99B2-4831-B466-3D9C1CD4B559}"/>
              </a:ext>
            </a:extLst>
          </p:cNvPr>
          <p:cNvSpPr>
            <a:spLocks xmlns:a="http://schemas.openxmlformats.org/drawingml/2006/main" noGrp="1"/>
          </p:cNvSpPr>
          <p:nvPr/>
        </p:nvSpPr>
        <p:spPr>
          <a:xfrm xmlns:a="http://schemas.openxmlformats.org/drawingml/2006/main">
            <a:off x="9096375" y="3143250"/>
            <a:ext cx="26384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2  Theo dõi</a:t>
            </a:r>
          </a:p>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    tiến trình</a:t>
            </a:r>
          </a:p>
        </p:txBody>
      </p:sp>
      <p:sp>
        <p:nvSpPr>
          <p:cNvPr id="6" name="text-4">
            <a:extLst xmlns:a="http://schemas.openxmlformats.org/drawingml/2006/main">
              <a:ext uri="{FF2B5EF4-FFF2-40B4-BE49-F238E27FC236}">
                <a16:creationId xmlns:a16="http://schemas.microsoft.com/office/drawing/2014/main" id="{9FED7E0C-A0DC-401F-81F1-44F2E6789A16}"/>
              </a:ext>
            </a:extLst>
          </p:cNvPr>
          <p:cNvSpPr>
            <a:spLocks xmlns:a="http://schemas.openxmlformats.org/drawingml/2006/main" noGrp="1"/>
          </p:cNvSpPr>
          <p:nvPr/>
        </p:nvSpPr>
        <p:spPr>
          <a:xfrm xmlns:a="http://schemas.openxmlformats.org/drawingml/2006/main">
            <a:off x="9096375" y="4676775"/>
            <a:ext cx="26384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3  Mở lại</a:t>
            </a:r>
          </a:p>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    lịch sử quét</a:t>
            </a:r>
          </a:p>
        </p:txBody>
      </p:sp>
    </p:spTree>
    <p:extLst>
      <p:ext uri="{BB962C8B-B14F-4D97-AF65-F5344CB8AC3E}">
        <p14:creationId xmlns:p14="http://schemas.microsoft.com/office/powerpoint/2010/main" val="486324955"/>
      </p:ext>
    </p:extLst>
  </p:cSld>
</p:sld>
</file>

<file path=ppt/slides/slide1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651069D4-C97C-4953-9A09-F1F80CDAD121}"/>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Demo: điểm tổng hợp và dấu hiệu cụ thể</a:t>
            </a:r>
          </a:p>
        </p:txBody>
      </p:sp>
      <p:sp>
        <p:nvSpPr>
          <p:cNvPr id="2" name="text-1">
            <a:extLst xmlns:a="http://schemas.openxmlformats.org/drawingml/2006/main">
              <a:ext uri="{FF2B5EF4-FFF2-40B4-BE49-F238E27FC236}">
                <a16:creationId xmlns:a16="http://schemas.microsoft.com/office/drawing/2014/main" id="{4D9F012B-D64F-4391-959E-A9EE345713CE}"/>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e1757b77be54a05"/>
          <a:stretch xmlns:a="http://schemas.openxmlformats.org/drawingml/2006/main"/>
        </p:blipFill>
        <p:spPr>
          <a:xfrm xmlns:a="http://schemas.openxmlformats.org/drawingml/2006/main">
            <a:off x="438150" y="1373689"/>
            <a:ext cx="8572500" cy="4824996"/>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77F040D3-BC8E-461E-9EB4-0DB0089E8E96}"/>
              </a:ext>
            </a:extLst>
          </p:cNvPr>
          <p:cNvSpPr>
            <a:spLocks xmlns:a="http://schemas.openxmlformats.org/drawingml/2006/main" noGrp="1"/>
          </p:cNvSpPr>
          <p:nvPr/>
        </p:nvSpPr>
        <p:spPr>
          <a:xfrm xmlns:a="http://schemas.openxmlformats.org/drawingml/2006/main">
            <a:off x="9267825" y="1609725"/>
            <a:ext cx="24479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B95424"/>
                </a:solidFill>
                <a:latin typeface="Arial"/>
                <a:ea typeface="Arial"/>
                <a:cs typeface="Arial"/>
              </a:defRPr>
            </a:pPr>
            <a:r>
              <a:rPr sz="3225" b="1">
                <a:solidFill>
                  <a:srgbClr val="B95424"/>
                </a:solidFill>
                <a:latin typeface="Arial"/>
                <a:ea typeface="Arial"/>
                <a:cs typeface="Arial"/>
              </a:rPr>
              <a:t>60 / 100</a:t>
            </a:r>
          </a:p>
        </p:txBody>
      </p:sp>
      <p:sp>
        <p:nvSpPr>
          <p:cNvPr id="5" name="text-3">
            <a:extLst xmlns:a="http://schemas.openxmlformats.org/drawingml/2006/main">
              <a:ext uri="{FF2B5EF4-FFF2-40B4-BE49-F238E27FC236}">
                <a16:creationId xmlns:a16="http://schemas.microsoft.com/office/drawing/2014/main" id="{5E97106C-2FA7-4E33-BBE3-2D21198C4597}"/>
              </a:ext>
            </a:extLst>
          </p:cNvPr>
          <p:cNvSpPr>
            <a:spLocks xmlns:a="http://schemas.openxmlformats.org/drawingml/2006/main" noGrp="1"/>
          </p:cNvSpPr>
          <p:nvPr/>
        </p:nvSpPr>
        <p:spPr>
          <a:xfrm xmlns:a="http://schemas.openxmlformats.org/drawingml/2006/main">
            <a:off x="9267825" y="2562225"/>
            <a:ext cx="24479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Điểm tổng hợp</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ML: 99,9%</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Luật: 28 điểm</a:t>
            </a:r>
          </a:p>
        </p:txBody>
      </p:sp>
      <p:sp>
        <p:nvSpPr>
          <p:cNvPr id="6" name="text-4">
            <a:extLst xmlns:a="http://schemas.openxmlformats.org/drawingml/2006/main">
              <a:ext uri="{FF2B5EF4-FFF2-40B4-BE49-F238E27FC236}">
                <a16:creationId xmlns:a16="http://schemas.microsoft.com/office/drawing/2014/main" id="{674E09BA-EF25-4F9C-B952-836CF48E0703}"/>
              </a:ext>
            </a:extLst>
          </p:cNvPr>
          <p:cNvSpPr>
            <a:spLocks xmlns:a="http://schemas.openxmlformats.org/drawingml/2006/main" noGrp="1"/>
          </p:cNvSpPr>
          <p:nvPr/>
        </p:nvSpPr>
        <p:spPr>
          <a:xfrm xmlns:a="http://schemas.openxmlformats.org/drawingml/2006/main">
            <a:off x="9267825" y="4371975"/>
            <a:ext cx="2447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B95424"/>
                </a:solidFill>
                <a:latin typeface="Arial"/>
                <a:ea typeface="Arial"/>
                <a:cs typeface="Arial"/>
              </a:defRPr>
            </a:pPr>
            <a:r>
              <a:rPr sz="2025" b="1">
                <a:solidFill>
                  <a:srgbClr val="B95424"/>
                </a:solidFill>
                <a:latin typeface="Arial"/>
                <a:ea typeface="Arial"/>
                <a:cs typeface="Arial"/>
              </a:rPr>
              <a:t>Thiếu dữ liệu</a:t>
            </a:r>
          </a:p>
        </p:txBody>
      </p:sp>
      <p:sp>
        <p:nvSpPr>
          <p:cNvPr id="7" name="text-5">
            <a:extLst xmlns:a="http://schemas.openxmlformats.org/drawingml/2006/main">
              <a:ext uri="{FF2B5EF4-FFF2-40B4-BE49-F238E27FC236}">
                <a16:creationId xmlns:a16="http://schemas.microsoft.com/office/drawing/2014/main" id="{1CB282AE-8A0F-48DD-AE88-10A1BF63099E}"/>
              </a:ext>
            </a:extLst>
          </p:cNvPr>
          <p:cNvSpPr>
            <a:spLocks xmlns:a="http://schemas.openxmlformats.org/drawingml/2006/main" noGrp="1"/>
          </p:cNvSpPr>
          <p:nvPr/>
        </p:nvSpPr>
        <p:spPr>
          <a:xfrm xmlns:a="http://schemas.openxmlformats.org/drawingml/2006/main">
            <a:off x="9267825" y="49339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Đọc trạng thái partial</a:t>
            </a:r>
          </a:p>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cùng các dấu hiệu.</a:t>
            </a:r>
          </a:p>
        </p:txBody>
      </p:sp>
    </p:spTree>
    <p:extLst>
      <p:ext uri="{BB962C8B-B14F-4D97-AF65-F5344CB8AC3E}">
        <p14:creationId xmlns:p14="http://schemas.microsoft.com/office/powerpoint/2010/main" val="1593942937"/>
      </p:ext>
    </p:extLst>
  </p:cSld>
</p:sld>
</file>

<file path=ppt/slides/slide1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A4BC62F-AE78-430F-AC48-305554920B24}"/>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Hạn chế của phiên bản hiện tại</a:t>
            </a:r>
          </a:p>
        </p:txBody>
      </p:sp>
      <p:sp>
        <p:nvSpPr>
          <p:cNvPr id="2" name="text-1">
            <a:extLst xmlns:a="http://schemas.openxmlformats.org/drawingml/2006/main">
              <a:ext uri="{FF2B5EF4-FFF2-40B4-BE49-F238E27FC236}">
                <a16:creationId xmlns:a16="http://schemas.microsoft.com/office/drawing/2014/main" id="{1E2BC11B-87B8-4FED-8336-29D26531BC55}"/>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17</a:t>
            </a:r>
          </a:p>
        </p:txBody>
      </p:sp>
      <p:sp>
        <p:nvSpPr>
          <p:cNvPr id="3" name="text-2">
            <a:extLst xmlns:a="http://schemas.openxmlformats.org/drawingml/2006/main">
              <a:ext uri="{FF2B5EF4-FFF2-40B4-BE49-F238E27FC236}">
                <a16:creationId xmlns:a16="http://schemas.microsoft.com/office/drawing/2014/main" id="{78F596D3-FF92-4772-8F1A-D852A95A89F2}"/>
              </a:ext>
            </a:extLst>
          </p:cNvPr>
          <p:cNvSpPr>
            <a:spLocks xmlns:a="http://schemas.openxmlformats.org/drawingml/2006/main" noGrp="1"/>
          </p:cNvSpPr>
          <p:nvPr/>
        </p:nvSpPr>
        <p:spPr>
          <a:xfrm xmlns:a="http://schemas.openxmlformats.org/drawingml/2006/main">
            <a:off x="609600" y="15811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Dữ liệu và đánh giá</a:t>
            </a:r>
          </a:p>
        </p:txBody>
      </p:sp>
      <p:sp>
        <p:nvSpPr>
          <p:cNvPr id="4" name="text-3">
            <a:extLst xmlns:a="http://schemas.openxmlformats.org/drawingml/2006/main">
              <a:ext uri="{FF2B5EF4-FFF2-40B4-BE49-F238E27FC236}">
                <a16:creationId xmlns:a16="http://schemas.microsoft.com/office/drawing/2014/main" id="{162D6C02-3176-4FE5-BFD1-7AC2BD6C5E41}"/>
              </a:ext>
            </a:extLst>
          </p:cNvPr>
          <p:cNvSpPr>
            <a:spLocks xmlns:a="http://schemas.openxmlformats.org/drawingml/2006/main" noGrp="1"/>
          </p:cNvSpPr>
          <p:nvPr/>
        </p:nvSpPr>
        <p:spPr>
          <a:xfrm xmlns:a="http://schemas.openxmlformats.org/drawingml/2006/main">
            <a:off x="3962400" y="15811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Chọn mô hình trên test, chưa có tập kiểm tra độc lập mới</a:t>
            </a:r>
          </a:p>
        </p:txBody>
      </p:sp>
      <p:sp>
        <p:nvSpPr>
          <p:cNvPr id="5" name="text-4">
            <a:extLst xmlns:a="http://schemas.openxmlformats.org/drawingml/2006/main">
              <a:ext uri="{FF2B5EF4-FFF2-40B4-BE49-F238E27FC236}">
                <a16:creationId xmlns:a16="http://schemas.microsoft.com/office/drawing/2014/main" id="{5CF95C55-9A7C-433C-96E4-5811E9ECC81B}"/>
              </a:ext>
            </a:extLst>
          </p:cNvPr>
          <p:cNvSpPr>
            <a:spLocks xmlns:a="http://schemas.openxmlformats.org/drawingml/2006/main" noGrp="1"/>
          </p:cNvSpPr>
          <p:nvPr/>
        </p:nvSpPr>
        <p:spPr>
          <a:xfrm xmlns:a="http://schemas.openxmlformats.org/drawingml/2006/main">
            <a:off x="609600" y="26479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Tín hiệu HTTPS</a:t>
            </a:r>
          </a:p>
        </p:txBody>
      </p:sp>
      <p:sp>
        <p:nvSpPr>
          <p:cNvPr id="6" name="text-5">
            <a:extLst xmlns:a="http://schemas.openxmlformats.org/drawingml/2006/main">
              <a:ext uri="{FF2B5EF4-FFF2-40B4-BE49-F238E27FC236}">
                <a16:creationId xmlns:a16="http://schemas.microsoft.com/office/drawing/2014/main" id="{4E7B1771-80D0-4723-9EF1-BC1C0F3E8B64}"/>
              </a:ext>
            </a:extLst>
          </p:cNvPr>
          <p:cNvSpPr>
            <a:spLocks xmlns:a="http://schemas.openxmlformats.org/drawingml/2006/main" noGrp="1"/>
          </p:cNvSpPr>
          <p:nvPr/>
        </p:nvSpPr>
        <p:spPr>
          <a:xfrm xmlns:a="http://schemas.openxmlformats.org/drawingml/2006/main">
            <a:off x="3962400" y="26479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Khoảng 74,1% gain tập trung ở hai thuộc tính liên quan</a:t>
            </a:r>
          </a:p>
        </p:txBody>
      </p:sp>
      <p:sp>
        <p:nvSpPr>
          <p:cNvPr id="7" name="text-6">
            <a:extLst xmlns:a="http://schemas.openxmlformats.org/drawingml/2006/main">
              <a:ext uri="{FF2B5EF4-FFF2-40B4-BE49-F238E27FC236}">
                <a16:creationId xmlns:a16="http://schemas.microsoft.com/office/drawing/2014/main" id="{C07125B3-7028-4FA6-8176-77571DE3564B}"/>
              </a:ext>
            </a:extLst>
          </p:cNvPr>
          <p:cNvSpPr>
            <a:spLocks xmlns:a="http://schemas.openxmlformats.org/drawingml/2006/main" noGrp="1"/>
          </p:cNvSpPr>
          <p:nvPr/>
        </p:nvSpPr>
        <p:spPr>
          <a:xfrm xmlns:a="http://schemas.openxmlformats.org/drawingml/2006/main">
            <a:off x="609600" y="37147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Thu thập thực tế</a:t>
            </a:r>
          </a:p>
        </p:txBody>
      </p:sp>
      <p:sp>
        <p:nvSpPr>
          <p:cNvPr id="8" name="text-7">
            <a:extLst xmlns:a="http://schemas.openxmlformats.org/drawingml/2006/main">
              <a:ext uri="{FF2B5EF4-FFF2-40B4-BE49-F238E27FC236}">
                <a16:creationId xmlns:a16="http://schemas.microsoft.com/office/drawing/2014/main" id="{2D898EA0-C4D0-442E-8AB5-3C69A51D04EA}"/>
              </a:ext>
            </a:extLst>
          </p:cNvPr>
          <p:cNvSpPr>
            <a:spLocks xmlns:a="http://schemas.openxmlformats.org/drawingml/2006/main" noGrp="1"/>
          </p:cNvSpPr>
          <p:nvPr/>
        </p:nvSpPr>
        <p:spPr>
          <a:xfrm xmlns:a="http://schemas.openxmlformats.org/drawingml/2006/main">
            <a:off x="3962400" y="37147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Chưa xử lý trang JavaScript, tra cứu có thể thất bại</a:t>
            </a:r>
          </a:p>
        </p:txBody>
      </p:sp>
      <p:sp>
        <p:nvSpPr>
          <p:cNvPr id="9" name="text-8">
            <a:extLst xmlns:a="http://schemas.openxmlformats.org/drawingml/2006/main">
              <a:ext uri="{FF2B5EF4-FFF2-40B4-BE49-F238E27FC236}">
                <a16:creationId xmlns:a16="http://schemas.microsoft.com/office/drawing/2014/main" id="{8778D422-F7B9-4394-B6E5-2B471F5ECD07}"/>
              </a:ext>
            </a:extLst>
          </p:cNvPr>
          <p:cNvSpPr>
            <a:spLocks xmlns:a="http://schemas.openxmlformats.org/drawingml/2006/main" noGrp="1"/>
          </p:cNvSpPr>
          <p:nvPr/>
        </p:nvSpPr>
        <p:spPr>
          <a:xfrm xmlns:a="http://schemas.openxmlformats.org/drawingml/2006/main">
            <a:off x="609600" y="47815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Diễn giải kết quả</a:t>
            </a:r>
          </a:p>
        </p:txBody>
      </p:sp>
      <p:sp>
        <p:nvSpPr>
          <p:cNvPr id="10" name="text-9">
            <a:extLst xmlns:a="http://schemas.openxmlformats.org/drawingml/2006/main">
              <a:ext uri="{FF2B5EF4-FFF2-40B4-BE49-F238E27FC236}">
                <a16:creationId xmlns:a16="http://schemas.microsoft.com/office/drawing/2014/main" id="{C6B98AB8-202E-4725-9CEF-FACE97EE51CD}"/>
              </a:ext>
            </a:extLst>
          </p:cNvPr>
          <p:cNvSpPr>
            <a:spLocks xmlns:a="http://schemas.openxmlformats.org/drawingml/2006/main" noGrp="1"/>
          </p:cNvSpPr>
          <p:nvPr/>
        </p:nvSpPr>
        <p:spPr>
          <a:xfrm xmlns:a="http://schemas.openxmlformats.org/drawingml/2006/main">
            <a:off x="3962400" y="47815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Partial và xác suất chưa hiệu chỉnh cần được giải thích</a:t>
            </a:r>
          </a:p>
        </p:txBody>
      </p:sp>
    </p:spTree>
    <p:extLst>
      <p:ext uri="{BB962C8B-B14F-4D97-AF65-F5344CB8AC3E}">
        <p14:creationId xmlns:p14="http://schemas.microsoft.com/office/powerpoint/2010/main" val="2056528570"/>
      </p:ext>
    </p:extLst>
  </p:cSld>
</p:sld>
</file>

<file path=ppt/slides/slide1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AB32CAC-DA4C-42B9-BB4C-2C438E2FEB6B}"/>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Hướng phát triển</a:t>
            </a:r>
          </a:p>
        </p:txBody>
      </p:sp>
      <p:sp>
        <p:nvSpPr>
          <p:cNvPr id="2" name="text-1">
            <a:extLst xmlns:a="http://schemas.openxmlformats.org/drawingml/2006/main">
              <a:ext uri="{FF2B5EF4-FFF2-40B4-BE49-F238E27FC236}">
                <a16:creationId xmlns:a16="http://schemas.microsoft.com/office/drawing/2014/main" id="{8D23A6E7-62D0-4BDD-A732-54CC86D41818}"/>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5CEC5724-E556-4AFE-822F-81DD54DCB88E}"/>
              </a:ext>
            </a:extLst>
          </p:cNvPr>
          <p:cNvSpPr>
            <a:spLocks xmlns:a="http://schemas.openxmlformats.org/drawingml/2006/main" noGrp="1"/>
          </p:cNvSpPr>
          <p:nvPr/>
        </p:nvSpPr>
        <p:spPr>
          <a:xfrm xmlns:a="http://schemas.openxmlformats.org/drawingml/2006/main">
            <a:off x="609600" y="15811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01  Đánh giá độc lập</a:t>
            </a:r>
          </a:p>
        </p:txBody>
      </p:sp>
      <p:sp>
        <p:nvSpPr>
          <p:cNvPr id="4" name="text-3">
            <a:extLst xmlns:a="http://schemas.openxmlformats.org/drawingml/2006/main">
              <a:ext uri="{FF2B5EF4-FFF2-40B4-BE49-F238E27FC236}">
                <a16:creationId xmlns:a16="http://schemas.microsoft.com/office/drawing/2014/main" id="{9033B7DE-9249-48E0-9B0C-EF729B643D4E}"/>
              </a:ext>
            </a:extLst>
          </p:cNvPr>
          <p:cNvSpPr>
            <a:spLocks xmlns:a="http://schemas.openxmlformats.org/drawingml/2006/main" noGrp="1"/>
          </p:cNvSpPr>
          <p:nvPr/>
        </p:nvSpPr>
        <p:spPr>
          <a:xfrm xmlns:a="http://schemas.openxmlformats.org/drawingml/2006/main">
            <a:off x="4295775" y="15811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Tách validation / test, bổ sung URL mới theo thời gian</a:t>
            </a:r>
          </a:p>
        </p:txBody>
      </p:sp>
      <p:sp>
        <p:nvSpPr>
          <p:cNvPr id="5" name="text-4">
            <a:extLst xmlns:a="http://schemas.openxmlformats.org/drawingml/2006/main">
              <a:ext uri="{FF2B5EF4-FFF2-40B4-BE49-F238E27FC236}">
                <a16:creationId xmlns:a16="http://schemas.microsoft.com/office/drawing/2014/main" id="{6781B1EE-7D11-4DF0-B3AF-5A470A199D61}"/>
              </a:ext>
            </a:extLst>
          </p:cNvPr>
          <p:cNvSpPr>
            <a:spLocks xmlns:a="http://schemas.openxmlformats.org/drawingml/2006/main" noGrp="1"/>
          </p:cNvSpPr>
          <p:nvPr/>
        </p:nvSpPr>
        <p:spPr>
          <a:xfrm xmlns:a="http://schemas.openxmlformats.org/drawingml/2006/main">
            <a:off x="609600" y="26479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02  Cải thiện mô hình</a:t>
            </a:r>
          </a:p>
        </p:txBody>
      </p:sp>
      <p:sp>
        <p:nvSpPr>
          <p:cNvPr id="6" name="text-5">
            <a:extLst xmlns:a="http://schemas.openxmlformats.org/drawingml/2006/main">
              <a:ext uri="{FF2B5EF4-FFF2-40B4-BE49-F238E27FC236}">
                <a16:creationId xmlns:a16="http://schemas.microsoft.com/office/drawing/2014/main" id="{F559498C-F06B-4402-B6B0-856A0008FAE7}"/>
              </a:ext>
            </a:extLst>
          </p:cNvPr>
          <p:cNvSpPr>
            <a:spLocks xmlns:a="http://schemas.openxmlformats.org/drawingml/2006/main" noGrp="1"/>
          </p:cNvSpPr>
          <p:nvPr/>
        </p:nvSpPr>
        <p:spPr>
          <a:xfrm xmlns:a="http://schemas.openxmlformats.org/drawingml/2006/main">
            <a:off x="4295775" y="26479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TLS và tuổi domain thật, ablation HTTPS, calibration</a:t>
            </a:r>
          </a:p>
        </p:txBody>
      </p:sp>
      <p:sp>
        <p:nvSpPr>
          <p:cNvPr id="7" name="text-6">
            <a:extLst xmlns:a="http://schemas.openxmlformats.org/drawingml/2006/main">
              <a:ext uri="{FF2B5EF4-FFF2-40B4-BE49-F238E27FC236}">
                <a16:creationId xmlns:a16="http://schemas.microsoft.com/office/drawing/2014/main" id="{542C7530-138B-4705-A92B-FB3F9D459225}"/>
              </a:ext>
            </a:extLst>
          </p:cNvPr>
          <p:cNvSpPr>
            <a:spLocks xmlns:a="http://schemas.openxmlformats.org/drawingml/2006/main" noGrp="1"/>
          </p:cNvSpPr>
          <p:nvPr/>
        </p:nvSpPr>
        <p:spPr>
          <a:xfrm xmlns:a="http://schemas.openxmlformats.org/drawingml/2006/main">
            <a:off x="609600" y="37147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03  Hoàn thiện bộ quét</a:t>
            </a:r>
          </a:p>
        </p:txBody>
      </p:sp>
      <p:sp>
        <p:nvSpPr>
          <p:cNvPr id="8" name="text-7">
            <a:extLst xmlns:a="http://schemas.openxmlformats.org/drawingml/2006/main">
              <a:ext uri="{FF2B5EF4-FFF2-40B4-BE49-F238E27FC236}">
                <a16:creationId xmlns:a16="http://schemas.microsoft.com/office/drawing/2014/main" id="{A1F33280-6FFA-4E70-9B71-13D5A1BBA8B2}"/>
              </a:ext>
            </a:extLst>
          </p:cNvPr>
          <p:cNvSpPr>
            <a:spLocks xmlns:a="http://schemas.openxmlformats.org/drawingml/2006/main" noGrp="1"/>
          </p:cNvSpPr>
          <p:nvPr/>
        </p:nvSpPr>
        <p:spPr>
          <a:xfrm xmlns:a="http://schemas.openxmlformats.org/drawingml/2006/main">
            <a:off x="4295775" y="37147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JavaScript, trạng thái unknown, thêm thương hiệu Việt Nam</a:t>
            </a:r>
          </a:p>
        </p:txBody>
      </p:sp>
      <p:sp>
        <p:nvSpPr>
          <p:cNvPr id="9" name="text-8">
            <a:extLst xmlns:a="http://schemas.openxmlformats.org/drawingml/2006/main">
              <a:ext uri="{FF2B5EF4-FFF2-40B4-BE49-F238E27FC236}">
                <a16:creationId xmlns:a16="http://schemas.microsoft.com/office/drawing/2014/main" id="{222CB9D1-51B0-4EB4-A418-F428F410E80A}"/>
              </a:ext>
            </a:extLst>
          </p:cNvPr>
          <p:cNvSpPr>
            <a:spLocks xmlns:a="http://schemas.openxmlformats.org/drawingml/2006/main" noGrp="1"/>
          </p:cNvSpPr>
          <p:nvPr/>
        </p:nvSpPr>
        <p:spPr>
          <a:xfrm xmlns:a="http://schemas.openxmlformats.org/drawingml/2006/main">
            <a:off x="609600" y="47815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04  Mở rộng sử dụng</a:t>
            </a:r>
          </a:p>
        </p:txBody>
      </p:sp>
      <p:sp>
        <p:nvSpPr>
          <p:cNvPr id="10" name="text-9">
            <a:extLst xmlns:a="http://schemas.openxmlformats.org/drawingml/2006/main">
              <a:ext uri="{FF2B5EF4-FFF2-40B4-BE49-F238E27FC236}">
                <a16:creationId xmlns:a16="http://schemas.microsoft.com/office/drawing/2014/main" id="{571A8004-970C-43A5-92D9-EFE593209A7D}"/>
              </a:ext>
            </a:extLst>
          </p:cNvPr>
          <p:cNvSpPr>
            <a:spLocks xmlns:a="http://schemas.openxmlformats.org/drawingml/2006/main" noGrp="1"/>
          </p:cNvSpPr>
          <p:nvPr/>
        </p:nvSpPr>
        <p:spPr>
          <a:xfrm xmlns:a="http://schemas.openxmlformats.org/drawingml/2006/main">
            <a:off x="4295775" y="47815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Tiện ích trình duyệt cảnh báo khi truy cập</a:t>
            </a:r>
          </a:p>
        </p:txBody>
      </p:sp>
    </p:spTree>
    <p:extLst>
      <p:ext uri="{BB962C8B-B14F-4D97-AF65-F5344CB8AC3E}">
        <p14:creationId xmlns:p14="http://schemas.microsoft.com/office/powerpoint/2010/main" val="1380975342"/>
      </p:ext>
    </p:extLst>
  </p:cSld>
</p:sld>
</file>

<file path=ppt/slides/slide1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9DEE790-CDDD-40FA-86D5-A88041B5D6EF}"/>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Kết luận</a:t>
            </a:r>
          </a:p>
        </p:txBody>
      </p:sp>
      <p:sp>
        <p:nvSpPr>
          <p:cNvPr id="2" name="text-1">
            <a:extLst xmlns:a="http://schemas.openxmlformats.org/drawingml/2006/main">
              <a:ext uri="{FF2B5EF4-FFF2-40B4-BE49-F238E27FC236}">
                <a16:creationId xmlns:a16="http://schemas.microsoft.com/office/drawing/2014/main" id="{BB3580AE-2D7C-453A-AC13-7E0B408AF570}"/>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95B4C7"/>
                </a:solidFill>
                <a:latin typeface="Arial"/>
                <a:ea typeface="Arial"/>
                <a:cs typeface="Arial"/>
              </a:defRPr>
            </a:pPr>
            <a:r>
              <a:rPr sz="1200" b="0">
                <a:solidFill>
                  <a:srgbClr val="95B4C7"/>
                </a:solidFill>
                <a:latin typeface="Arial"/>
                <a:ea typeface="Arial"/>
                <a:cs typeface="Arial"/>
              </a:rPr>
              <a:t>19</a:t>
            </a:r>
          </a:p>
        </p:txBody>
      </p:sp>
      <p:sp>
        <p:nvSpPr>
          <p:cNvPr id="3" name="text-2">
            <a:extLst xmlns:a="http://schemas.openxmlformats.org/drawingml/2006/main">
              <a:ext uri="{FF2B5EF4-FFF2-40B4-BE49-F238E27FC236}">
                <a16:creationId xmlns:a16="http://schemas.microsoft.com/office/drawing/2014/main" id="{92251E6B-56CF-4A53-B4BE-7C716DC5E828}"/>
              </a:ext>
            </a:extLst>
          </p:cNvPr>
          <p:cNvSpPr>
            <a:spLocks xmlns:a="http://schemas.openxmlformats.org/drawingml/2006/main" noGrp="1"/>
          </p:cNvSpPr>
          <p:nvPr/>
        </p:nvSpPr>
        <p:spPr>
          <a:xfrm xmlns:a="http://schemas.openxmlformats.org/drawingml/2006/main">
            <a:off x="609600" y="166687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Đồ án Python kết hợp nhiều nguồn</a:t>
            </a:r>
          </a:p>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bằng chứng về rủi ro website</a:t>
            </a:r>
          </a:p>
        </p:txBody>
      </p:sp>
      <p:sp>
        <p:nvSpPr>
          <p:cNvPr id="4" name="text-3">
            <a:extLst xmlns:a="http://schemas.openxmlformats.org/drawingml/2006/main">
              <a:ext uri="{FF2B5EF4-FFF2-40B4-BE49-F238E27FC236}">
                <a16:creationId xmlns:a16="http://schemas.microsoft.com/office/drawing/2014/main" id="{1EDFEAD8-58DD-486E-A296-0DD7C32038CA}"/>
              </a:ext>
            </a:extLst>
          </p:cNvPr>
          <p:cNvSpPr>
            <a:spLocks xmlns:a="http://schemas.openxmlformats.org/drawingml/2006/main" noGrp="1"/>
          </p:cNvSpPr>
          <p:nvPr/>
        </p:nvSpPr>
        <p:spPr>
          <a:xfrm xmlns:a="http://schemas.openxmlformats.org/drawingml/2006/main">
            <a:off x="609600" y="3514725"/>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BAD6E3"/>
                </a:solidFill>
                <a:latin typeface="Arial"/>
                <a:ea typeface="Arial"/>
                <a:cs typeface="Arial"/>
              </a:defRPr>
            </a:pPr>
            <a:r>
              <a:rPr sz="2325" b="0">
                <a:solidFill>
                  <a:srgbClr val="BAD6E3"/>
                </a:solidFill>
                <a:latin typeface="Arial"/>
                <a:ea typeface="Arial"/>
                <a:cs typeface="Arial"/>
              </a:rPr>
              <a:t>Luật + XGBoost + danh sách đen</a:t>
            </a:r>
          </a:p>
          <a:p xmlns:a="http://schemas.openxmlformats.org/drawingml/2006/main">
            <a:pPr algn="l">
              <a:defRPr sz="2325" b="0">
                <a:solidFill>
                  <a:srgbClr val="BAD6E3"/>
                </a:solidFill>
                <a:latin typeface="Arial"/>
                <a:ea typeface="Arial"/>
                <a:cs typeface="Arial"/>
              </a:defRPr>
            </a:pPr>
            <a:r>
              <a:rPr sz="2325" b="0">
                <a:solidFill>
                  <a:srgbClr val="BAD6E3"/>
                </a:solidFill>
                <a:latin typeface="Arial"/>
                <a:ea typeface="Arial"/>
                <a:cs typeface="Arial"/>
              </a:rPr>
              <a:t>Giao diện web, REST API và lịch sử quét</a:t>
            </a:r>
          </a:p>
          <a:p xmlns:a="http://schemas.openxmlformats.org/drawingml/2006/main">
            <a:pPr algn="l">
              <a:defRPr sz="2325" b="0">
                <a:solidFill>
                  <a:srgbClr val="BAD6E3"/>
                </a:solidFill>
                <a:latin typeface="Arial"/>
                <a:ea typeface="Arial"/>
                <a:cs typeface="Arial"/>
              </a:defRPr>
            </a:pPr>
            <a:r>
              <a:rPr sz="2325" b="0">
                <a:solidFill>
                  <a:srgbClr val="BAD6E3"/>
                </a:solidFill>
                <a:latin typeface="Arial"/>
                <a:ea typeface="Arial"/>
                <a:cs typeface="Arial"/>
              </a:rPr>
              <a:t>Dấu hiệu có giải thích và kiểm soát khi tải URL</a:t>
            </a:r>
          </a:p>
        </p:txBody>
      </p:sp>
      <p:sp>
        <p:nvSpPr>
          <p:cNvPr id="5" name="text-4">
            <a:extLst xmlns:a="http://schemas.openxmlformats.org/drawingml/2006/main">
              <a:ext uri="{FF2B5EF4-FFF2-40B4-BE49-F238E27FC236}">
                <a16:creationId xmlns:a16="http://schemas.microsoft.com/office/drawing/2014/main" id="{97EAE678-E3E5-4223-84D9-0D629BBD3E48}"/>
              </a:ext>
            </a:extLst>
          </p:cNvPr>
          <p:cNvSpPr>
            <a:spLocks xmlns:a="http://schemas.openxmlformats.org/drawingml/2006/main" noGrp="1"/>
          </p:cNvSpPr>
          <p:nvPr/>
        </p:nvSpPr>
        <p:spPr>
          <a:xfrm xmlns:a="http://schemas.openxmlformats.org/drawingml/2006/main">
            <a:off x="609600" y="54959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9DE0DD"/>
                </a:solidFill>
                <a:latin typeface="Arial"/>
                <a:ea typeface="Arial"/>
                <a:cs typeface="Arial"/>
              </a:defRPr>
            </a:pPr>
            <a:r>
              <a:rPr sz="3000" b="1">
                <a:solidFill>
                  <a:srgbClr val="9DE0DD"/>
                </a:solidFill>
                <a:latin typeface="Arial"/>
                <a:ea typeface="Arial"/>
                <a:cs typeface="Arial"/>
              </a:rPr>
              <a:t>FNR 3,47%     F1 97,58%</a:t>
            </a:r>
          </a:p>
        </p:txBody>
      </p:sp>
    </p:spTree>
    <p:extLst>
      <p:ext uri="{BB962C8B-B14F-4D97-AF65-F5344CB8AC3E}">
        <p14:creationId xmlns:p14="http://schemas.microsoft.com/office/powerpoint/2010/main" val="13141584"/>
      </p:ext>
    </p:extLst>
  </p:cSld>
</p:sld>
</file>

<file path=ppt/slides/slide2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C587AE60-D9D7-4EBC-8A15-A980D0C9758A}"/>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Phụ lục: kết quả đầy đủ của 4 mô hình</a:t>
            </a:r>
          </a:p>
        </p:txBody>
      </p:sp>
      <p:sp>
        <p:nvSpPr>
          <p:cNvPr id="2" name="text-1">
            <a:extLst xmlns:a="http://schemas.openxmlformats.org/drawingml/2006/main">
              <a:ext uri="{FF2B5EF4-FFF2-40B4-BE49-F238E27FC236}">
                <a16:creationId xmlns:a16="http://schemas.microsoft.com/office/drawing/2014/main" id="{710358A7-6240-47A2-B0BA-CC1B4F6B2D94}"/>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20</a:t>
            </a:r>
          </a:p>
        </p:txBody>
      </p:sp>
      <p:graphicFrame>
        <p:nvGraphicFramePr>
          <p:cNvPr id="8" name=""/>
          <p:cNvGraphicFramePr/>
          <p:nvPr/>
        </p:nvGraphicFramePr>
        <p:xfrm>
          <a:off xmlns:a="http://schemas.openxmlformats.org/drawingml/2006/main" x="609600" y="1638300"/>
          <a:ext xmlns:a="http://schemas.openxmlformats.org/drawingml/2006/main" cx="10972800" cy="3238500"/>
        </p:xfrm>
        <a:graphic xmlns:a="http://schemas.openxmlformats.org/drawingml/2006/main">
          <a:graphicData uri="http://schemas.openxmlformats.org/drawingml/2006/table">
            <a:tbl>
              <a:tblPr/>
              <a:tblGrid>
                <a:gridCol w="3019425"/>
                <a:gridCol w="1590675"/>
                <a:gridCol w="1590675"/>
                <a:gridCol w="1590675"/>
                <a:gridCol w="1590675"/>
                <a:gridCol w="1590675"/>
              </a:tblGrid>
              <a:tr h="647700">
                <a:tc>
                  <a:txBody>
                    <a:bodyPr/>
                    <a:lstStyle/>
                    <a:p>
                      <a:r>
                        <a:rPr sz="1725" b="1">
                          <a:solidFill>
                            <a:srgbClr val="FFFFFF"/>
                          </a:solidFill>
                          <a:latin typeface="Arial"/>
                          <a:ea typeface="Arial"/>
                          <a:cs typeface="Arial"/>
                        </a:rPr>
                        <a:t>Mô hình</a:t>
                      </a:r>
                    </a:p>
                  </a:txBody>
                  <a:tcPr marL="152400" marR="133350" marT="95250" marB="95250">
                    <a:solidFill>
                      <a:srgbClr val="102A43"/>
                    </a:solidFill>
                  </a:tcPr>
                </a:tc>
                <a:tc>
                  <a:txBody>
                    <a:bodyPr/>
                    <a:lstStyle/>
                    <a:p>
                      <a:r>
                        <a:rPr sz="1725" b="1">
                          <a:solidFill>
                            <a:srgbClr val="FFFFFF"/>
                          </a:solidFill>
                          <a:latin typeface="Arial"/>
                          <a:ea typeface="Arial"/>
                          <a:cs typeface="Arial"/>
                        </a:rPr>
                        <a:t>FNR</a:t>
                      </a:r>
                    </a:p>
                  </a:txBody>
                  <a:tcPr marL="152400" marR="133350" marT="95250" marB="95250">
                    <a:solidFill>
                      <a:srgbClr val="102A43"/>
                    </a:solidFill>
                  </a:tcPr>
                </a:tc>
                <a:tc>
                  <a:txBody>
                    <a:bodyPr/>
                    <a:lstStyle/>
                    <a:p>
                      <a:r>
                        <a:rPr sz="1725" b="1">
                          <a:solidFill>
                            <a:srgbClr val="FFFFFF"/>
                          </a:solidFill>
                          <a:latin typeface="Arial"/>
                          <a:ea typeface="Arial"/>
                          <a:cs typeface="Arial"/>
                        </a:rPr>
                        <a:t>Recall</a:t>
                      </a:r>
                    </a:p>
                  </a:txBody>
                  <a:tcPr marL="152400" marR="133350" marT="95250" marB="95250">
                    <a:solidFill>
                      <a:srgbClr val="102A43"/>
                    </a:solidFill>
                  </a:tcPr>
                </a:tc>
                <a:tc>
                  <a:txBody>
                    <a:bodyPr/>
                    <a:lstStyle/>
                    <a:p>
                      <a:r>
                        <a:rPr sz="1725" b="1">
                          <a:solidFill>
                            <a:srgbClr val="FFFFFF"/>
                          </a:solidFill>
                          <a:latin typeface="Arial"/>
                          <a:ea typeface="Arial"/>
                          <a:cs typeface="Arial"/>
                        </a:rPr>
                        <a:t>Precision</a:t>
                      </a:r>
                    </a:p>
                  </a:txBody>
                  <a:tcPr marL="152400" marR="133350" marT="95250" marB="95250">
                    <a:solidFill>
                      <a:srgbClr val="102A43"/>
                    </a:solidFill>
                  </a:tcPr>
                </a:tc>
                <a:tc>
                  <a:txBody>
                    <a:bodyPr/>
                    <a:lstStyle/>
                    <a:p>
                      <a:r>
                        <a:rPr sz="1725" b="1">
                          <a:solidFill>
                            <a:srgbClr val="FFFFFF"/>
                          </a:solidFill>
                          <a:latin typeface="Arial"/>
                          <a:ea typeface="Arial"/>
                          <a:cs typeface="Arial"/>
                        </a:rPr>
                        <a:t>F1</a:t>
                      </a:r>
                    </a:p>
                  </a:txBody>
                  <a:tcPr marL="152400" marR="133350" marT="95250" marB="95250">
                    <a:solidFill>
                      <a:srgbClr val="102A43"/>
                    </a:solidFill>
                  </a:tcPr>
                </a:tc>
                <a:tc>
                  <a:txBody>
                    <a:bodyPr/>
                    <a:lstStyle/>
                    <a:p>
                      <a:r>
                        <a:rPr sz="1725" b="1">
                          <a:solidFill>
                            <a:srgbClr val="FFFFFF"/>
                          </a:solidFill>
                          <a:latin typeface="Arial"/>
                          <a:ea typeface="Arial"/>
                          <a:cs typeface="Arial"/>
                        </a:rPr>
                        <a:t>Accuracy</a:t>
                      </a:r>
                    </a:p>
                  </a:txBody>
                  <a:tcPr marL="152400" marR="133350" marT="95250" marB="95250">
                    <a:solidFill>
                      <a:srgbClr val="102A43"/>
                    </a:solidFill>
                  </a:tcPr>
                </a:tc>
              </a:tr>
              <a:tr h="647700">
                <a:tc>
                  <a:txBody>
                    <a:bodyPr/>
                    <a:lstStyle/>
                    <a:p>
                      <a:r>
                        <a:rPr sz="1725">
                          <a:solidFill>
                            <a:srgbClr val="102A43"/>
                          </a:solidFill>
                          <a:latin typeface="Arial"/>
                          <a:ea typeface="Arial"/>
                          <a:cs typeface="Arial"/>
                        </a:rPr>
                        <a:t>Logistic Regression</a:t>
                      </a:r>
                    </a:p>
                  </a:txBody>
                  <a:tcPr marL="152400" marR="133350" marT="95250" marB="95250">
                    <a:solidFill>
                      <a:srgbClr val="FFFFFF"/>
                    </a:solidFill>
                  </a:tcPr>
                </a:tc>
                <a:tc>
                  <a:txBody>
                    <a:bodyPr/>
                    <a:lstStyle/>
                    <a:p>
                      <a:r>
                        <a:rPr sz="1725">
                          <a:solidFill>
                            <a:srgbClr val="102A43"/>
                          </a:solidFill>
                          <a:latin typeface="Arial"/>
                          <a:ea typeface="Arial"/>
                          <a:cs typeface="Arial"/>
                        </a:rPr>
                        <a:t>5,50%</a:t>
                      </a:r>
                    </a:p>
                  </a:txBody>
                  <a:tcPr marL="152400" marR="133350" marT="95250" marB="95250">
                    <a:solidFill>
                      <a:srgbClr val="FFFFFF"/>
                    </a:solidFill>
                  </a:tcPr>
                </a:tc>
                <a:tc>
                  <a:txBody>
                    <a:bodyPr/>
                    <a:lstStyle/>
                    <a:p>
                      <a:r>
                        <a:rPr sz="1725">
                          <a:solidFill>
                            <a:srgbClr val="102A43"/>
                          </a:solidFill>
                          <a:latin typeface="Arial"/>
                          <a:ea typeface="Arial"/>
                          <a:cs typeface="Arial"/>
                        </a:rPr>
                        <a:t>94,50%</a:t>
                      </a:r>
                    </a:p>
                  </a:txBody>
                  <a:tcPr marL="152400" marR="133350" marT="95250" marB="95250">
                    <a:solidFill>
                      <a:srgbClr val="FFFFFF"/>
                    </a:solidFill>
                  </a:tcPr>
                </a:tc>
                <a:tc>
                  <a:txBody>
                    <a:bodyPr/>
                    <a:lstStyle/>
                    <a:p>
                      <a:r>
                        <a:rPr sz="1725">
                          <a:solidFill>
                            <a:srgbClr val="102A43"/>
                          </a:solidFill>
                          <a:latin typeface="Arial"/>
                          <a:ea typeface="Arial"/>
                          <a:cs typeface="Arial"/>
                        </a:rPr>
                        <a:t>97,30%</a:t>
                      </a:r>
                    </a:p>
                  </a:txBody>
                  <a:tcPr marL="152400" marR="133350" marT="95250" marB="95250">
                    <a:solidFill>
                      <a:srgbClr val="FFFFFF"/>
                    </a:solidFill>
                  </a:tcPr>
                </a:tc>
                <a:tc>
                  <a:txBody>
                    <a:bodyPr/>
                    <a:lstStyle/>
                    <a:p>
                      <a:r>
                        <a:rPr sz="1725">
                          <a:solidFill>
                            <a:srgbClr val="102A43"/>
                          </a:solidFill>
                          <a:latin typeface="Arial"/>
                          <a:ea typeface="Arial"/>
                          <a:cs typeface="Arial"/>
                        </a:rPr>
                        <a:t>95,88%</a:t>
                      </a:r>
                    </a:p>
                  </a:txBody>
                  <a:tcPr marL="152400" marR="133350" marT="95250" marB="95250">
                    <a:solidFill>
                      <a:srgbClr val="FFFFFF"/>
                    </a:solidFill>
                  </a:tcPr>
                </a:tc>
                <a:tc>
                  <a:txBody>
                    <a:bodyPr/>
                    <a:lstStyle/>
                    <a:p>
                      <a:r>
                        <a:rPr sz="1725">
                          <a:solidFill>
                            <a:srgbClr val="102A43"/>
                          </a:solidFill>
                          <a:latin typeface="Arial"/>
                          <a:ea typeface="Arial"/>
                          <a:cs typeface="Arial"/>
                        </a:rPr>
                        <a:t>96,34%</a:t>
                      </a:r>
                    </a:p>
                  </a:txBody>
                  <a:tcPr marL="152400" marR="133350" marT="95250" marB="95250">
                    <a:solidFill>
                      <a:srgbClr val="FFFFFF"/>
                    </a:solidFill>
                  </a:tcPr>
                </a:tc>
              </a:tr>
              <a:tr h="647700">
                <a:tc>
                  <a:txBody>
                    <a:bodyPr/>
                    <a:lstStyle/>
                    <a:p>
                      <a:r>
                        <a:rPr sz="1725">
                          <a:solidFill>
                            <a:srgbClr val="102A43"/>
                          </a:solidFill>
                          <a:latin typeface="Arial"/>
                          <a:ea typeface="Arial"/>
                          <a:cs typeface="Arial"/>
                        </a:rPr>
                        <a:t>Decision Tree</a:t>
                      </a:r>
                    </a:p>
                  </a:txBody>
                  <a:tcPr marL="152400" marR="133350" marT="95250" marB="95250">
                    <a:solidFill>
                      <a:srgbClr val="FFFFFF"/>
                    </a:solidFill>
                  </a:tcPr>
                </a:tc>
                <a:tc>
                  <a:txBody>
                    <a:bodyPr/>
                    <a:lstStyle/>
                    <a:p>
                      <a:r>
                        <a:rPr sz="1725">
                          <a:solidFill>
                            <a:srgbClr val="102A43"/>
                          </a:solidFill>
                          <a:latin typeface="Arial"/>
                          <a:ea typeface="Arial"/>
                          <a:cs typeface="Arial"/>
                        </a:rPr>
                        <a:t>4,49%</a:t>
                      </a:r>
                    </a:p>
                  </a:txBody>
                  <a:tcPr marL="152400" marR="133350" marT="95250" marB="95250">
                    <a:solidFill>
                      <a:srgbClr val="FFFFFF"/>
                    </a:solidFill>
                  </a:tcPr>
                </a:tc>
                <a:tc>
                  <a:txBody>
                    <a:bodyPr/>
                    <a:lstStyle/>
                    <a:p>
                      <a:r>
                        <a:rPr sz="1725">
                          <a:solidFill>
                            <a:srgbClr val="102A43"/>
                          </a:solidFill>
                          <a:latin typeface="Arial"/>
                          <a:ea typeface="Arial"/>
                          <a:cs typeface="Arial"/>
                        </a:rPr>
                        <a:t>95,51%</a:t>
                      </a:r>
                    </a:p>
                  </a:txBody>
                  <a:tcPr marL="152400" marR="133350" marT="95250" marB="95250">
                    <a:solidFill>
                      <a:srgbClr val="FFFFFF"/>
                    </a:solidFill>
                  </a:tcPr>
                </a:tc>
                <a:tc>
                  <a:txBody>
                    <a:bodyPr/>
                    <a:lstStyle/>
                    <a:p>
                      <a:r>
                        <a:rPr sz="1725">
                          <a:solidFill>
                            <a:srgbClr val="102A43"/>
                          </a:solidFill>
                          <a:latin typeface="Arial"/>
                          <a:ea typeface="Arial"/>
                          <a:cs typeface="Arial"/>
                        </a:rPr>
                        <a:t>98,68%</a:t>
                      </a:r>
                    </a:p>
                  </a:txBody>
                  <a:tcPr marL="152400" marR="133350" marT="95250" marB="95250">
                    <a:solidFill>
                      <a:srgbClr val="FFFFFF"/>
                    </a:solidFill>
                  </a:tcPr>
                </a:tc>
                <a:tc>
                  <a:txBody>
                    <a:bodyPr/>
                    <a:lstStyle/>
                    <a:p>
                      <a:r>
                        <a:rPr sz="1725">
                          <a:solidFill>
                            <a:srgbClr val="102A43"/>
                          </a:solidFill>
                          <a:latin typeface="Arial"/>
                          <a:ea typeface="Arial"/>
                          <a:cs typeface="Arial"/>
                        </a:rPr>
                        <a:t>97,07%</a:t>
                      </a:r>
                    </a:p>
                  </a:txBody>
                  <a:tcPr marL="152400" marR="133350" marT="95250" marB="95250">
                    <a:solidFill>
                      <a:srgbClr val="FFFFFF"/>
                    </a:solidFill>
                  </a:tcPr>
                </a:tc>
                <a:tc>
                  <a:txBody>
                    <a:bodyPr/>
                    <a:lstStyle/>
                    <a:p>
                      <a:r>
                        <a:rPr sz="1725">
                          <a:solidFill>
                            <a:srgbClr val="102A43"/>
                          </a:solidFill>
                          <a:latin typeface="Arial"/>
                          <a:ea typeface="Arial"/>
                          <a:cs typeface="Arial"/>
                        </a:rPr>
                        <a:t>97,41%</a:t>
                      </a:r>
                    </a:p>
                  </a:txBody>
                  <a:tcPr marL="152400" marR="133350" marT="95250" marB="95250">
                    <a:solidFill>
                      <a:srgbClr val="FFFFFF"/>
                    </a:solidFill>
                  </a:tcPr>
                </a:tc>
              </a:tr>
              <a:tr h="647700">
                <a:tc>
                  <a:txBody>
                    <a:bodyPr/>
                    <a:lstStyle/>
                    <a:p>
                      <a:r>
                        <a:rPr sz="1725">
                          <a:solidFill>
                            <a:srgbClr val="102A43"/>
                          </a:solidFill>
                          <a:latin typeface="Arial"/>
                          <a:ea typeface="Arial"/>
                          <a:cs typeface="Arial"/>
                        </a:rPr>
                        <a:t>Random Forest</a:t>
                      </a:r>
                    </a:p>
                  </a:txBody>
                  <a:tcPr marL="152400" marR="133350" marT="95250" marB="95250">
                    <a:solidFill>
                      <a:srgbClr val="FFFFFF"/>
                    </a:solidFill>
                  </a:tcPr>
                </a:tc>
                <a:tc>
                  <a:txBody>
                    <a:bodyPr/>
                    <a:lstStyle/>
                    <a:p>
                      <a:r>
                        <a:rPr sz="1725">
                          <a:solidFill>
                            <a:srgbClr val="102A43"/>
                          </a:solidFill>
                          <a:latin typeface="Arial"/>
                          <a:ea typeface="Arial"/>
                          <a:cs typeface="Arial"/>
                        </a:rPr>
                        <a:t>3,56%</a:t>
                      </a:r>
                    </a:p>
                  </a:txBody>
                  <a:tcPr marL="152400" marR="133350" marT="95250" marB="95250">
                    <a:solidFill>
                      <a:srgbClr val="FFFFFF"/>
                    </a:solidFill>
                  </a:tcPr>
                </a:tc>
                <a:tc>
                  <a:txBody>
                    <a:bodyPr/>
                    <a:lstStyle/>
                    <a:p>
                      <a:r>
                        <a:rPr sz="1725">
                          <a:solidFill>
                            <a:srgbClr val="102A43"/>
                          </a:solidFill>
                          <a:latin typeface="Arial"/>
                          <a:ea typeface="Arial"/>
                          <a:cs typeface="Arial"/>
                        </a:rPr>
                        <a:t>96,44%</a:t>
                      </a:r>
                    </a:p>
                  </a:txBody>
                  <a:tcPr marL="152400" marR="133350" marT="95250" marB="95250">
                    <a:solidFill>
                      <a:srgbClr val="FFFFFF"/>
                    </a:solidFill>
                  </a:tcPr>
                </a:tc>
                <a:tc>
                  <a:txBody>
                    <a:bodyPr/>
                    <a:lstStyle/>
                    <a:p>
                      <a:r>
                        <a:rPr sz="1725">
                          <a:solidFill>
                            <a:srgbClr val="102A43"/>
                          </a:solidFill>
                          <a:latin typeface="Arial"/>
                          <a:ea typeface="Arial"/>
                          <a:cs typeface="Arial"/>
                        </a:rPr>
                        <a:t>98,51%</a:t>
                      </a:r>
                    </a:p>
                  </a:txBody>
                  <a:tcPr marL="152400" marR="133350" marT="95250" marB="95250">
                    <a:solidFill>
                      <a:srgbClr val="FFFFFF"/>
                    </a:solidFill>
                  </a:tcPr>
                </a:tc>
                <a:tc>
                  <a:txBody>
                    <a:bodyPr/>
                    <a:lstStyle/>
                    <a:p>
                      <a:r>
                        <a:rPr sz="1725">
                          <a:solidFill>
                            <a:srgbClr val="102A43"/>
                          </a:solidFill>
                          <a:latin typeface="Arial"/>
                          <a:ea typeface="Arial"/>
                          <a:cs typeface="Arial"/>
                        </a:rPr>
                        <a:t>97,47%</a:t>
                      </a:r>
                    </a:p>
                  </a:txBody>
                  <a:tcPr marL="152400" marR="133350" marT="95250" marB="95250">
                    <a:solidFill>
                      <a:srgbClr val="FFFFFF"/>
                    </a:solidFill>
                  </a:tcPr>
                </a:tc>
                <a:tc>
                  <a:txBody>
                    <a:bodyPr/>
                    <a:lstStyle/>
                    <a:p>
                      <a:r>
                        <a:rPr sz="1725">
                          <a:solidFill>
                            <a:srgbClr val="102A43"/>
                          </a:solidFill>
                          <a:latin typeface="Arial"/>
                          <a:ea typeface="Arial"/>
                          <a:cs typeface="Arial"/>
                        </a:rPr>
                        <a:t>97,74%</a:t>
                      </a:r>
                    </a:p>
                  </a:txBody>
                  <a:tcPr marL="152400" marR="133350" marT="95250" marB="95250">
                    <a:solidFill>
                      <a:srgbClr val="FFFFFF"/>
                    </a:solidFill>
                  </a:tcPr>
                </a:tc>
              </a:tr>
              <a:tr h="647700">
                <a:tc>
                  <a:txBody>
                    <a:bodyPr/>
                    <a:lstStyle/>
                    <a:p>
                      <a:r>
                        <a:rPr sz="1725" b="1">
                          <a:solidFill>
                            <a:srgbClr val="007F86"/>
                          </a:solidFill>
                          <a:latin typeface="Arial"/>
                          <a:ea typeface="Arial"/>
                          <a:cs typeface="Arial"/>
                        </a:rPr>
                        <a:t>XGBoost</a:t>
                      </a:r>
                    </a:p>
                  </a:txBody>
                  <a:tcPr marL="152400" marR="133350" marT="95250" marB="95250">
                    <a:solidFill>
                      <a:srgbClr val="E5F2F1"/>
                    </a:solidFill>
                  </a:tcPr>
                </a:tc>
                <a:tc>
                  <a:txBody>
                    <a:bodyPr/>
                    <a:lstStyle/>
                    <a:p>
                      <a:r>
                        <a:rPr sz="1725" b="1">
                          <a:solidFill>
                            <a:srgbClr val="007F86"/>
                          </a:solidFill>
                          <a:latin typeface="Arial"/>
                          <a:ea typeface="Arial"/>
                          <a:cs typeface="Arial"/>
                        </a:rPr>
                        <a:t>3,47%</a:t>
                      </a:r>
                    </a:p>
                  </a:txBody>
                  <a:tcPr marL="152400" marR="133350" marT="95250" marB="95250">
                    <a:solidFill>
                      <a:srgbClr val="E5F2F1"/>
                    </a:solidFill>
                  </a:tcPr>
                </a:tc>
                <a:tc>
                  <a:txBody>
                    <a:bodyPr/>
                    <a:lstStyle/>
                    <a:p>
                      <a:r>
                        <a:rPr sz="1725" b="1">
                          <a:solidFill>
                            <a:srgbClr val="007F86"/>
                          </a:solidFill>
                          <a:latin typeface="Arial"/>
                          <a:ea typeface="Arial"/>
                          <a:cs typeface="Arial"/>
                        </a:rPr>
                        <a:t>96,53%</a:t>
                      </a:r>
                    </a:p>
                  </a:txBody>
                  <a:tcPr marL="152400" marR="133350" marT="95250" marB="95250">
                    <a:solidFill>
                      <a:srgbClr val="E5F2F1"/>
                    </a:solidFill>
                  </a:tcPr>
                </a:tc>
                <a:tc>
                  <a:txBody>
                    <a:bodyPr/>
                    <a:lstStyle/>
                    <a:p>
                      <a:r>
                        <a:rPr sz="1725" b="1">
                          <a:solidFill>
                            <a:srgbClr val="007F86"/>
                          </a:solidFill>
                          <a:latin typeface="Arial"/>
                          <a:ea typeface="Arial"/>
                          <a:cs typeface="Arial"/>
                        </a:rPr>
                        <a:t>98,66%</a:t>
                      </a:r>
                    </a:p>
                  </a:txBody>
                  <a:tcPr marL="152400" marR="133350" marT="95250" marB="95250">
                    <a:solidFill>
                      <a:srgbClr val="E5F2F1"/>
                    </a:solidFill>
                  </a:tcPr>
                </a:tc>
                <a:tc>
                  <a:txBody>
                    <a:bodyPr/>
                    <a:lstStyle/>
                    <a:p>
                      <a:r>
                        <a:rPr sz="1725" b="1">
                          <a:solidFill>
                            <a:srgbClr val="007F86"/>
                          </a:solidFill>
                          <a:latin typeface="Arial"/>
                          <a:ea typeface="Arial"/>
                          <a:cs typeface="Arial"/>
                        </a:rPr>
                        <a:t>97,58%</a:t>
                      </a:r>
                    </a:p>
                  </a:txBody>
                  <a:tcPr marL="152400" marR="133350" marT="95250" marB="95250">
                    <a:solidFill>
                      <a:srgbClr val="E5F2F1"/>
                    </a:solidFill>
                  </a:tcPr>
                </a:tc>
                <a:tc>
                  <a:txBody>
                    <a:bodyPr/>
                    <a:lstStyle/>
                    <a:p>
                      <a:r>
                        <a:rPr sz="1725" b="1">
                          <a:solidFill>
                            <a:srgbClr val="007F86"/>
                          </a:solidFill>
                          <a:latin typeface="Arial"/>
                          <a:ea typeface="Arial"/>
                          <a:cs typeface="Arial"/>
                        </a:rPr>
                        <a:t>97,85%</a:t>
                      </a:r>
                    </a:p>
                  </a:txBody>
                  <a:tcPr marL="152400" marR="133350" marT="95250" marB="95250">
                    <a:solidFill>
                      <a:srgbClr val="E5F2F1"/>
                    </a:solidFill>
                  </a:tcPr>
                </a:tc>
              </a:tr>
            </a:tbl>
          </a:graphicData>
        </a:graphic>
      </p:graphicFrame>
      <p:sp>
        <p:nvSpPr>
          <p:cNvPr id="4" name="text-2">
            <a:extLst xmlns:a="http://schemas.openxmlformats.org/drawingml/2006/main">
              <a:ext uri="{FF2B5EF4-FFF2-40B4-BE49-F238E27FC236}">
                <a16:creationId xmlns:a16="http://schemas.microsoft.com/office/drawing/2014/main" id="{AC0ED3E8-60A7-4CDF-ABAE-B4B0386141C2}"/>
              </a:ext>
            </a:extLst>
          </p:cNvPr>
          <p:cNvSpPr>
            <a:spLocks xmlns:a="http://schemas.openxmlformats.org/drawingml/2006/main" noGrp="1"/>
          </p:cNvSpPr>
          <p:nvPr/>
        </p:nvSpPr>
        <p:spPr>
          <a:xfrm xmlns:a="http://schemas.openxmlformats.org/drawingml/2006/main">
            <a:off x="609600" y="52578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Số URL phishing bị bỏ sót</a:t>
            </a:r>
          </a:p>
        </p:txBody>
      </p:sp>
      <p:sp>
        <p:nvSpPr>
          <p:cNvPr id="5" name="text-3">
            <a:extLst xmlns:a="http://schemas.openxmlformats.org/drawingml/2006/main">
              <a:ext uri="{FF2B5EF4-FFF2-40B4-BE49-F238E27FC236}">
                <a16:creationId xmlns:a16="http://schemas.microsoft.com/office/drawing/2014/main" id="{DE10D306-8B06-4623-8559-A92B8B072B42}"/>
              </a:ext>
            </a:extLst>
          </p:cNvPr>
          <p:cNvSpPr>
            <a:spLocks xmlns:a="http://schemas.openxmlformats.org/drawingml/2006/main" noGrp="1"/>
          </p:cNvSpPr>
          <p:nvPr/>
        </p:nvSpPr>
        <p:spPr>
          <a:xfrm xmlns:a="http://schemas.openxmlformats.org/drawingml/2006/main">
            <a:off x="609600" y="5743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102A43"/>
                </a:solidFill>
                <a:latin typeface="Arial"/>
                <a:ea typeface="Arial"/>
                <a:cs typeface="Arial"/>
              </a:defRPr>
            </a:pPr>
            <a:r>
              <a:rPr sz="1800" b="0">
                <a:solidFill>
                  <a:srgbClr val="102A43"/>
                </a:solidFill>
                <a:latin typeface="Arial"/>
                <a:ea typeface="Arial"/>
                <a:cs typeface="Arial"/>
              </a:rPr>
              <a:t>Logistic: 1.223    Decision Tree: 998    Random Forest: 791    XGBoost: 772</a:t>
            </a:r>
          </a:p>
        </p:txBody>
      </p:sp>
    </p:spTree>
    <p:extLst>
      <p:ext uri="{BB962C8B-B14F-4D97-AF65-F5344CB8AC3E}">
        <p14:creationId xmlns:p14="http://schemas.microsoft.com/office/powerpoint/2010/main" val="81765036"/>
      </p:ext>
    </p:extLst>
  </p:cSld>
</p:sld>
</file>

<file path=ppt/slides/slide2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7FC332BD-A3ED-49D1-8BCD-38483C154FF8}"/>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Phụ lục: trao đổi khi bảo vệ</a:t>
            </a:r>
          </a:p>
        </p:txBody>
      </p:sp>
      <p:sp>
        <p:nvSpPr>
          <p:cNvPr id="2" name="text-1">
            <a:extLst xmlns:a="http://schemas.openxmlformats.org/drawingml/2006/main">
              <a:ext uri="{FF2B5EF4-FFF2-40B4-BE49-F238E27FC236}">
                <a16:creationId xmlns:a16="http://schemas.microsoft.com/office/drawing/2014/main" id="{40B63EE5-5386-4434-92F2-F9AEEDFB30F5}"/>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21</a:t>
            </a:r>
          </a:p>
        </p:txBody>
      </p:sp>
      <p:sp>
        <p:nvSpPr>
          <p:cNvPr id="3" name="text-2">
            <a:extLst xmlns:a="http://schemas.openxmlformats.org/drawingml/2006/main">
              <a:ext uri="{FF2B5EF4-FFF2-40B4-BE49-F238E27FC236}">
                <a16:creationId xmlns:a16="http://schemas.microsoft.com/office/drawing/2014/main" id="{A69ADFB6-BCB7-4590-9EB8-44DC74D5618A}"/>
              </a:ext>
            </a:extLst>
          </p:cNvPr>
          <p:cNvSpPr>
            <a:spLocks xmlns:a="http://schemas.openxmlformats.org/drawingml/2006/main" noGrp="1"/>
          </p:cNvSpPr>
          <p:nvPr/>
        </p:nvSpPr>
        <p:spPr>
          <a:xfrm xmlns:a="http://schemas.openxmlformats.org/drawingml/2006/main">
            <a:off x="609600" y="1619250"/>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Vì sao chọn FNR?</a:t>
            </a:r>
          </a:p>
        </p:txBody>
      </p:sp>
      <p:sp>
        <p:nvSpPr>
          <p:cNvPr id="4" name="text-3">
            <a:extLst xmlns:a="http://schemas.openxmlformats.org/drawingml/2006/main">
              <a:ext uri="{FF2B5EF4-FFF2-40B4-BE49-F238E27FC236}">
                <a16:creationId xmlns:a16="http://schemas.microsoft.com/office/drawing/2014/main" id="{7B318F0C-3AD8-4109-9784-8A159219D11E}"/>
              </a:ext>
            </a:extLst>
          </p:cNvPr>
          <p:cNvSpPr>
            <a:spLocks xmlns:a="http://schemas.openxmlformats.org/drawingml/2006/main" noGrp="1"/>
          </p:cNvSpPr>
          <p:nvPr/>
        </p:nvSpPr>
        <p:spPr>
          <a:xfrm xmlns:a="http://schemas.openxmlformats.org/drawingml/2006/main">
            <a:off x="4324350" y="1619250"/>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Theo dõi trực tiếp tỷ lệ phishing bị bỏ sót</a:t>
            </a:r>
          </a:p>
        </p:txBody>
      </p:sp>
      <p:sp>
        <p:nvSpPr>
          <p:cNvPr id="5" name="text-4">
            <a:extLst xmlns:a="http://schemas.openxmlformats.org/drawingml/2006/main">
              <a:ext uri="{FF2B5EF4-FFF2-40B4-BE49-F238E27FC236}">
                <a16:creationId xmlns:a16="http://schemas.microsoft.com/office/drawing/2014/main" id="{336D0794-6916-453D-8C35-ED71C84AD798}"/>
              </a:ext>
            </a:extLst>
          </p:cNvPr>
          <p:cNvSpPr>
            <a:spLocks xmlns:a="http://schemas.openxmlformats.org/drawingml/2006/main" noGrp="1"/>
          </p:cNvSpPr>
          <p:nvPr/>
        </p:nvSpPr>
        <p:spPr>
          <a:xfrm xmlns:a="http://schemas.openxmlformats.org/drawingml/2006/main">
            <a:off x="609600" y="2695575"/>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Điểm 80 là 80%?</a:t>
            </a:r>
          </a:p>
        </p:txBody>
      </p:sp>
      <p:sp>
        <p:nvSpPr>
          <p:cNvPr id="6" name="text-5">
            <a:extLst xmlns:a="http://schemas.openxmlformats.org/drawingml/2006/main">
              <a:ext uri="{FF2B5EF4-FFF2-40B4-BE49-F238E27FC236}">
                <a16:creationId xmlns:a16="http://schemas.microsoft.com/office/drawing/2014/main" id="{DBD2E56A-1D5D-4484-8773-BB4A0EE44F00}"/>
              </a:ext>
            </a:extLst>
          </p:cNvPr>
          <p:cNvSpPr>
            <a:spLocks xmlns:a="http://schemas.openxmlformats.org/drawingml/2006/main" noGrp="1"/>
          </p:cNvSpPr>
          <p:nvPr/>
        </p:nvSpPr>
        <p:spPr>
          <a:xfrm xmlns:a="http://schemas.openxmlformats.org/drawingml/2006/main">
            <a:off x="4324350" y="2695575"/>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Là chỉ số tổng hợp, tách biệt với xác suất ML</a:t>
            </a:r>
          </a:p>
        </p:txBody>
      </p:sp>
      <p:sp>
        <p:nvSpPr>
          <p:cNvPr id="7" name="text-6">
            <a:extLst xmlns:a="http://schemas.openxmlformats.org/drawingml/2006/main">
              <a:ext uri="{FF2B5EF4-FFF2-40B4-BE49-F238E27FC236}">
                <a16:creationId xmlns:a16="http://schemas.microsoft.com/office/drawing/2014/main" id="{B856CC6C-CFCB-43E5-8251-E2514BED50A3}"/>
              </a:ext>
            </a:extLst>
          </p:cNvPr>
          <p:cNvSpPr>
            <a:spLocks xmlns:a="http://schemas.openxmlformats.org/drawingml/2006/main" noGrp="1"/>
          </p:cNvSpPr>
          <p:nvPr/>
        </p:nvSpPr>
        <p:spPr>
          <a:xfrm xmlns:a="http://schemas.openxmlformats.org/drawingml/2006/main">
            <a:off x="609600" y="3771900"/>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Không có blacklist?</a:t>
            </a:r>
          </a:p>
        </p:txBody>
      </p:sp>
      <p:sp>
        <p:nvSpPr>
          <p:cNvPr id="8" name="text-7">
            <a:extLst xmlns:a="http://schemas.openxmlformats.org/drawingml/2006/main">
              <a:ext uri="{FF2B5EF4-FFF2-40B4-BE49-F238E27FC236}">
                <a16:creationId xmlns:a16="http://schemas.microsoft.com/office/drawing/2014/main" id="{01180BDE-C80B-49B4-8658-AEDD33CEA704}"/>
              </a:ext>
            </a:extLst>
          </p:cNvPr>
          <p:cNvSpPr>
            <a:spLocks xmlns:a="http://schemas.openxmlformats.org/drawingml/2006/main" noGrp="1"/>
          </p:cNvSpPr>
          <p:nvPr/>
        </p:nvSpPr>
        <p:spPr>
          <a:xfrm xmlns:a="http://schemas.openxmlformats.org/drawingml/2006/main">
            <a:off x="4324350" y="3771900"/>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Vẫn đánh giá bằng luật và mô hình</a:t>
            </a:r>
          </a:p>
        </p:txBody>
      </p:sp>
      <p:sp>
        <p:nvSpPr>
          <p:cNvPr id="9" name="text-8">
            <a:extLst xmlns:a="http://schemas.openxmlformats.org/drawingml/2006/main">
              <a:ext uri="{FF2B5EF4-FFF2-40B4-BE49-F238E27FC236}">
                <a16:creationId xmlns:a16="http://schemas.microsoft.com/office/drawing/2014/main" id="{3E2D2CA8-E511-4C3E-B2C4-626989AB6B30}"/>
              </a:ext>
            </a:extLst>
          </p:cNvPr>
          <p:cNvSpPr>
            <a:spLocks xmlns:a="http://schemas.openxmlformats.org/drawingml/2006/main" noGrp="1"/>
          </p:cNvSpPr>
          <p:nvPr/>
        </p:nvSpPr>
        <p:spPr>
          <a:xfrm xmlns:a="http://schemas.openxmlformats.org/drawingml/2006/main">
            <a:off x="609600" y="4848225"/>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WHOIS thất bại?</a:t>
            </a:r>
          </a:p>
        </p:txBody>
      </p:sp>
      <p:sp>
        <p:nvSpPr>
          <p:cNvPr id="10" name="text-9">
            <a:extLst xmlns:a="http://schemas.openxmlformats.org/drawingml/2006/main">
              <a:ext uri="{FF2B5EF4-FFF2-40B4-BE49-F238E27FC236}">
                <a16:creationId xmlns:a16="http://schemas.microsoft.com/office/drawing/2014/main" id="{837E43EF-D3B0-466A-A8F4-1A7CC87236A4}"/>
              </a:ext>
            </a:extLst>
          </p:cNvPr>
          <p:cNvSpPr>
            <a:spLocks xmlns:a="http://schemas.openxmlformats.org/drawingml/2006/main" noGrp="1"/>
          </p:cNvSpPr>
          <p:nvPr/>
        </p:nvSpPr>
        <p:spPr>
          <a:xfrm xmlns:a="http://schemas.openxmlformats.org/drawingml/2006/main">
            <a:off x="4324350" y="4848225"/>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Giữ tuổi domain chưa rõ, báo thiếu dữ liệu</a:t>
            </a:r>
          </a:p>
        </p:txBody>
      </p:sp>
    </p:spTree>
    <p:extLst>
      <p:ext uri="{BB962C8B-B14F-4D97-AF65-F5344CB8AC3E}">
        <p14:creationId xmlns:p14="http://schemas.microsoft.com/office/powerpoint/2010/main" val="86159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2026-09-28T08:17:44.0720000Z</dcterms:created>
  <dcterms:modified xsi:type="dcterms:W3CDTF">2026-09-28T08:17:44.0720000Z</dcterms:modified>
</coreProperties>
</file>