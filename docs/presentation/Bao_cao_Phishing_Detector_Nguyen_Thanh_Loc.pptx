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7700" autoAdjust="0"/>
  </p:normalViewPr>
  <p:slideViewPr>
    <p:cSldViewPr snapToGrid="0">
      <p:cViewPr varScale="1">
        <p:scale>
          <a:sx n="52" d="100"/>
          <a:sy n="52" d="100"/>
        </p:scale>
        <p:origin x="28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Tỷ lệ</c:v>
          </c:tx>
          <c:spPr>
            <a:solidFill>
              <a:srgbClr val="007F86"/>
            </a:solidFill>
            <a:ln w="0">
              <a:noFill/>
            </a:ln>
          </c:spPr>
          <c:invertIfNegative val="1"/>
          <c:dPt>
            <c:idx val="0"/>
            <c:invertIfNegative val="0"/>
            <c:bubble3D val="0"/>
            <c:spPr>
              <a:solidFill>
                <a:srgbClr val="91A6B5"/>
              </a:solidFill>
            </c:spPr>
            <c:extLst>
              <c:ext xmlns:c16="http://schemas.microsoft.com/office/drawing/2014/chart" uri="{C3380CC4-5D6E-409C-BE32-E72D297353CC}">
                <c16:uniqueId val="{00000001-0B5E-4A1B-8500-09DA831E4352}"/>
              </c:ext>
            </c:extLst>
          </c:dPt>
          <c:dPt>
            <c:idx val="1"/>
            <c:invertIfNegative val="0"/>
            <c:bubble3D val="0"/>
            <c:spPr>
              <a:solidFill>
                <a:srgbClr val="6D8C9F"/>
              </a:solidFill>
            </c:spPr>
            <c:extLst>
              <c:ext xmlns:c16="http://schemas.microsoft.com/office/drawing/2014/chart" uri="{C3380CC4-5D6E-409C-BE32-E72D297353CC}">
                <c16:uniqueId val="{00000003-0B5E-4A1B-8500-09DA831E4352}"/>
              </c:ext>
            </c:extLst>
          </c:dPt>
          <c:dPt>
            <c:idx val="2"/>
            <c:invertIfNegative val="0"/>
            <c:bubble3D val="0"/>
            <c:spPr>
              <a:solidFill>
                <a:srgbClr val="397B89"/>
              </a:solidFill>
            </c:spPr>
            <c:extLst>
              <c:ext xmlns:c16="http://schemas.microsoft.com/office/drawing/2014/chart" uri="{C3380CC4-5D6E-409C-BE32-E72D297353CC}">
                <c16:uniqueId val="{00000005-0B5E-4A1B-8500-09DA831E4352}"/>
              </c:ext>
            </c:extLst>
          </c:dPt>
          <c:dPt>
            <c:idx val="3"/>
            <c:invertIfNegative val="0"/>
            <c:bubble3D val="0"/>
            <c:spPr>
              <a:solidFill>
                <a:srgbClr val="007F86"/>
              </a:solidFill>
            </c:spPr>
            <c:extLst>
              <c:ext xmlns:c16="http://schemas.microsoft.com/office/drawing/2014/chart" uri="{C3380CC4-5D6E-409C-BE32-E72D297353CC}">
                <c16:uniqueId val="{00000007-0B5E-4A1B-8500-09DA831E4352}"/>
              </c:ext>
            </c:extLst>
          </c:dPt>
          <c:dLbls>
            <c:spPr>
              <a:noFill/>
              <a:ln>
                <a:noFill/>
              </a:ln>
              <a:effectLst/>
            </c:spPr>
            <c:txPr>
              <a:bodyPr anchorCtr="1"/>
              <a:lstStyle/>
              <a:p>
                <a:pPr>
                  <a:defRPr sz="1800" b="1">
                    <a:solidFill>
                      <a:srgbClr val="102A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Logistic
Regression</c:v>
                </c:pt>
                <c:pt idx="1">
                  <c:v>Decision
Tree</c:v>
                </c:pt>
                <c:pt idx="2">
                  <c:v>Random
Forest</c:v>
                </c:pt>
                <c:pt idx="3">
                  <c:v>XGBoost</c:v>
                </c:pt>
              </c:strCache>
            </c:strRef>
          </c:cat>
          <c:val>
            <c:numRef>
              <c:f>'Chart Data'!$B$2:$B$5</c:f>
              <c:numCache>
                <c:formatCode>0.00%</c:formatCode>
                <c:ptCount val="4"/>
                <c:pt idx="0">
                  <c:v>5.4995950000000002E-2</c:v>
                </c:pt>
                <c:pt idx="1">
                  <c:v>4.4878139999999997E-2</c:v>
                </c:pt>
                <c:pt idx="2">
                  <c:v>3.5569749999999997E-2</c:v>
                </c:pt>
                <c:pt idx="3">
                  <c:v>3.4715349999999999E-2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8-0B5E-4A1B-8500-09DA831E4352}"/>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02A43"/>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6.5000000000000002E-2"/>
          <c:min val="0"/>
        </c:scaling>
        <c:delete val="0"/>
        <c:axPos val="l"/>
        <c:majorGridlines>
          <c:spPr>
            <a:ln w="9525">
              <a:solidFill>
                <a:srgbClr val="D6E0E5"/>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500">
                <a:solidFill>
                  <a:srgbClr val="526777"/>
                </a:solidFill>
                <a:latin typeface="Arial"/>
                <a:ea typeface="Arial"/>
                <a:cs typeface="Arial"/>
              </a:defRPr>
            </a:pPr>
            <a:endParaRPr lang="en-US"/>
          </a:p>
        </c:txPr>
        <c:crossAx val="48650112"/>
        <c:crosses val="autoZero"/>
        <c:crossBetween val="between"/>
      </c:valAx>
      <c:spPr>
        <a:solidFill>
          <a:srgbClr val="F5F7F8"/>
        </a:solidFill>
        <a:ln w="0">
          <a:noFill/>
        </a:ln>
      </c:spPr>
    </c:plotArea>
    <c:plotVisOnly val="1"/>
    <c:dispBlanksAs val="zero"/>
    <c:showDLblsOverMax val="1"/>
  </c:chart>
  <c:spPr>
    <a:solidFill>
      <a:srgbClr val="F5F7F8"/>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Tỷ lệ</c:v>
          </c:tx>
          <c:spPr>
            <a:solidFill>
              <a:srgbClr val="007F86"/>
            </a:solidFill>
            <a:ln w="0">
              <a:noFill/>
            </a:ln>
          </c:spPr>
          <c:invertIfNegative val="1"/>
          <c:dLbls>
            <c:spPr>
              <a:noFill/>
              <a:ln>
                <a:noFill/>
              </a:ln>
              <a:effectLst/>
            </c:spPr>
            <c:txPr>
              <a:bodyPr anchorCtr="1"/>
              <a:lstStyle/>
              <a:p>
                <a:pPr>
                  <a:defRPr sz="1800" b="1">
                    <a:solidFill>
                      <a:srgbClr val="102A43"/>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Data'!$A$2:$A$9</c:f>
              <c:strCache>
                <c:ptCount val="8"/>
                <c:pt idx="0">
                  <c:v>iframe_count</c:v>
                </c:pt>
                <c:pt idx="1">
                  <c:v>num_subdomains</c:v>
                </c:pt>
                <c:pt idx="2">
                  <c:v>num_digits</c:v>
                </c:pt>
                <c:pt idx="3">
                  <c:v>url_length</c:v>
                </c:pt>
                <c:pt idx="4">
                  <c:v>path_depth</c:v>
                </c:pt>
                <c:pt idx="5">
                  <c:v>form_count</c:v>
                </c:pt>
                <c:pt idx="6">
                  <c:v>hostname_match</c:v>
                </c:pt>
                <c:pt idx="7">
                  <c:v>has_https</c:v>
                </c:pt>
              </c:strCache>
            </c:strRef>
          </c:cat>
          <c:val>
            <c:numRef>
              <c:f>'Chart Data'!$B$2:$B$9</c:f>
              <c:numCache>
                <c:formatCode>0.0%</c:formatCode>
                <c:ptCount val="8"/>
                <c:pt idx="0">
                  <c:v>2.2181739999999998E-2</c:v>
                </c:pt>
                <c:pt idx="1">
                  <c:v>2.9390010000000001E-2</c:v>
                </c:pt>
                <c:pt idx="2">
                  <c:v>2.96434E-2</c:v>
                </c:pt>
                <c:pt idx="3">
                  <c:v>4.0197959999999998E-2</c:v>
                </c:pt>
                <c:pt idx="4">
                  <c:v>4.1550730000000001E-2</c:v>
                </c:pt>
                <c:pt idx="5">
                  <c:v>4.740275E-2</c:v>
                </c:pt>
                <c:pt idx="6">
                  <c:v>0.30961189</c:v>
                </c:pt>
                <c:pt idx="7">
                  <c:v>0.43151408000000002</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DCAB-465A-85E0-C874F0F67D9C}"/>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l"/>
        <c:majorGridlines>
          <c:spPr>
            <a:ln w="9525">
              <a:solidFill>
                <a:srgbClr val="D6E0E5"/>
              </a:solidFill>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526777"/>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scaling>
        <c:delete val="0"/>
        <c:axPos val="b"/>
        <c:numFmt formatCode="0.0%" sourceLinked="1"/>
        <c:majorTickMark val="none"/>
        <c:minorTickMark val="none"/>
        <c:tickLblPos val="nextTo"/>
        <c:spPr>
          <a:ln w="9525">
            <a:solidFill>
              <a:srgbClr val="D4D4D4"/>
            </a:solidFill>
            <a:prstDash val="solid"/>
          </a:ln>
        </c:spPr>
        <c:txPr>
          <a:bodyPr anchorCtr="1"/>
          <a:lstStyle/>
          <a:p>
            <a:pPr>
              <a:defRPr sz="1650">
                <a:solidFill>
                  <a:srgbClr val="102A43"/>
                </a:solidFill>
                <a:latin typeface="Arial"/>
                <a:ea typeface="Arial"/>
                <a:cs typeface="Arial"/>
              </a:defRPr>
            </a:pPr>
            <a:endParaRPr lang="en-US"/>
          </a:p>
        </c:txPr>
        <c:crossAx val="48650112"/>
        <c:crosses val="autoZero"/>
        <c:crossBetween val="between"/>
      </c:valAx>
      <c:spPr>
        <a:solidFill>
          <a:srgbClr val="F5F7F8"/>
        </a:solidFill>
        <a:ln w="0">
          <a:noFill/>
        </a:ln>
      </c:spPr>
    </c:plotArea>
    <c:plotVisOnly val="1"/>
    <c:dispBlanksAs val="zero"/>
    <c:showDLblsOverMax val="1"/>
  </c:chart>
  <c:spPr>
    <a:solidFill>
      <a:srgbClr val="F5F7F8"/>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1 — Website Scam / Phishing Detector</a:t>
            </a:r>
            <a:endParaRPr lang="en-US" sz="1200" b="0" kern="1200" dirty="0">
              <a:effectLst/>
            </a:endParaRPr>
          </a:p>
          <a:p>
            <a:br>
              <a:rPr lang="en-US" sz="1200" b="0" kern="1200" dirty="0">
                <a:effectLst/>
              </a:rPr>
            </a:br>
            <a:endParaRPr lang="en-US" sz="1200" b="0" kern="1200" dirty="0">
              <a:effectLst/>
            </a:endParaRPr>
          </a:p>
          <a:p>
            <a:r>
              <a:rPr lang="en-US" sz="1200" b="0" kern="1200" dirty="0">
                <a:effectLst/>
              </a:rPr>
              <a:t>[</a:t>
            </a:r>
            <a:r>
              <a:rPr lang="en-US" sz="1200" b="0" kern="1200" dirty="0" err="1">
                <a:effectLst/>
              </a:rPr>
              <a:t>Nhìn</a:t>
            </a:r>
            <a:r>
              <a:rPr lang="en-US" sz="1200" b="0" kern="1200" dirty="0">
                <a:effectLst/>
              </a:rPr>
              <a:t> </a:t>
            </a:r>
            <a:r>
              <a:rPr lang="en-US" sz="1200" b="0" kern="1200" dirty="0" err="1">
                <a:effectLst/>
              </a:rPr>
              <a:t>thầy</a:t>
            </a:r>
            <a:r>
              <a:rPr lang="en-US" sz="1200" b="0" kern="1200" dirty="0">
                <a:effectLst/>
              </a:rPr>
              <a:t> </a:t>
            </a:r>
            <a:r>
              <a:rPr lang="en-US" sz="1200" b="0" kern="1200" dirty="0" err="1">
                <a:effectLst/>
              </a:rPr>
              <a:t>cô</a:t>
            </a:r>
            <a:r>
              <a:rPr lang="en-US" sz="1200" b="0" kern="1200" dirty="0">
                <a:effectLst/>
              </a:rPr>
              <a:t>, </a:t>
            </a:r>
            <a:r>
              <a:rPr lang="en-US" sz="1200" b="0" kern="1200" dirty="0" err="1">
                <a:effectLst/>
              </a:rPr>
              <a:t>nói</a:t>
            </a:r>
            <a:r>
              <a:rPr lang="en-US" sz="1200" b="0" kern="1200" dirty="0">
                <a:effectLst/>
              </a:rPr>
              <a:t> </a:t>
            </a:r>
            <a:r>
              <a:rPr lang="en-US" sz="1200" b="0" kern="1200" dirty="0" err="1">
                <a:effectLst/>
              </a:rPr>
              <a:t>chậm</a:t>
            </a:r>
            <a:r>
              <a:rPr lang="en-US" sz="1200" b="0" kern="1200" dirty="0">
                <a:effectLst/>
              </a:rPr>
              <a:t> ở </a:t>
            </a:r>
            <a:r>
              <a:rPr lang="en-US" sz="1200" b="0" kern="1200" dirty="0" err="1">
                <a:effectLst/>
              </a:rPr>
              <a:t>phần</a:t>
            </a:r>
            <a:r>
              <a:rPr lang="en-US" sz="1200" b="0" kern="1200" dirty="0">
                <a:effectLst/>
              </a:rPr>
              <a:t> </a:t>
            </a:r>
            <a:r>
              <a:rPr lang="en-US" sz="1200" b="0" kern="1200" dirty="0" err="1">
                <a:effectLst/>
              </a:rPr>
              <a:t>giới</a:t>
            </a:r>
            <a:r>
              <a:rPr lang="en-US" sz="1200" b="0" kern="1200" dirty="0">
                <a:effectLst/>
              </a:rPr>
              <a:t> </a:t>
            </a:r>
            <a:r>
              <a:rPr lang="en-US" sz="1200" b="0" kern="1200" dirty="0" err="1">
                <a:effectLst/>
              </a:rPr>
              <a:t>thiệu</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Em </a:t>
            </a:r>
            <a:r>
              <a:rPr lang="en-US" sz="1200" b="0" kern="1200" dirty="0" err="1">
                <a:effectLst/>
              </a:rPr>
              <a:t>chào</a:t>
            </a:r>
            <a:r>
              <a:rPr lang="en-US" sz="1200" b="0" kern="1200" dirty="0">
                <a:effectLst/>
              </a:rPr>
              <a:t> </a:t>
            </a:r>
            <a:r>
              <a:rPr lang="en-US" sz="1200" b="0" kern="1200" dirty="0" err="1">
                <a:effectLst/>
              </a:rPr>
              <a:t>thầy</a:t>
            </a:r>
            <a:r>
              <a:rPr lang="en-US" sz="1200" b="0" kern="1200" dirty="0">
                <a:effectLst/>
              </a:rPr>
              <a:t> </a:t>
            </a:r>
            <a:r>
              <a:rPr lang="en-US" sz="1200" b="0" kern="1200" dirty="0" err="1">
                <a:effectLst/>
              </a:rPr>
              <a:t>cô</a:t>
            </a:r>
            <a:r>
              <a:rPr lang="en-US" sz="1200" b="0" kern="1200" dirty="0">
                <a:effectLst/>
              </a:rPr>
              <a:t>. Em </a:t>
            </a:r>
            <a:r>
              <a:rPr lang="en-US" sz="1200" b="0" kern="1200" dirty="0" err="1">
                <a:effectLst/>
              </a:rPr>
              <a:t>là</a:t>
            </a:r>
            <a:r>
              <a:rPr lang="en-US" sz="1200" b="0" kern="1200" dirty="0">
                <a:effectLst/>
              </a:rPr>
              <a:t> Nguyễn Thành Lộc, </a:t>
            </a:r>
            <a:r>
              <a:rPr lang="en-US" sz="1200" b="0" kern="1200" dirty="0" err="1">
                <a:effectLst/>
              </a:rPr>
              <a:t>mã</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sinh</a:t>
            </a:r>
            <a:r>
              <a:rPr lang="en-US" sz="1200" b="0" kern="1200" dirty="0">
                <a:effectLst/>
              </a:rPr>
              <a:t> </a:t>
            </a:r>
            <a:r>
              <a:rPr lang="en-US" sz="1200" b="0" kern="1200" dirty="0" err="1">
                <a:effectLst/>
              </a:rPr>
              <a:t>viên</a:t>
            </a:r>
            <a:r>
              <a:rPr lang="en-US" sz="1200" b="0" kern="1200" dirty="0">
                <a:effectLst/>
              </a:rPr>
              <a:t> 25410244.</a:t>
            </a:r>
          </a:p>
          <a:p>
            <a:br>
              <a:rPr lang="en-US" sz="1200" b="0" kern="1200" dirty="0">
                <a:effectLst/>
              </a:rPr>
            </a:br>
            <a:endParaRPr lang="en-US" sz="1200" b="0" kern="1200" dirty="0">
              <a:effectLst/>
            </a:endParaRPr>
          </a:p>
          <a:p>
            <a:r>
              <a:rPr lang="en-US" sz="1200" b="0" kern="1200" dirty="0" err="1">
                <a:effectLst/>
              </a:rPr>
              <a:t>Hôm</a:t>
            </a:r>
            <a:r>
              <a:rPr lang="en-US" sz="1200" b="0" kern="1200" dirty="0">
                <a:effectLst/>
              </a:rPr>
              <a:t> nay </a:t>
            </a:r>
            <a:r>
              <a:rPr lang="en-US" sz="1200" b="0" kern="1200" dirty="0" err="1">
                <a:effectLst/>
              </a:rPr>
              <a:t>em</a:t>
            </a:r>
            <a:r>
              <a:rPr lang="en-US" sz="1200" b="0" kern="1200" dirty="0">
                <a:effectLst/>
              </a:rPr>
              <a:t> </a:t>
            </a:r>
            <a:r>
              <a:rPr lang="en-US" sz="1200" b="0" kern="1200" dirty="0" err="1">
                <a:effectLst/>
              </a:rPr>
              <a:t>xin</a:t>
            </a:r>
            <a:r>
              <a:rPr lang="en-US" sz="1200" b="0" kern="1200" dirty="0">
                <a:effectLst/>
              </a:rPr>
              <a:t> </a:t>
            </a:r>
            <a:r>
              <a:rPr lang="en-US" sz="1200" b="0" kern="1200" dirty="0" err="1">
                <a:effectLst/>
              </a:rPr>
              <a:t>trình</a:t>
            </a:r>
            <a:r>
              <a:rPr lang="en-US" sz="1200" b="0" kern="1200" dirty="0">
                <a:effectLst/>
              </a:rPr>
              <a:t> </a:t>
            </a:r>
            <a:r>
              <a:rPr lang="en-US" sz="1200" b="0" kern="1200" dirty="0" err="1">
                <a:effectLst/>
              </a:rPr>
              <a:t>bày</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môn</a:t>
            </a:r>
            <a:r>
              <a:rPr lang="en-US" sz="1200" b="0" kern="1200" dirty="0">
                <a:effectLst/>
              </a:rPr>
              <a:t> </a:t>
            </a:r>
            <a:r>
              <a:rPr lang="en-US" sz="1200" b="0" kern="1200" dirty="0" err="1">
                <a:effectLst/>
              </a:rPr>
              <a:t>Kỹ</a:t>
            </a:r>
            <a:r>
              <a:rPr lang="en-US" sz="1200" b="0" kern="1200" dirty="0">
                <a:effectLst/>
              </a:rPr>
              <a:t> </a:t>
            </a:r>
            <a:r>
              <a:rPr lang="en-US" sz="1200" b="0" kern="1200" dirty="0" err="1">
                <a:effectLst/>
              </a:rPr>
              <a:t>thuật</a:t>
            </a:r>
            <a:r>
              <a:rPr lang="en-US" sz="1200" b="0" kern="1200" dirty="0">
                <a:effectLst/>
              </a:rPr>
              <a:t> </a:t>
            </a:r>
            <a:r>
              <a:rPr lang="en-US" sz="1200" b="0" kern="1200" dirty="0" err="1">
                <a:effectLst/>
              </a:rPr>
              <a:t>lập</a:t>
            </a:r>
            <a:r>
              <a:rPr lang="en-US" sz="1200" b="0" kern="1200" dirty="0">
                <a:effectLst/>
              </a:rPr>
              <a:t> </a:t>
            </a:r>
            <a:r>
              <a:rPr lang="en-US" sz="1200" b="0" kern="1200" dirty="0" err="1">
                <a:effectLst/>
              </a:rPr>
              <a:t>trình</a:t>
            </a:r>
            <a:r>
              <a:rPr lang="en-US" sz="1200" b="0" kern="1200" dirty="0">
                <a:effectLst/>
              </a:rPr>
              <a:t> Python </a:t>
            </a:r>
            <a:r>
              <a:rPr lang="en-US" sz="1200" b="0" kern="1200" dirty="0" err="1">
                <a:effectLst/>
              </a:rPr>
              <a:t>với</a:t>
            </a:r>
            <a:r>
              <a:rPr lang="en-US" sz="1200" b="0" kern="1200" dirty="0">
                <a:effectLst/>
              </a:rPr>
              <a:t> </a:t>
            </a:r>
            <a:r>
              <a:rPr lang="en-US" sz="1200" b="0" kern="1200" dirty="0" err="1">
                <a:effectLst/>
              </a:rPr>
              <a:t>đề</a:t>
            </a:r>
            <a:r>
              <a:rPr lang="en-US" sz="1200" b="0" kern="1200" dirty="0">
                <a:effectLst/>
              </a:rPr>
              <a:t> </a:t>
            </a:r>
            <a:r>
              <a:rPr lang="en-US" sz="1200" b="0" kern="1200" dirty="0" err="1">
                <a:effectLst/>
              </a:rPr>
              <a:t>tài</a:t>
            </a:r>
            <a:r>
              <a:rPr lang="en-US" sz="1200" b="0" kern="1200" dirty="0">
                <a:effectLst/>
              </a:rPr>
              <a:t> Website Scam / Phishing Detector, </a:t>
            </a:r>
            <a:r>
              <a:rPr lang="en-US" sz="1200" b="0" kern="1200" dirty="0" err="1">
                <a:effectLst/>
              </a:rPr>
              <a:t>tức</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phân</a:t>
            </a:r>
            <a:r>
              <a:rPr lang="en-US" sz="1200" b="0" kern="1200" dirty="0">
                <a:effectLst/>
              </a:rPr>
              <a:t> </a:t>
            </a:r>
            <a:r>
              <a:rPr lang="en-US" sz="1200" b="0" kern="1200" dirty="0" err="1">
                <a:effectLst/>
              </a:rPr>
              <a:t>tích</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phát</a:t>
            </a:r>
            <a:r>
              <a:rPr lang="en-US" sz="1200" b="0" kern="1200" dirty="0">
                <a:effectLst/>
              </a:rPr>
              <a:t> </a:t>
            </a:r>
            <a:r>
              <a:rPr lang="en-US" sz="1200" b="0" kern="1200" dirty="0" err="1">
                <a:effectLst/>
              </a:rPr>
              <a:t>hiện</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website </a:t>
            </a:r>
            <a:r>
              <a:rPr lang="en-US" sz="1200" b="0" kern="1200" dirty="0" err="1">
                <a:effectLst/>
              </a:rPr>
              <a:t>lừa</a:t>
            </a:r>
            <a:r>
              <a:rPr lang="en-US" sz="1200" b="0" kern="1200" dirty="0">
                <a:effectLst/>
              </a:rPr>
              <a:t> </a:t>
            </a:r>
            <a:r>
              <a:rPr lang="en-US" sz="1200" b="0" kern="1200" dirty="0" err="1">
                <a:effectLst/>
              </a:rPr>
              <a:t>đảo</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Ý </a:t>
            </a:r>
            <a:r>
              <a:rPr lang="en-US" sz="1200" b="0" kern="1200" dirty="0" err="1">
                <a:effectLst/>
              </a:rPr>
              <a:t>tưởng</a:t>
            </a:r>
            <a:r>
              <a:rPr lang="en-US" sz="1200" b="0" kern="1200" dirty="0">
                <a:effectLst/>
              </a:rPr>
              <a:t> </a:t>
            </a:r>
            <a:r>
              <a:rPr lang="en-US" sz="1200" b="0" kern="1200" dirty="0" err="1">
                <a:effectLst/>
              </a:rPr>
              <a:t>của</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đường</a:t>
            </a:r>
            <a:r>
              <a:rPr lang="en-US" sz="1200" b="0" kern="1200" dirty="0">
                <a:effectLst/>
              </a:rPr>
              <a:t> link </a:t>
            </a:r>
            <a:r>
              <a:rPr lang="en-US" sz="1200" b="0" kern="1200" dirty="0" err="1">
                <a:effectLst/>
              </a:rPr>
              <a:t>đáng</a:t>
            </a:r>
            <a:r>
              <a:rPr lang="en-US" sz="1200" b="0" kern="1200" dirty="0">
                <a:effectLst/>
              </a:rPr>
              <a:t> </a:t>
            </a:r>
            <a:r>
              <a:rPr lang="en-US" sz="1200" b="0" kern="1200" dirty="0" err="1">
                <a:effectLst/>
              </a:rPr>
              <a:t>ngờ</a:t>
            </a:r>
            <a:r>
              <a:rPr lang="en-US" sz="1200" b="0" kern="1200" dirty="0">
                <a:effectLst/>
              </a:rPr>
              <a:t>, </a:t>
            </a:r>
            <a:r>
              <a:rPr lang="en-US" sz="1200" b="0" kern="1200" dirty="0" err="1">
                <a:effectLst/>
              </a:rPr>
              <a:t>họ</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đưa</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xem</a:t>
            </a:r>
            <a:r>
              <a:rPr lang="en-US" sz="1200" b="0" kern="1200" dirty="0">
                <a:effectLst/>
              </a:rPr>
              <a:t> </a:t>
            </a:r>
            <a:r>
              <a:rPr lang="en-US" sz="1200" b="0" kern="1200" dirty="0" err="1">
                <a:effectLst/>
              </a:rPr>
              <a:t>mức</a:t>
            </a:r>
            <a:r>
              <a:rPr lang="en-US" sz="1200" b="0" kern="1200" dirty="0">
                <a:effectLst/>
              </a:rPr>
              <a:t> </a:t>
            </a:r>
            <a:r>
              <a:rPr lang="en-US" sz="1200" b="0" kern="1200" dirty="0" err="1">
                <a:effectLst/>
              </a:rPr>
              <a:t>rủi</a:t>
            </a:r>
            <a:r>
              <a:rPr lang="en-US" sz="1200" b="0" kern="1200" dirty="0">
                <a:effectLst/>
              </a:rPr>
              <a:t> </a:t>
            </a:r>
            <a:r>
              <a:rPr lang="en-US" sz="1200" b="0" kern="1200" dirty="0" err="1">
                <a:effectLst/>
              </a:rPr>
              <a:t>ro</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cần</a:t>
            </a:r>
            <a:r>
              <a:rPr lang="en-US" sz="1200" b="0" kern="1200" dirty="0">
                <a:effectLst/>
              </a:rPr>
              <a:t> </a:t>
            </a:r>
            <a:r>
              <a:rPr lang="en-US" sz="1200" b="0" kern="1200" dirty="0" err="1">
                <a:effectLst/>
              </a:rPr>
              <a:t>chú</a:t>
            </a:r>
            <a:r>
              <a:rPr lang="en-US" sz="1200" b="0" kern="1200" dirty="0">
                <a:effectLst/>
              </a:rPr>
              <a:t> ý.</a:t>
            </a:r>
          </a:p>
          <a:p>
            <a:br>
              <a:rPr lang="en-US" sz="1200" b="0" kern="1200" dirty="0">
                <a:effectLst/>
              </a:rPr>
            </a:br>
            <a:endParaRPr lang="en-US" sz="1200" b="0" kern="1200" dirty="0">
              <a:effectLst/>
            </a:endParaRPr>
          </a:p>
          <a:p>
            <a:r>
              <a:rPr lang="en-US" sz="1200" b="0" kern="1200" dirty="0">
                <a:effectLst/>
              </a:rPr>
              <a:t>Trong </a:t>
            </a:r>
            <a:r>
              <a:rPr lang="en-US" sz="1200" b="0" kern="1200" dirty="0" err="1">
                <a:effectLst/>
              </a:rPr>
              <a:t>phần</a:t>
            </a:r>
            <a:r>
              <a:rPr lang="en-US" sz="1200" b="0" kern="1200" dirty="0">
                <a:effectLst/>
              </a:rPr>
              <a:t> </a:t>
            </a:r>
            <a:r>
              <a:rPr lang="en-US" sz="1200" b="0" kern="1200" dirty="0" err="1">
                <a:effectLst/>
              </a:rPr>
              <a:t>trình</a:t>
            </a:r>
            <a:r>
              <a:rPr lang="en-US" sz="1200" b="0" kern="1200" dirty="0">
                <a:effectLst/>
              </a:rPr>
              <a:t> </a:t>
            </a:r>
            <a:r>
              <a:rPr lang="en-US" sz="1200" b="0" kern="1200" dirty="0" err="1">
                <a:effectLst/>
              </a:rPr>
              <a:t>bày</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sẽ</a:t>
            </a:r>
            <a:r>
              <a:rPr lang="en-US" sz="1200" b="0" kern="1200" dirty="0">
                <a:effectLst/>
              </a:rPr>
              <a:t> </a:t>
            </a:r>
            <a:r>
              <a:rPr lang="en-US" sz="1200" b="0" kern="1200" dirty="0" err="1">
                <a:effectLst/>
              </a:rPr>
              <a:t>đi</a:t>
            </a:r>
            <a:r>
              <a:rPr lang="en-US" sz="1200" b="0" kern="1200" dirty="0">
                <a:effectLst/>
              </a:rPr>
              <a:t> qua </a:t>
            </a:r>
            <a:r>
              <a:rPr lang="en-US" sz="1200" b="0" kern="1200" dirty="0" err="1">
                <a:effectLst/>
              </a:rPr>
              <a:t>cách</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xử</a:t>
            </a:r>
            <a:r>
              <a:rPr lang="en-US" sz="1200" b="0" kern="1200" dirty="0">
                <a:effectLst/>
              </a:rPr>
              <a:t> </a:t>
            </a:r>
            <a:r>
              <a:rPr lang="en-US" sz="1200" b="0" kern="1200" dirty="0" err="1">
                <a:effectLst/>
              </a:rPr>
              <a:t>lý</a:t>
            </a:r>
            <a:r>
              <a:rPr lang="en-US" sz="1200" b="0" kern="1200" dirty="0">
                <a:effectLst/>
              </a:rPr>
              <a:t> </a:t>
            </a:r>
            <a:r>
              <a:rPr lang="en-US" sz="1200" b="0" kern="1200" dirty="0" err="1">
                <a:effectLst/>
              </a:rPr>
              <a:t>một</a:t>
            </a:r>
            <a:r>
              <a:rPr lang="en-US" sz="1200" b="0" kern="1200" dirty="0">
                <a:effectLst/>
              </a:rPr>
              <a:t> URL,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sau</a:t>
            </a:r>
            <a:r>
              <a:rPr lang="en-US" sz="1200" b="0" kern="1200" dirty="0">
                <a:effectLst/>
              </a:rPr>
              <a:t> </a:t>
            </a:r>
            <a:r>
              <a:rPr lang="en-US" sz="1200" b="0" kern="1200" dirty="0" err="1">
                <a:effectLst/>
              </a:rPr>
              <a:t>đó</a:t>
            </a:r>
            <a:r>
              <a:rPr lang="en-US" sz="1200" b="0" kern="1200" dirty="0">
                <a:effectLst/>
              </a:rPr>
              <a:t> </a:t>
            </a:r>
            <a:r>
              <a:rPr lang="en-US" sz="1200" b="0" kern="1200" dirty="0" err="1">
                <a:effectLst/>
              </a:rPr>
              <a:t>giới</a:t>
            </a:r>
            <a:r>
              <a:rPr lang="en-US" sz="1200" b="0" kern="1200" dirty="0">
                <a:effectLst/>
              </a:rPr>
              <a:t> </a:t>
            </a:r>
            <a:r>
              <a:rPr lang="en-US" sz="1200" b="0" kern="1200" dirty="0" err="1">
                <a:effectLst/>
              </a:rPr>
              <a:t>thiệu</a:t>
            </a:r>
            <a:r>
              <a:rPr lang="en-US" sz="1200" b="0" kern="1200" dirty="0">
                <a:effectLst/>
              </a:rPr>
              <a:t> </a:t>
            </a:r>
            <a:r>
              <a:rPr lang="en-US" sz="1200" b="0" kern="1200" dirty="0" err="1">
                <a:effectLst/>
              </a:rPr>
              <a:t>giao</a:t>
            </a:r>
            <a:r>
              <a:rPr lang="en-US" sz="1200" b="0" kern="1200" dirty="0">
                <a:effectLst/>
              </a:rPr>
              <a:t> </a:t>
            </a:r>
            <a:r>
              <a:rPr lang="en-US" sz="1200" b="0" kern="1200" dirty="0" err="1">
                <a:effectLst/>
              </a:rPr>
              <a:t>diện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cần</a:t>
            </a:r>
            <a:r>
              <a:rPr lang="en-US" sz="1200" b="0" kern="1200" dirty="0">
                <a:effectLst/>
              </a:rPr>
              <a:t> </a:t>
            </a:r>
            <a:r>
              <a:rPr lang="en-US" sz="1200" b="0" kern="1200" dirty="0" err="1">
                <a:effectLst/>
              </a:rPr>
              <a:t>cải</a:t>
            </a:r>
            <a:r>
              <a:rPr lang="en-US" sz="1200" b="0" kern="1200" dirty="0">
                <a:effectLst/>
              </a:rPr>
              <a:t> </a:t>
            </a:r>
            <a:r>
              <a:rPr lang="en-US" sz="1200" b="0" kern="1200" dirty="0" err="1">
                <a:effectLst/>
              </a:rPr>
              <a:t>thiện</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Trước</a:t>
            </a:r>
            <a:r>
              <a:rPr lang="en-US" sz="1200" b="0" kern="1200" dirty="0">
                <a:effectLst/>
              </a:rPr>
              <a:t> </a:t>
            </a:r>
            <a:r>
              <a:rPr lang="en-US" sz="1200" b="0" kern="1200" dirty="0" err="1">
                <a:effectLst/>
              </a:rPr>
              <a:t>tiên</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xin</a:t>
            </a:r>
            <a:r>
              <a:rPr lang="en-US" sz="1200" b="0" kern="1200" dirty="0">
                <a:effectLst/>
              </a:rPr>
              <a:t> </a:t>
            </a:r>
            <a:r>
              <a:rPr lang="en-US" sz="1200" b="0" kern="1200" dirty="0" err="1">
                <a:effectLst/>
              </a:rPr>
              <a:t>trình</a:t>
            </a:r>
            <a:r>
              <a:rPr lang="en-US" sz="1200" b="0" kern="1200" dirty="0">
                <a:effectLst/>
              </a:rPr>
              <a:t> </a:t>
            </a:r>
            <a:r>
              <a:rPr lang="en-US" sz="1200" b="0" kern="1200" dirty="0" err="1">
                <a:effectLst/>
              </a:rPr>
              <a:t>bày</a:t>
            </a:r>
            <a:r>
              <a:rPr lang="en-US" sz="1200" b="0" kern="1200" dirty="0">
                <a:effectLst/>
              </a:rPr>
              <a:t> </a:t>
            </a:r>
            <a:r>
              <a:rPr lang="en-US" sz="1200" b="0" kern="1200" dirty="0" err="1">
                <a:effectLst/>
              </a:rPr>
              <a:t>bài</a:t>
            </a:r>
            <a:r>
              <a:rPr lang="en-US" sz="1200" b="0" kern="1200" dirty="0">
                <a:effectLst/>
              </a:rPr>
              <a:t> </a:t>
            </a:r>
            <a:r>
              <a:rPr lang="en-US" sz="1200" b="0" kern="1200" dirty="0" err="1">
                <a:effectLst/>
              </a:rPr>
              <a:t>toán</a:t>
            </a:r>
            <a:r>
              <a:rPr lang="en-US" sz="1200" b="0" kern="1200" dirty="0">
                <a:effectLst/>
              </a:rPr>
              <a:t> </a:t>
            </a:r>
            <a:r>
              <a:rPr lang="en-US" sz="1200" b="0" kern="1200" dirty="0" err="1">
                <a:effectLst/>
              </a:rPr>
              <a:t>mà</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hướng</a:t>
            </a:r>
            <a:r>
              <a:rPr lang="en-US" sz="1200" b="0" kern="1200" dirty="0">
                <a:effectLst/>
              </a:rPr>
              <a:t> </a:t>
            </a:r>
            <a:r>
              <a:rPr lang="en-US" sz="1200" b="0" kern="1200" dirty="0" err="1">
                <a:effectLst/>
              </a:rPr>
              <a:t>đến</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2 — </a:t>
            </a:r>
            <a:r>
              <a:rPr lang="en-US" sz="1200" b="1" kern="1200" dirty="0" err="1">
                <a:effectLst/>
              </a:rPr>
              <a:t>Bài</a:t>
            </a:r>
            <a:r>
              <a:rPr lang="en-US" sz="1200" b="1" kern="1200" dirty="0">
                <a:effectLst/>
              </a:rPr>
              <a:t> </a:t>
            </a:r>
            <a:r>
              <a:rPr lang="en-US" sz="1200" b="1" kern="1200" dirty="0" err="1">
                <a:effectLst/>
              </a:rPr>
              <a:t>toán</a:t>
            </a:r>
            <a:r>
              <a:rPr lang="en-US" sz="1200" b="1" kern="1200" dirty="0">
                <a:effectLst/>
              </a:rPr>
              <a:t> </a:t>
            </a:r>
            <a:r>
              <a:rPr lang="en-US" sz="1200" b="1" kern="1200" dirty="0" err="1">
                <a:effectLst/>
              </a:rPr>
              <a:t>và</a:t>
            </a:r>
            <a:r>
              <a:rPr lang="en-US" sz="1200" b="1" kern="1200" dirty="0">
                <a:effectLst/>
              </a:rPr>
              <a:t> </a:t>
            </a:r>
            <a:r>
              <a:rPr lang="en-US" sz="1200" b="1" kern="1200" dirty="0" err="1">
                <a:effectLst/>
              </a:rPr>
              <a:t>mục</a:t>
            </a:r>
            <a:r>
              <a:rPr lang="en-US" sz="1200" b="1" kern="1200" dirty="0">
                <a:effectLst/>
              </a:rPr>
              <a:t> </a:t>
            </a:r>
            <a:r>
              <a:rPr lang="en-US" sz="1200" b="1" kern="1200" dirty="0" err="1">
                <a:effectLst/>
              </a:rPr>
              <a:t>tiêu</a:t>
            </a:r>
            <a:endParaRPr lang="en-US" sz="1200" b="0" kern="1200" dirty="0">
              <a:effectLst/>
            </a:endParaRPr>
          </a:p>
          <a:p>
            <a:br>
              <a:rPr lang="en-US" sz="1200" b="0" kern="1200" dirty="0">
                <a:effectLst/>
              </a:rPr>
            </a:br>
            <a:endParaRPr lang="en-US" sz="1200" b="0" kern="1200" dirty="0">
              <a:effectLst/>
            </a:endParaRPr>
          </a:p>
          <a:p>
            <a:r>
              <a:rPr lang="en-US" sz="1200" b="0" kern="1200" dirty="0" err="1">
                <a:effectLst/>
              </a:rPr>
              <a:t>Ví</a:t>
            </a:r>
            <a:r>
              <a:rPr lang="en-US" sz="1200" b="0" kern="1200" dirty="0">
                <a:effectLst/>
              </a:rPr>
              <a:t> </a:t>
            </a:r>
            <a:r>
              <a:rPr lang="en-US" sz="1200" b="0" kern="1200" dirty="0" err="1">
                <a:effectLst/>
              </a:rPr>
              <a:t>dụ</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một</a:t>
            </a:r>
            <a:r>
              <a:rPr lang="en-US" sz="1200" b="0" kern="1200" dirty="0">
                <a:effectLst/>
              </a:rPr>
              <a:t> tin </a:t>
            </a:r>
            <a:r>
              <a:rPr lang="en-US" sz="1200" b="0" kern="1200" dirty="0" err="1">
                <a:effectLst/>
              </a:rPr>
              <a:t>nhắn</a:t>
            </a:r>
            <a:r>
              <a:rPr lang="en-US" sz="1200" b="0" kern="1200" dirty="0">
                <a:effectLst/>
              </a:rPr>
              <a:t> </a:t>
            </a:r>
            <a:r>
              <a:rPr lang="en-US" sz="1200" b="0" kern="1200" dirty="0" err="1">
                <a:effectLst/>
              </a:rPr>
              <a:t>yêu</a:t>
            </a:r>
            <a:r>
              <a:rPr lang="en-US" sz="1200" b="0" kern="1200" dirty="0">
                <a:effectLst/>
              </a:rPr>
              <a:t> </a:t>
            </a:r>
            <a:r>
              <a:rPr lang="en-US" sz="1200" b="0" kern="1200" dirty="0" err="1">
                <a:effectLst/>
              </a:rPr>
              <a:t>cầu</a:t>
            </a:r>
            <a:r>
              <a:rPr lang="en-US" sz="1200" b="0" kern="1200" dirty="0">
                <a:effectLst/>
              </a:rPr>
              <a:t> </a:t>
            </a:r>
            <a:r>
              <a:rPr lang="en-US" sz="1200" b="0" kern="1200" dirty="0" err="1">
                <a:effectLst/>
              </a:rPr>
              <a:t>xác</a:t>
            </a:r>
            <a:r>
              <a:rPr lang="en-US" sz="1200" b="0" kern="1200" dirty="0">
                <a:effectLst/>
              </a:rPr>
              <a:t> </a:t>
            </a:r>
            <a:r>
              <a:rPr lang="en-US" sz="1200" b="0" kern="1200" dirty="0" err="1">
                <a:effectLst/>
              </a:rPr>
              <a:t>minh</a:t>
            </a:r>
            <a:r>
              <a:rPr lang="en-US" sz="1200" b="0" kern="1200" dirty="0">
                <a:effectLst/>
              </a:rPr>
              <a:t> </a:t>
            </a:r>
            <a:r>
              <a:rPr lang="en-US" sz="1200" b="0" kern="1200" dirty="0" err="1">
                <a:effectLst/>
              </a:rPr>
              <a:t>tài</a:t>
            </a:r>
            <a:r>
              <a:rPr lang="en-US" sz="1200" b="0" kern="1200" dirty="0">
                <a:effectLst/>
              </a:rPr>
              <a:t> </a:t>
            </a:r>
            <a:r>
              <a:rPr lang="en-US" sz="1200" b="0" kern="1200" dirty="0" err="1">
                <a:effectLst/>
              </a:rPr>
              <a:t>khoản</a:t>
            </a:r>
            <a:r>
              <a:rPr lang="en-US" sz="1200" b="0" kern="1200" dirty="0">
                <a:effectLst/>
              </a:rPr>
              <a:t> </a:t>
            </a:r>
            <a:r>
              <a:rPr lang="en-US" sz="1200" b="0" kern="1200" dirty="0" err="1">
                <a:effectLst/>
              </a:rPr>
              <a:t>ngân</a:t>
            </a:r>
            <a:r>
              <a:rPr lang="en-US" sz="1200" b="0" kern="1200" dirty="0">
                <a:effectLst/>
              </a:rPr>
              <a:t> </a:t>
            </a:r>
            <a:r>
              <a:rPr lang="en-US" sz="1200" b="0" kern="1200" dirty="0" err="1">
                <a:effectLst/>
              </a:rPr>
              <a:t>hàng</a:t>
            </a:r>
            <a:r>
              <a:rPr lang="en-US" sz="1200" b="0" kern="1200" dirty="0">
                <a:effectLst/>
              </a:rPr>
              <a:t>,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thấy</a:t>
            </a:r>
            <a:r>
              <a:rPr lang="en-US" sz="1200" b="0" kern="1200" dirty="0">
                <a:effectLst/>
              </a:rPr>
              <a:t> </a:t>
            </a:r>
            <a:r>
              <a:rPr lang="en-US" sz="1200" b="0" kern="1200" dirty="0" err="1">
                <a:effectLst/>
              </a:rPr>
              <a:t>đường</a:t>
            </a:r>
            <a:r>
              <a:rPr lang="en-US" sz="1200" b="0" kern="1200" dirty="0">
                <a:effectLst/>
              </a:rPr>
              <a:t> link </a:t>
            </a:r>
            <a:r>
              <a:rPr lang="en-US" sz="1200" b="0" kern="1200" dirty="0" err="1">
                <a:effectLst/>
              </a:rPr>
              <a:t>khá</a:t>
            </a:r>
            <a:r>
              <a:rPr lang="en-US" sz="1200" b="0" kern="1200" dirty="0">
                <a:effectLst/>
              </a:rPr>
              <a:t> </a:t>
            </a:r>
            <a:r>
              <a:rPr lang="en-US" sz="1200" b="0" kern="1200" dirty="0" err="1">
                <a:effectLst/>
              </a:rPr>
              <a:t>giống</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ngân</a:t>
            </a:r>
            <a:r>
              <a:rPr lang="en-US" sz="1200" b="0" kern="1200" dirty="0">
                <a:effectLst/>
              </a:rPr>
              <a:t> </a:t>
            </a:r>
            <a:r>
              <a:rPr lang="en-US" sz="1200" b="0" kern="1200" dirty="0" err="1">
                <a:effectLst/>
              </a:rPr>
              <a:t>hàng</a:t>
            </a:r>
            <a:r>
              <a:rPr lang="en-US" sz="1200" b="0" kern="1200" dirty="0">
                <a:effectLst/>
              </a:rPr>
              <a:t> </a:t>
            </a:r>
            <a:r>
              <a:rPr lang="en-US" sz="1200" b="0" kern="1200" dirty="0" err="1">
                <a:effectLst/>
              </a:rPr>
              <a:t>thật</a:t>
            </a:r>
            <a:r>
              <a:rPr lang="en-US" sz="1200" b="0" kern="1200" dirty="0">
                <a:effectLst/>
              </a:rPr>
              <a:t>. Trang </a:t>
            </a:r>
            <a:r>
              <a:rPr lang="en-US" sz="1200" b="0" kern="1200" dirty="0" err="1">
                <a:effectLst/>
              </a:rPr>
              <a:t>mở</a:t>
            </a:r>
            <a:r>
              <a:rPr lang="en-US" sz="1200" b="0" kern="1200" dirty="0">
                <a:effectLst/>
              </a:rPr>
              <a:t> </a:t>
            </a:r>
            <a:r>
              <a:rPr lang="en-US" sz="1200" b="0" kern="1200" dirty="0" err="1">
                <a:effectLst/>
              </a:rPr>
              <a:t>ra</a:t>
            </a:r>
            <a:r>
              <a:rPr lang="en-US" sz="1200" b="0" kern="1200" dirty="0">
                <a:effectLst/>
              </a:rPr>
              <a:t> </a:t>
            </a:r>
            <a:r>
              <a:rPr lang="en-US" sz="1200" b="0" kern="1200" dirty="0" err="1">
                <a:effectLst/>
              </a:rPr>
              <a:t>cũng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giao</a:t>
            </a:r>
            <a:r>
              <a:rPr lang="en-US" sz="1200" b="0" kern="1200" dirty="0">
                <a:effectLst/>
              </a:rPr>
              <a:t> </a:t>
            </a:r>
            <a:r>
              <a:rPr lang="en-US" sz="1200" b="0" kern="1200" dirty="0" err="1">
                <a:effectLst/>
              </a:rPr>
              <a:t>diện</a:t>
            </a:r>
            <a:r>
              <a:rPr lang="en-US" sz="1200" b="0" kern="1200" dirty="0">
                <a:effectLst/>
              </a:rPr>
              <a:t> </a:t>
            </a:r>
            <a:r>
              <a:rPr lang="en-US" sz="1200" b="0" kern="1200" dirty="0" err="1">
                <a:effectLst/>
              </a:rPr>
              <a:t>đăng</a:t>
            </a:r>
            <a:r>
              <a:rPr lang="en-US" sz="1200" b="0" kern="1200" dirty="0">
                <a:effectLst/>
              </a:rPr>
              <a:t> </a:t>
            </a:r>
            <a:r>
              <a:rPr lang="en-US" sz="1200" b="0" kern="1200" dirty="0" err="1">
                <a:effectLst/>
              </a:rPr>
              <a:t>nhập</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có</a:t>
            </a:r>
            <a:r>
              <a:rPr lang="en-US" sz="1200" b="0" kern="1200" dirty="0">
                <a:effectLst/>
              </a:rPr>
              <a:t> HTTPS. </a:t>
            </a:r>
            <a:r>
              <a:rPr lang="en-US" sz="1200" b="0" kern="1200" dirty="0" err="1">
                <a:effectLst/>
              </a:rPr>
              <a:t>Chỉ</a:t>
            </a:r>
            <a:r>
              <a:rPr lang="en-US" sz="1200" b="0" kern="1200" dirty="0">
                <a:effectLst/>
              </a:rPr>
              <a:t> </a:t>
            </a:r>
            <a:r>
              <a:rPr lang="en-US" sz="1200" b="0" kern="1200" dirty="0" err="1">
                <a:effectLst/>
              </a:rPr>
              <a:t>nhìn</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yếu</a:t>
            </a:r>
            <a:r>
              <a:rPr lang="en-US" sz="1200" b="0" kern="1200" dirty="0">
                <a:effectLst/>
              </a:rPr>
              <a:t> </a:t>
            </a:r>
            <a:r>
              <a:rPr lang="en-US" sz="1200" b="0" kern="1200" dirty="0" err="1">
                <a:effectLst/>
              </a:rPr>
              <a:t>tố</a:t>
            </a:r>
            <a:r>
              <a:rPr lang="en-US" sz="1200" b="0" kern="1200" dirty="0">
                <a:effectLst/>
              </a:rPr>
              <a:t> </a:t>
            </a:r>
            <a:r>
              <a:rPr lang="en-US" sz="1200" b="0" kern="1200" dirty="0" err="1">
                <a:effectLst/>
              </a:rPr>
              <a:t>đó</a:t>
            </a:r>
            <a:r>
              <a:rPr lang="en-US" sz="1200" b="0" kern="1200" dirty="0">
                <a:effectLst/>
              </a:rPr>
              <a:t> </a:t>
            </a:r>
            <a:r>
              <a:rPr lang="en-US" sz="1200" b="0" kern="1200" dirty="0" err="1">
                <a:effectLst/>
              </a:rPr>
              <a:t>thì</a:t>
            </a:r>
            <a:r>
              <a:rPr lang="en-US" sz="1200" b="0" kern="1200" dirty="0">
                <a:effectLst/>
              </a:rPr>
              <a:t> </a:t>
            </a:r>
            <a:r>
              <a:rPr lang="en-US" sz="1200" b="0" kern="1200" dirty="0" err="1">
                <a:effectLst/>
              </a:rPr>
              <a:t>vẫn</a:t>
            </a:r>
            <a:r>
              <a:rPr lang="en-US" sz="1200" b="0" kern="1200" dirty="0">
                <a:effectLst/>
              </a:rPr>
              <a:t> </a:t>
            </a:r>
            <a:r>
              <a:rPr lang="en-US" sz="1200" b="0" kern="1200" dirty="0" err="1">
                <a:effectLst/>
              </a:rPr>
              <a:t>khó</a:t>
            </a:r>
            <a:r>
              <a:rPr lang="en-US" sz="1200" b="0" kern="1200" dirty="0">
                <a:effectLst/>
              </a:rPr>
              <a:t> </a:t>
            </a:r>
            <a:r>
              <a:rPr lang="en-US" sz="1200" b="0" kern="1200" dirty="0" err="1">
                <a:effectLst/>
              </a:rPr>
              <a:t>biết</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nên</a:t>
            </a:r>
            <a:r>
              <a:rPr lang="en-US" sz="1200" b="0" kern="1200" dirty="0">
                <a:effectLst/>
              </a:rPr>
              <a:t> </a:t>
            </a:r>
            <a:r>
              <a:rPr lang="en-US" sz="1200" b="0" kern="1200" dirty="0" err="1">
                <a:effectLst/>
              </a:rPr>
              <a:t>nhập</a:t>
            </a:r>
            <a:r>
              <a:rPr lang="en-US" sz="1200" b="0" kern="1200" dirty="0">
                <a:effectLst/>
              </a:rPr>
              <a:t> </a:t>
            </a:r>
            <a:r>
              <a:rPr lang="en-US" sz="1200" b="0" kern="1200" dirty="0" err="1">
                <a:effectLst/>
              </a:rPr>
              <a:t>thông</a:t>
            </a:r>
            <a:r>
              <a:rPr lang="en-US" sz="1200" b="0" kern="1200" dirty="0">
                <a:effectLst/>
              </a:rPr>
              <a:t> tin hay </a:t>
            </a:r>
            <a:r>
              <a:rPr lang="en-US" sz="1200" b="0" kern="1200" dirty="0" err="1">
                <a:effectLst/>
              </a:rPr>
              <a:t>không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Vì</a:t>
            </a:r>
            <a:r>
              <a:rPr lang="en-US" sz="1200" b="0" kern="1200" dirty="0">
                <a:effectLst/>
              </a:rPr>
              <a:t> </a:t>
            </a:r>
            <a:r>
              <a:rPr lang="en-US" sz="1200" b="0" kern="1200" dirty="0" err="1">
                <a:effectLst/>
              </a:rPr>
              <a:t>vậy</a:t>
            </a:r>
            <a:r>
              <a:rPr lang="en-US" sz="1200" b="0" kern="1200" dirty="0">
                <a:effectLst/>
              </a:rPr>
              <a:t>, </a:t>
            </a:r>
            <a:r>
              <a:rPr lang="en-US" sz="1200" b="0" kern="1200" dirty="0" err="1">
                <a:effectLst/>
              </a:rPr>
              <a:t>mục</a:t>
            </a:r>
            <a:r>
              <a:rPr lang="en-US" sz="1200" b="0" kern="1200" dirty="0">
                <a:effectLst/>
              </a:rPr>
              <a:t> </a:t>
            </a:r>
            <a:r>
              <a:rPr lang="en-US" sz="1200" b="0" kern="1200" dirty="0" err="1">
                <a:effectLst/>
              </a:rPr>
              <a:t>tiêu</a:t>
            </a:r>
            <a:r>
              <a:rPr lang="en-US" sz="1200" b="0" kern="1200" dirty="0">
                <a:effectLst/>
              </a:rPr>
              <a:t> </a:t>
            </a:r>
            <a:r>
              <a:rPr lang="en-US" sz="1200" b="0" kern="1200" dirty="0" err="1">
                <a:effectLst/>
              </a:rPr>
              <a:t>của</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xây</a:t>
            </a:r>
            <a:r>
              <a:rPr lang="en-US" sz="1200" b="0" kern="1200" dirty="0">
                <a:effectLst/>
              </a:rPr>
              <a:t> </a:t>
            </a:r>
            <a:r>
              <a:rPr lang="en-US" sz="1200" b="0" kern="1200" dirty="0" err="1">
                <a:effectLst/>
              </a:rPr>
              <a:t>dựng</a:t>
            </a:r>
            <a:r>
              <a:rPr lang="en-US" sz="1200" b="0" kern="1200" dirty="0">
                <a:effectLst/>
              </a:rPr>
              <a:t> </a:t>
            </a:r>
            <a:r>
              <a:rPr lang="en-US" sz="1200" b="0" kern="1200" dirty="0" err="1">
                <a:effectLst/>
              </a:rPr>
              <a:t>công</a:t>
            </a:r>
            <a:r>
              <a:rPr lang="en-US" sz="1200" b="0" kern="1200" dirty="0">
                <a:effectLst/>
              </a:rPr>
              <a:t> </a:t>
            </a:r>
            <a:r>
              <a:rPr lang="en-US" sz="1200" b="0" kern="1200" dirty="0" err="1">
                <a:effectLst/>
              </a:rPr>
              <a:t>cụ</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một</a:t>
            </a:r>
            <a:r>
              <a:rPr lang="en-US" sz="1200" b="0" kern="1200" dirty="0">
                <a:effectLst/>
              </a:rPr>
              <a:t> URL,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liên</a:t>
            </a:r>
            <a:r>
              <a:rPr lang="en-US" sz="1200" b="0" kern="1200" dirty="0">
                <a:effectLst/>
              </a:rPr>
              <a:t> </a:t>
            </a:r>
            <a:r>
              <a:rPr lang="en-US" sz="1200" b="0" kern="1200" dirty="0" err="1">
                <a:effectLst/>
              </a:rPr>
              <a:t>quan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trả</a:t>
            </a:r>
            <a:r>
              <a:rPr lang="en-US" sz="1200" b="0" kern="1200" dirty="0">
                <a:effectLst/>
              </a:rPr>
              <a:t> </a:t>
            </a:r>
            <a:r>
              <a:rPr lang="en-US" sz="1200" b="0" kern="1200" dirty="0" err="1">
                <a:effectLst/>
              </a:rPr>
              <a:t>về</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rủi</a:t>
            </a:r>
            <a:r>
              <a:rPr lang="en-US" sz="1200" b="0" kern="1200" dirty="0">
                <a:effectLst/>
              </a:rPr>
              <a:t> </a:t>
            </a:r>
            <a:r>
              <a:rPr lang="en-US" sz="1200" b="0" kern="1200" dirty="0" err="1">
                <a:effectLst/>
              </a:rPr>
              <a:t>ro</a:t>
            </a:r>
            <a:r>
              <a:rPr lang="en-US" sz="1200" b="0" kern="1200" dirty="0">
                <a:effectLst/>
              </a:rPr>
              <a:t> </a:t>
            </a:r>
            <a:r>
              <a:rPr lang="en-US" sz="1200" b="0" kern="1200" dirty="0" err="1">
                <a:effectLst/>
              </a:rPr>
              <a:t>từ</a:t>
            </a:r>
            <a:r>
              <a:rPr lang="en-US" sz="1200" b="0" kern="1200" dirty="0">
                <a:effectLst/>
              </a:rPr>
              <a:t> 0 </a:t>
            </a:r>
            <a:r>
              <a:rPr lang="en-US" sz="1200" b="0" kern="1200" dirty="0" err="1">
                <a:effectLst/>
              </a:rPr>
              <a:t>đến</a:t>
            </a:r>
            <a:r>
              <a:rPr lang="en-US" sz="1200" b="0" kern="1200" dirty="0">
                <a:effectLst/>
              </a:rPr>
              <a:t> 100, </a:t>
            </a:r>
            <a:r>
              <a:rPr lang="en-US" sz="1200" b="0" kern="1200" dirty="0" err="1">
                <a:effectLst/>
              </a:rPr>
              <a:t>kèm</a:t>
            </a:r>
            <a:r>
              <a:rPr lang="en-US" sz="1200" b="0" kern="1200" dirty="0">
                <a:effectLst/>
              </a:rPr>
              <a:t> </a:t>
            </a:r>
            <a:r>
              <a:rPr lang="en-US" sz="1200" b="0" kern="1200" dirty="0" err="1">
                <a:effectLst/>
              </a:rPr>
              <a:t>lời</a:t>
            </a:r>
            <a:r>
              <a:rPr lang="en-US" sz="1200" b="0" kern="1200" dirty="0">
                <a:effectLst/>
              </a:rPr>
              <a:t> </a:t>
            </a:r>
            <a:r>
              <a:rPr lang="en-US" sz="1200" b="0" kern="1200" dirty="0" err="1">
                <a:effectLst/>
              </a:rPr>
              <a:t>giải</a:t>
            </a:r>
            <a:r>
              <a:rPr lang="en-US" sz="1200" b="0" kern="1200" dirty="0">
                <a:effectLst/>
              </a:rPr>
              <a:t> </a:t>
            </a:r>
            <a:r>
              <a:rPr lang="en-US" sz="1200" b="0" kern="1200" dirty="0" err="1">
                <a:effectLst/>
              </a:rPr>
              <a:t>thích</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luật</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học</a:t>
            </a:r>
            <a:r>
              <a:rPr lang="en-US" sz="1200" b="0" kern="1200" dirty="0">
                <a:effectLst/>
              </a:rPr>
              <a:t> </a:t>
            </a:r>
            <a:r>
              <a:rPr lang="en-US" sz="1200" b="0" kern="1200" dirty="0" err="1">
                <a:effectLst/>
              </a:rPr>
              <a:t>máy</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danh</a:t>
            </a:r>
            <a:r>
              <a:rPr lang="en-US" sz="1200" b="0" kern="1200" dirty="0">
                <a:effectLst/>
              </a:rPr>
              <a:t> </a:t>
            </a:r>
            <a:r>
              <a:rPr lang="en-US" sz="1200" b="0" kern="1200" dirty="0" err="1">
                <a:effectLst/>
              </a:rPr>
              <a:t>sách</a:t>
            </a:r>
            <a:r>
              <a:rPr lang="en-US" sz="1200" b="0" kern="1200" dirty="0">
                <a:effectLst/>
              </a:rPr>
              <a:t> </a:t>
            </a:r>
            <a:r>
              <a:rPr lang="en-US" sz="1200" b="0" kern="1200" dirty="0" err="1">
                <a:effectLst/>
              </a:rPr>
              <a:t>đen</a:t>
            </a:r>
            <a:r>
              <a:rPr lang="en-US" sz="1200" b="0" kern="1200" dirty="0">
                <a:effectLst/>
              </a:rPr>
              <a:t>. </a:t>
            </a:r>
            <a:r>
              <a:rPr lang="en-US" sz="1200" b="0" kern="1200" dirty="0" err="1">
                <a:effectLst/>
              </a:rPr>
              <a:t>Mỗi</a:t>
            </a:r>
            <a:r>
              <a:rPr lang="en-US" sz="1200" b="0" kern="1200" dirty="0">
                <a:effectLst/>
              </a:rPr>
              <a:t> </a:t>
            </a:r>
            <a:r>
              <a:rPr lang="en-US" sz="1200" b="0" kern="1200" dirty="0" err="1">
                <a:effectLst/>
              </a:rPr>
              <a:t>nguồn</a:t>
            </a:r>
            <a:r>
              <a:rPr lang="en-US" sz="1200" b="0" kern="1200" dirty="0">
                <a:effectLst/>
              </a:rPr>
              <a:t> </a:t>
            </a:r>
            <a:r>
              <a:rPr lang="en-US" sz="1200" b="0" kern="1200" dirty="0" err="1">
                <a:effectLst/>
              </a:rPr>
              <a:t>cung</a:t>
            </a:r>
            <a:r>
              <a:rPr lang="en-US" sz="1200" b="0" kern="1200" dirty="0">
                <a:effectLst/>
              </a:rPr>
              <a:t> </a:t>
            </a:r>
            <a:r>
              <a:rPr lang="en-US" sz="1200" b="0" kern="1200" dirty="0" err="1">
                <a:effectLst/>
              </a:rPr>
              <a:t>cấp</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để</a:t>
            </a:r>
            <a:r>
              <a:rPr lang="en-US" sz="1200" b="0" kern="1200" dirty="0">
                <a:effectLst/>
              </a:rPr>
              <a:t> </a:t>
            </a:r>
            <a:r>
              <a:rPr lang="en-US" sz="1200" b="0" kern="1200" dirty="0" err="1">
                <a:effectLst/>
              </a:rPr>
              <a:t>hỗ</a:t>
            </a:r>
            <a:r>
              <a:rPr lang="en-US" sz="1200" b="0" kern="1200" dirty="0">
                <a:effectLst/>
              </a:rPr>
              <a:t> </a:t>
            </a:r>
            <a:r>
              <a:rPr lang="en-US" sz="1200" b="0" kern="1200" dirty="0" err="1">
                <a:effectLst/>
              </a:rPr>
              <a:t>trợ</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Em </a:t>
            </a:r>
            <a:r>
              <a:rPr lang="en-US" sz="1200" b="0" kern="1200" dirty="0" err="1">
                <a:effectLst/>
              </a:rPr>
              <a:t>cũng</a:t>
            </a:r>
            <a:r>
              <a:rPr lang="en-US" sz="1200" b="0" kern="1200" dirty="0">
                <a:effectLst/>
              </a:rPr>
              <a:t> </a:t>
            </a:r>
            <a:r>
              <a:rPr lang="en-US" sz="1200" b="0" kern="1200" dirty="0" err="1">
                <a:effectLst/>
              </a:rPr>
              <a:t>phân</a:t>
            </a:r>
            <a:r>
              <a:rPr lang="en-US" sz="1200" b="0" kern="1200" dirty="0">
                <a:effectLst/>
              </a:rPr>
              <a:t> </a:t>
            </a:r>
            <a:r>
              <a:rPr lang="en-US" sz="1200" b="0" kern="1200" dirty="0" err="1">
                <a:effectLst/>
              </a:rPr>
              <a:t>biệt</a:t>
            </a:r>
            <a:r>
              <a:rPr lang="en-US" sz="1200" b="0" kern="1200" dirty="0">
                <a:effectLst/>
              </a:rPr>
              <a:t> </a:t>
            </a:r>
            <a:r>
              <a:rPr lang="en-US" sz="1200" b="0" kern="1200" dirty="0" err="1">
                <a:effectLst/>
              </a:rPr>
              <a:t>rõ</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rủi</a:t>
            </a:r>
            <a:r>
              <a:rPr lang="en-US" sz="1200" b="0" kern="1200" dirty="0">
                <a:effectLst/>
              </a:rPr>
              <a:t> </a:t>
            </a:r>
            <a:r>
              <a:rPr lang="en-US" sz="1200" b="0" kern="1200" dirty="0" err="1">
                <a:effectLst/>
              </a:rPr>
              <a:t>ro</a:t>
            </a:r>
            <a:r>
              <a:rPr lang="en-US" sz="1200" b="0" kern="1200" dirty="0">
                <a:effectLst/>
              </a:rPr>
              <a:t> </a:t>
            </a:r>
            <a:r>
              <a:rPr lang="en-US" sz="1200" b="0" kern="1200" dirty="0" err="1">
                <a:effectLst/>
              </a:rPr>
              <a:t>với</a:t>
            </a:r>
            <a:r>
              <a:rPr lang="en-US" sz="1200" b="0" kern="1200" dirty="0">
                <a:effectLst/>
              </a:rPr>
              <a:t> </a:t>
            </a:r>
            <a:r>
              <a:rPr lang="en-US" sz="1200" b="0" kern="1200" dirty="0" err="1">
                <a:effectLst/>
              </a:rPr>
              <a:t>xác</a:t>
            </a:r>
            <a:r>
              <a:rPr lang="en-US" sz="1200" b="0" kern="1200" dirty="0">
                <a:effectLst/>
              </a:rPr>
              <a:t> </a:t>
            </a:r>
            <a:r>
              <a:rPr lang="en-US" sz="1200" b="0" kern="1200" dirty="0" err="1">
                <a:effectLst/>
              </a:rPr>
              <a:t>suất</a:t>
            </a:r>
            <a:r>
              <a:rPr lang="en-US" sz="1200" b="0" kern="1200" dirty="0">
                <a:effectLst/>
              </a:rPr>
              <a:t> </a:t>
            </a:r>
            <a:r>
              <a:rPr lang="en-US" sz="1200" b="0" kern="1200" dirty="0" err="1">
                <a:effectLst/>
              </a:rPr>
              <a:t>của</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Chẳng</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rủi</a:t>
            </a:r>
            <a:r>
              <a:rPr lang="en-US" sz="1200" b="0" kern="1200" dirty="0">
                <a:effectLst/>
              </a:rPr>
              <a:t> </a:t>
            </a:r>
            <a:r>
              <a:rPr lang="en-US" sz="1200" b="0" kern="1200" dirty="0" err="1">
                <a:effectLst/>
              </a:rPr>
              <a:t>ro</a:t>
            </a:r>
            <a:r>
              <a:rPr lang="en-US" sz="1200" b="0" kern="1200" dirty="0">
                <a:effectLst/>
              </a:rPr>
              <a:t> 80 </a:t>
            </a:r>
            <a:r>
              <a:rPr lang="en-US" sz="1200" b="0" kern="1200" dirty="0" err="1">
                <a:effectLst/>
              </a:rPr>
              <a:t>không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nghĩa</a:t>
            </a:r>
            <a:r>
              <a:rPr lang="en-US" sz="1200" b="0" kern="1200" dirty="0">
                <a:effectLst/>
              </a:rPr>
              <a:t> </a:t>
            </a:r>
            <a:r>
              <a:rPr lang="en-US" sz="1200" b="0" kern="1200" dirty="0" err="1">
                <a:effectLst/>
              </a:rPr>
              <a:t>là</a:t>
            </a:r>
            <a:r>
              <a:rPr lang="en-US" sz="1200" b="0" kern="1200" dirty="0">
                <a:effectLst/>
              </a:rPr>
              <a:t> website </a:t>
            </a:r>
            <a:r>
              <a:rPr lang="en-US" sz="1200" b="0" kern="1200" dirty="0" err="1">
                <a:effectLst/>
              </a:rPr>
              <a:t>có</a:t>
            </a:r>
            <a:r>
              <a:rPr lang="en-US" sz="1200" b="0" kern="1200" dirty="0">
                <a:effectLst/>
              </a:rPr>
              <a:t> </a:t>
            </a:r>
            <a:r>
              <a:rPr lang="en-US" sz="1200" b="0" kern="1200" dirty="0" err="1">
                <a:effectLst/>
              </a:rPr>
              <a:t>đúng</a:t>
            </a:r>
            <a:r>
              <a:rPr lang="en-US" sz="1200" b="0" kern="1200" dirty="0">
                <a:effectLst/>
              </a:rPr>
              <a:t> 80% </a:t>
            </a:r>
            <a:r>
              <a:rPr lang="en-US" sz="1200" b="0" kern="1200" dirty="0" err="1">
                <a:effectLst/>
              </a:rPr>
              <a:t>khả</a:t>
            </a:r>
            <a:r>
              <a:rPr lang="en-US" sz="1200" b="0" kern="1200" dirty="0">
                <a:effectLst/>
              </a:rPr>
              <a:t> </a:t>
            </a:r>
            <a:r>
              <a:rPr lang="en-US" sz="1200" b="0" kern="1200" dirty="0" err="1">
                <a:effectLst/>
              </a:rPr>
              <a:t>năng</a:t>
            </a:r>
            <a:r>
              <a:rPr lang="en-US" sz="1200" b="0" kern="1200" dirty="0">
                <a:effectLst/>
              </a:rPr>
              <a:t> </a:t>
            </a:r>
            <a:r>
              <a:rPr lang="en-US" sz="1200" b="0" kern="1200" dirty="0" err="1">
                <a:effectLst/>
              </a:rPr>
              <a:t>lừa</a:t>
            </a:r>
            <a:r>
              <a:rPr lang="en-US" sz="1200" b="0" kern="1200" dirty="0">
                <a:effectLst/>
              </a:rPr>
              <a:t> </a:t>
            </a:r>
            <a:r>
              <a:rPr lang="en-US" sz="1200" b="0" kern="1200" dirty="0" err="1">
                <a:effectLst/>
              </a:rPr>
              <a:t>đảo</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Để</a:t>
            </a:r>
            <a:r>
              <a:rPr lang="en-US" sz="1200" b="0" kern="1200" dirty="0">
                <a:effectLst/>
              </a:rPr>
              <a:t> </a:t>
            </a:r>
            <a:r>
              <a:rPr lang="en-US" sz="1200" b="0" kern="1200" dirty="0" err="1">
                <a:effectLst/>
              </a:rPr>
              <a:t>thực</a:t>
            </a:r>
            <a:r>
              <a:rPr lang="en-US" sz="1200" b="0" kern="1200" dirty="0">
                <a:effectLst/>
              </a:rPr>
              <a:t> </a:t>
            </a:r>
            <a:r>
              <a:rPr lang="en-US" sz="1200" b="0" kern="1200" dirty="0" err="1">
                <a:effectLst/>
              </a:rPr>
              <a:t>hiện</a:t>
            </a:r>
            <a:r>
              <a:rPr lang="en-US" sz="1200" b="0" kern="1200" dirty="0">
                <a:effectLst/>
              </a:rPr>
              <a:t> </a:t>
            </a:r>
            <a:r>
              <a:rPr lang="en-US" sz="1200" b="0" kern="1200" dirty="0" err="1">
                <a:effectLst/>
              </a:rPr>
              <a:t>luồng</a:t>
            </a:r>
            <a:r>
              <a:rPr lang="en-US" sz="1200" b="0" kern="1200" dirty="0">
                <a:effectLst/>
              </a:rPr>
              <a:t> </a:t>
            </a:r>
            <a:r>
              <a:rPr lang="en-US" sz="1200" b="0" kern="1200" dirty="0" err="1">
                <a:effectLst/>
              </a:rPr>
              <a:t>xử</a:t>
            </a:r>
            <a:r>
              <a:rPr lang="en-US" sz="1200" b="0" kern="1200" dirty="0">
                <a:effectLst/>
              </a:rPr>
              <a:t> </a:t>
            </a:r>
            <a:r>
              <a:rPr lang="en-US" sz="1200" b="0" kern="1200" dirty="0" err="1">
                <a:effectLst/>
              </a:rPr>
              <a:t>lý</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công</a:t>
            </a:r>
            <a:r>
              <a:rPr lang="en-US" sz="1200" b="0" kern="1200" dirty="0">
                <a:effectLst/>
              </a:rPr>
              <a:t> </a:t>
            </a:r>
            <a:r>
              <a:rPr lang="en-US" sz="1200" b="0" kern="1200" dirty="0" err="1">
                <a:effectLst/>
              </a:rPr>
              <a:t>nghệ</a:t>
            </a:r>
            <a:r>
              <a:rPr lang="en-US" sz="1200" b="0" kern="1200" dirty="0">
                <a:effectLst/>
              </a:rPr>
              <a:t> </a:t>
            </a:r>
            <a:r>
              <a:rPr lang="en-US" sz="1200" b="0" kern="1200" dirty="0" err="1">
                <a:effectLst/>
              </a:rPr>
              <a:t>sau</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3 — Công </a:t>
            </a:r>
            <a:r>
              <a:rPr lang="en-US" sz="1200" b="1" kern="1200" dirty="0" err="1">
                <a:effectLst/>
              </a:rPr>
              <a:t>nghệ</a:t>
            </a:r>
            <a:r>
              <a:rPr lang="en-US" sz="1200" b="1" kern="1200" dirty="0">
                <a:effectLst/>
              </a:rPr>
              <a:t> </a:t>
            </a:r>
            <a:r>
              <a:rPr lang="en-US" sz="1200" b="1" kern="1200" dirty="0" err="1">
                <a:effectLst/>
              </a:rPr>
              <a:t>và</a:t>
            </a:r>
            <a:r>
              <a:rPr lang="en-US" sz="1200" b="1" kern="1200" dirty="0">
                <a:effectLst/>
              </a:rPr>
              <a:t> </a:t>
            </a:r>
            <a:r>
              <a:rPr lang="en-US" sz="1200" b="1" kern="1200" dirty="0" err="1">
                <a:effectLst/>
              </a:rPr>
              <a:t>tổ</a:t>
            </a:r>
            <a:r>
              <a:rPr lang="en-US" sz="1200" b="1" kern="1200" dirty="0">
                <a:effectLst/>
              </a:rPr>
              <a:t> </a:t>
            </a:r>
            <a:r>
              <a:rPr lang="en-US" sz="1200" b="1" kern="1200" dirty="0" err="1">
                <a:effectLst/>
              </a:rPr>
              <a:t>chức</a:t>
            </a:r>
            <a:r>
              <a:rPr lang="en-US" sz="1200" b="1" kern="1200" dirty="0">
                <a:effectLst/>
              </a:rPr>
              <a:t> </a:t>
            </a:r>
            <a:r>
              <a:rPr lang="en-US" sz="1200" b="1" kern="1200" dirty="0" err="1">
                <a:effectLst/>
              </a:rPr>
              <a:t>mã</a:t>
            </a:r>
            <a:r>
              <a:rPr lang="en-US" sz="1200" b="1" kern="1200" dirty="0">
                <a:effectLst/>
              </a:rPr>
              <a:t> </a:t>
            </a:r>
            <a:r>
              <a:rPr lang="en-US" sz="1200" b="1" kern="1200" dirty="0" err="1">
                <a:effectLst/>
              </a:rPr>
              <a:t>nguồn</a:t>
            </a:r>
            <a:endParaRPr lang="en-US" sz="1200" b="0" kern="1200" dirty="0">
              <a:effectLst/>
            </a:endParaRPr>
          </a:p>
          <a:p>
            <a:br>
              <a:rPr lang="en-US" sz="1200" b="0" kern="1200" dirty="0">
                <a:effectLst/>
              </a:rPr>
            </a:br>
            <a:endParaRPr lang="en-US" sz="1200" b="0" kern="1200" dirty="0">
              <a:effectLst/>
            </a:endParaRPr>
          </a:p>
          <a:p>
            <a:r>
              <a:rPr lang="en-US" sz="1200" b="0" kern="1200" dirty="0" err="1">
                <a:effectLst/>
              </a:rPr>
              <a:t>Phần</a:t>
            </a:r>
            <a:r>
              <a:rPr lang="en-US" sz="1200" b="0" kern="1200" dirty="0">
                <a:effectLst/>
              </a:rPr>
              <a:t> web </a:t>
            </a:r>
            <a:r>
              <a:rPr lang="en-US" sz="1200" b="0" kern="1200" dirty="0" err="1">
                <a:effectLst/>
              </a:rPr>
              <a:t>và</a:t>
            </a:r>
            <a:r>
              <a:rPr lang="en-US" sz="1200" b="0" kern="1200" dirty="0">
                <a:effectLst/>
              </a:rPr>
              <a:t> API </a:t>
            </a:r>
            <a:r>
              <a:rPr lang="en-US" sz="1200" b="0" kern="1200" dirty="0" err="1">
                <a:effectLst/>
              </a:rPr>
              <a:t>của</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FastAPI</a:t>
            </a:r>
            <a:r>
              <a:rPr lang="en-US" sz="1200" b="0" kern="1200" dirty="0">
                <a:effectLst/>
              </a:rPr>
              <a:t>. Giao </a:t>
            </a:r>
            <a:r>
              <a:rPr lang="en-US" sz="1200" b="0" kern="1200" dirty="0" err="1">
                <a:effectLst/>
              </a:rPr>
              <a:t>diện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dựng</a:t>
            </a:r>
            <a:r>
              <a:rPr lang="en-US" sz="1200" b="0" kern="1200" dirty="0">
                <a:effectLst/>
              </a:rPr>
              <a:t> </a:t>
            </a:r>
            <a:r>
              <a:rPr lang="en-US" sz="1200" b="0" kern="1200" dirty="0" err="1">
                <a:effectLst/>
              </a:rPr>
              <a:t>bằng</a:t>
            </a:r>
            <a:r>
              <a:rPr lang="en-US" sz="1200" b="0" kern="1200" dirty="0">
                <a:effectLst/>
              </a:rPr>
              <a:t> Jinja2, </a:t>
            </a:r>
            <a:r>
              <a:rPr lang="en-US" sz="1200" b="0" kern="1200" dirty="0" err="1">
                <a:effectLst/>
              </a:rPr>
              <a:t>còn</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lượt</a:t>
            </a:r>
            <a:r>
              <a:rPr lang="en-US" sz="1200" b="0" kern="1200" dirty="0">
                <a:effectLst/>
              </a:rPr>
              <a:t> </a:t>
            </a:r>
            <a:r>
              <a:rPr lang="en-US" sz="1200" b="0" kern="1200" dirty="0" err="1">
                <a:effectLst/>
              </a:rPr>
              <a:t>quét</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lưu</a:t>
            </a:r>
            <a:r>
              <a:rPr lang="en-US" sz="1200" b="0" kern="1200" dirty="0">
                <a:effectLst/>
              </a:rPr>
              <a:t> </a:t>
            </a:r>
            <a:r>
              <a:rPr lang="en-US" sz="1200" b="0" kern="1200" dirty="0" err="1">
                <a:effectLst/>
              </a:rPr>
              <a:t>thông</a:t>
            </a:r>
            <a:r>
              <a:rPr lang="en-US" sz="1200" b="0" kern="1200" dirty="0">
                <a:effectLst/>
              </a:rPr>
              <a:t> qua </a:t>
            </a:r>
            <a:r>
              <a:rPr lang="en-US" sz="1200" b="0" kern="1200" dirty="0" err="1">
                <a:effectLst/>
              </a:rPr>
              <a:t>SQLAlchemy</a:t>
            </a:r>
            <a:r>
              <a:rPr lang="en-US" sz="1200" b="0" kern="1200" dirty="0">
                <a:effectLst/>
              </a:rPr>
              <a:t>. </a:t>
            </a:r>
            <a:r>
              <a:rPr lang="en-US" sz="1200" b="0" kern="1200" dirty="0" err="1">
                <a:effectLst/>
              </a:rPr>
              <a:t>Bản</a:t>
            </a:r>
            <a:r>
              <a:rPr lang="en-US" sz="1200" b="0" kern="1200" dirty="0">
                <a:effectLst/>
              </a:rPr>
              <a:t> demo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SQLite, </a:t>
            </a:r>
            <a:r>
              <a:rPr lang="en-US" sz="1200" b="0" kern="1200" dirty="0" err="1">
                <a:effectLst/>
              </a:rPr>
              <a:t>và</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cũng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cấu</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cho</a:t>
            </a:r>
            <a:r>
              <a:rPr lang="en-US" sz="1200" b="0" kern="1200" dirty="0">
                <a:effectLst/>
              </a:rPr>
              <a:t> PostgreSQL.</a:t>
            </a:r>
          </a:p>
          <a:p>
            <a:br>
              <a:rPr lang="en-US" sz="1200" b="0" kern="1200" dirty="0">
                <a:effectLst/>
              </a:rPr>
            </a:br>
            <a:endParaRPr lang="en-US" sz="1200" b="0" kern="1200" dirty="0">
              <a:effectLst/>
            </a:endParaRPr>
          </a:p>
          <a:p>
            <a:r>
              <a:rPr lang="en-US" sz="1200" b="0" kern="1200" dirty="0">
                <a:effectLst/>
              </a:rPr>
              <a:t>Ở </a:t>
            </a:r>
            <a:r>
              <a:rPr lang="en-US" sz="1200" b="0" kern="1200" dirty="0" err="1">
                <a:effectLst/>
              </a:rPr>
              <a:t>phần</a:t>
            </a:r>
            <a:r>
              <a:rPr lang="en-US" sz="1200" b="0" kern="1200" dirty="0">
                <a:effectLst/>
              </a:rPr>
              <a:t> </a:t>
            </a:r>
            <a:r>
              <a:rPr lang="en-US" sz="1200" b="0" kern="1200" dirty="0" err="1">
                <a:effectLst/>
              </a:rPr>
              <a:t>phân</a:t>
            </a:r>
            <a:r>
              <a:rPr lang="en-US" sz="1200" b="0" kern="1200" dirty="0">
                <a:effectLst/>
              </a:rPr>
              <a:t> </a:t>
            </a:r>
            <a:r>
              <a:rPr lang="en-US" sz="1200" b="0" kern="1200" dirty="0" err="1">
                <a:effectLst/>
              </a:rPr>
              <a:t>tích</a:t>
            </a:r>
            <a:r>
              <a:rPr lang="en-US" sz="1200" b="0" kern="1200" dirty="0">
                <a:effectLst/>
              </a:rPr>
              <a:t>, </a:t>
            </a:r>
            <a:r>
              <a:rPr lang="en-US" sz="1200" b="0" kern="1200" dirty="0" err="1">
                <a:effectLst/>
              </a:rPr>
              <a:t>httpx</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gửi</a:t>
            </a:r>
            <a:r>
              <a:rPr lang="en-US" sz="1200" b="0" kern="1200" dirty="0">
                <a:effectLst/>
              </a:rPr>
              <a:t> </a:t>
            </a:r>
            <a:r>
              <a:rPr lang="en-US" sz="1200" b="0" kern="1200" dirty="0" err="1">
                <a:effectLst/>
              </a:rPr>
              <a:t>yêu</a:t>
            </a:r>
            <a:r>
              <a:rPr lang="en-US" sz="1200" b="0" kern="1200" dirty="0">
                <a:effectLst/>
              </a:rPr>
              <a:t> </a:t>
            </a:r>
            <a:r>
              <a:rPr lang="en-US" sz="1200" b="0" kern="1200" dirty="0" err="1">
                <a:effectLst/>
              </a:rPr>
              <a:t>cầu</a:t>
            </a:r>
            <a:r>
              <a:rPr lang="en-US" sz="1200" b="0" kern="1200" dirty="0">
                <a:effectLst/>
              </a:rPr>
              <a:t> </a:t>
            </a:r>
            <a:r>
              <a:rPr lang="en-US" sz="1200" b="0" kern="1200" dirty="0" err="1">
                <a:effectLst/>
              </a:rPr>
              <a:t>đến</a:t>
            </a:r>
            <a:r>
              <a:rPr lang="en-US" sz="1200" b="0" kern="1200" dirty="0">
                <a:effectLst/>
              </a:rPr>
              <a:t> website, </a:t>
            </a:r>
            <a:r>
              <a:rPr lang="en-US" sz="1200" b="0" kern="1200" dirty="0" err="1">
                <a:effectLst/>
              </a:rPr>
              <a:t>BeautifulSoup</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đọc</a:t>
            </a:r>
            <a:r>
              <a:rPr lang="en-US" sz="1200" b="0" kern="1200" dirty="0">
                <a:effectLst/>
              </a:rPr>
              <a:t> HTML. Thông tin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cứu</a:t>
            </a:r>
            <a:r>
              <a:rPr lang="en-US" sz="1200" b="0" kern="1200" dirty="0">
                <a:effectLst/>
              </a:rPr>
              <a:t> qua RDAP </a:t>
            </a:r>
            <a:r>
              <a:rPr lang="en-US" sz="1200" b="0" kern="1200" dirty="0" err="1">
                <a:effectLst/>
              </a:rPr>
              <a:t>hoặc</a:t>
            </a:r>
            <a:r>
              <a:rPr lang="en-US" sz="1200" b="0" kern="1200" dirty="0">
                <a:effectLst/>
              </a:rPr>
              <a:t> WHOIS. </a:t>
            </a:r>
            <a:r>
              <a:rPr lang="en-US" sz="1200" b="0" kern="1200" dirty="0" err="1">
                <a:effectLst/>
              </a:rPr>
              <a:t>Phần</a:t>
            </a:r>
            <a:r>
              <a:rPr lang="en-US" sz="1200" b="0" kern="1200" dirty="0">
                <a:effectLst/>
              </a:rPr>
              <a:t> </a:t>
            </a:r>
            <a:r>
              <a:rPr lang="en-US" sz="1200" b="0" kern="1200" dirty="0" err="1">
                <a:effectLst/>
              </a:rPr>
              <a:t>học</a:t>
            </a:r>
            <a:r>
              <a:rPr lang="en-US" sz="1200" b="0" kern="1200" dirty="0">
                <a:effectLst/>
              </a:rPr>
              <a:t> </a:t>
            </a:r>
            <a:r>
              <a:rPr lang="en-US" sz="1200" b="0" kern="1200" dirty="0" err="1">
                <a:effectLst/>
              </a:rPr>
              <a:t>máy</a:t>
            </a:r>
            <a:r>
              <a:rPr lang="en-US" sz="1200" b="0" kern="1200" dirty="0">
                <a:effectLst/>
              </a:rPr>
              <a:t>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scikit-learn </a:t>
            </a:r>
            <a:r>
              <a:rPr lang="en-US" sz="1200" b="0" kern="1200" dirty="0" err="1">
                <a:effectLst/>
              </a:rPr>
              <a:t>và</a:t>
            </a:r>
            <a:r>
              <a:rPr lang="en-US" sz="1200" b="0" kern="1200" dirty="0">
                <a:effectLst/>
              </a:rPr>
              <a:t> </a:t>
            </a:r>
            <a:r>
              <a:rPr lang="en-US" sz="1200" b="0" kern="1200" dirty="0" err="1">
                <a:effectLst/>
              </a:rPr>
              <a:t>XGBoost</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Mã</a:t>
            </a:r>
            <a:r>
              <a:rPr lang="en-US" sz="1200" b="0" kern="1200" dirty="0">
                <a:effectLst/>
              </a:rPr>
              <a:t> </a:t>
            </a:r>
            <a:r>
              <a:rPr lang="en-US" sz="1200" b="0" kern="1200" dirty="0" err="1">
                <a:effectLst/>
              </a:rPr>
              <a:t>nguồn</a:t>
            </a:r>
            <a:r>
              <a:rPr lang="en-US" sz="1200" b="0" kern="1200" dirty="0">
                <a:effectLst/>
              </a:rPr>
              <a:t> </a:t>
            </a:r>
            <a:r>
              <a:rPr lang="en-US" sz="1200" b="0" kern="1200" dirty="0" err="1">
                <a:effectLst/>
              </a:rPr>
              <a:t>được</a:t>
            </a:r>
            <a:r>
              <a:rPr lang="en-US" sz="1200" b="0" kern="1200" dirty="0">
                <a:effectLst/>
              </a:rPr>
              <a:t> chia </a:t>
            </a:r>
            <a:r>
              <a:rPr lang="en-US" sz="1200" b="0" kern="1200" dirty="0" err="1">
                <a:effectLst/>
              </a:rPr>
              <a:t>theo</a:t>
            </a:r>
            <a:r>
              <a:rPr lang="en-US" sz="1200" b="0" kern="1200" dirty="0">
                <a:effectLst/>
              </a:rPr>
              <a:t> </a:t>
            </a:r>
            <a:r>
              <a:rPr lang="en-US" sz="1200" b="0" kern="1200" dirty="0" err="1">
                <a:effectLst/>
              </a:rPr>
              <a:t>nhiệm</a:t>
            </a:r>
            <a:r>
              <a:rPr lang="en-US" sz="1200" b="0" kern="1200" dirty="0">
                <a:effectLst/>
              </a:rPr>
              <a:t> </a:t>
            </a:r>
            <a:r>
              <a:rPr lang="en-US" sz="1200" b="0" kern="1200" dirty="0" err="1">
                <a:effectLst/>
              </a:rPr>
              <a:t>vụ</a:t>
            </a:r>
            <a:r>
              <a:rPr lang="en-US" sz="1200" b="0" kern="1200" dirty="0">
                <a:effectLst/>
              </a:rPr>
              <a:t>, </a:t>
            </a:r>
            <a:r>
              <a:rPr lang="en-US" sz="1200" b="0" kern="1200" dirty="0" err="1">
                <a:effectLst/>
              </a:rPr>
              <a:t>như</a:t>
            </a:r>
            <a:r>
              <a:rPr lang="en-US" sz="1200" b="0" kern="1200" dirty="0">
                <a:effectLst/>
              </a:rPr>
              <a:t> </a:t>
            </a:r>
            <a:r>
              <a:rPr lang="en-US" sz="1200" b="0" kern="1200" dirty="0" err="1">
                <a:effectLst/>
              </a:rPr>
              <a:t>thu</a:t>
            </a:r>
            <a:r>
              <a:rPr lang="en-US" sz="1200" b="0" kern="1200" dirty="0">
                <a:effectLst/>
              </a:rPr>
              <a:t> </a:t>
            </a:r>
            <a:r>
              <a:rPr lang="en-US" sz="1200" b="0" kern="1200" dirty="0" err="1">
                <a:effectLst/>
              </a:rPr>
              <a:t>thập</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trích</a:t>
            </a:r>
            <a:r>
              <a:rPr lang="en-US" sz="1200" b="0" kern="1200" dirty="0">
                <a:effectLst/>
              </a:rPr>
              <a:t> </a:t>
            </a:r>
            <a:r>
              <a:rPr lang="en-US" sz="1200" b="0" kern="1200" dirty="0" err="1">
                <a:effectLst/>
              </a:rPr>
              <a:t>xuất</a:t>
            </a:r>
            <a:r>
              <a:rPr lang="en-US" sz="1200" b="0" kern="1200" dirty="0">
                <a:effectLst/>
              </a:rPr>
              <a:t>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đoán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Cách</a:t>
            </a:r>
            <a:r>
              <a:rPr lang="en-US" sz="1200" b="0" kern="1200" dirty="0">
                <a:effectLst/>
              </a:rPr>
              <a:t> chia </a:t>
            </a:r>
            <a:r>
              <a:rPr lang="en-US" sz="1200" b="0" kern="1200" dirty="0" err="1">
                <a:effectLst/>
              </a:rPr>
              <a:t>này</a:t>
            </a:r>
            <a:r>
              <a:rPr lang="en-US" sz="1200" b="0" kern="1200" dirty="0">
                <a:effectLst/>
              </a:rPr>
              <a:t> </a:t>
            </a:r>
            <a:r>
              <a:rPr lang="en-US" sz="1200" b="0" kern="1200" dirty="0" err="1">
                <a:effectLst/>
              </a:rPr>
              <a:t>giúp</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từng</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thuận</a:t>
            </a:r>
            <a:r>
              <a:rPr lang="en-US" sz="1200" b="0" kern="1200" dirty="0">
                <a:effectLst/>
              </a:rPr>
              <a:t> </a:t>
            </a:r>
            <a:r>
              <a:rPr lang="en-US" sz="1200" b="0" kern="1200" dirty="0" err="1">
                <a:effectLst/>
              </a:rPr>
              <a:t>tiện</a:t>
            </a:r>
            <a:r>
              <a:rPr lang="en-US" sz="1200" b="0" kern="1200" dirty="0">
                <a:effectLst/>
              </a:rPr>
              <a:t> </a:t>
            </a:r>
            <a:r>
              <a:rPr lang="en-US" sz="1200" b="0" kern="1200" dirty="0" err="1">
                <a:effectLst/>
              </a:rPr>
              <a:t>hơn</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thay</a:t>
            </a:r>
            <a:r>
              <a:rPr lang="en-US" sz="1200" b="0" kern="1200" dirty="0">
                <a:effectLst/>
              </a:rPr>
              <a:t> </a:t>
            </a:r>
            <a:r>
              <a:rPr lang="en-US" sz="1200" b="0" kern="1200" dirty="0" err="1">
                <a:effectLst/>
              </a:rPr>
              <a:t>đổi</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thành</a:t>
            </a:r>
            <a:r>
              <a:rPr lang="en-US" sz="1200" b="0" kern="1200" dirty="0">
                <a:effectLst/>
              </a:rPr>
              <a:t> </a:t>
            </a:r>
            <a:r>
              <a:rPr lang="en-US" sz="1200" b="0" kern="1200" dirty="0" err="1">
                <a:effectLst/>
              </a:rPr>
              <a:t>phần</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Dự</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hiện</a:t>
            </a:r>
            <a:r>
              <a:rPr lang="en-US" sz="1200" b="0" kern="1200" dirty="0">
                <a:effectLst/>
              </a:rPr>
              <a:t> </a:t>
            </a:r>
            <a:r>
              <a:rPr lang="en-US" sz="1200" b="0" kern="1200" dirty="0" err="1">
                <a:effectLst/>
              </a:rPr>
              <a:t>có</a:t>
            </a:r>
            <a:r>
              <a:rPr lang="en-US" sz="1200" b="0" kern="1200" dirty="0">
                <a:effectLst/>
              </a:rPr>
              <a:t> 16 </a:t>
            </a:r>
            <a:r>
              <a:rPr lang="en-US" sz="1200" b="0" kern="1200" dirty="0" err="1">
                <a:effectLst/>
              </a:rPr>
              <a:t>kiểm</a:t>
            </a:r>
            <a:r>
              <a:rPr lang="en-US" sz="1200" b="0" kern="1200" dirty="0">
                <a:effectLst/>
              </a:rPr>
              <a:t> </a:t>
            </a:r>
            <a:r>
              <a:rPr lang="en-US" sz="1200" b="0" kern="1200" dirty="0" err="1">
                <a:effectLst/>
              </a:rPr>
              <a:t>thử</a:t>
            </a:r>
            <a:r>
              <a:rPr lang="en-US" sz="1200" b="0" kern="1200" dirty="0">
                <a:effectLst/>
              </a:rPr>
              <a:t> </a:t>
            </a:r>
            <a:r>
              <a:rPr lang="en-US" sz="1200" b="0" kern="1200" dirty="0" err="1">
                <a:effectLst/>
              </a:rPr>
              <a:t>tự</a:t>
            </a:r>
            <a:r>
              <a:rPr lang="en-US" sz="1200" b="0" kern="1200" dirty="0">
                <a:effectLst/>
              </a:rPr>
              <a:t> </a:t>
            </a:r>
            <a:r>
              <a:rPr lang="en-US" sz="1200" b="0" kern="1200" dirty="0" err="1">
                <a:effectLst/>
              </a:rPr>
              <a:t>động</a:t>
            </a:r>
            <a:r>
              <a:rPr lang="en-US" sz="1200" b="0" kern="1200" dirty="0">
                <a:effectLst/>
              </a:rPr>
              <a:t> </a:t>
            </a:r>
            <a:r>
              <a:rPr lang="en-US" sz="1200" b="0" kern="1200" dirty="0" err="1">
                <a:effectLst/>
              </a:rPr>
              <a:t>bằng</a:t>
            </a:r>
            <a:r>
              <a:rPr lang="en-US" sz="1200" b="0" kern="1200" dirty="0">
                <a:effectLst/>
              </a:rPr>
              <a:t> </a:t>
            </a:r>
            <a:r>
              <a:rPr lang="en-US" sz="1200" b="0" kern="1200" dirty="0" err="1">
                <a:effectLst/>
              </a:rPr>
              <a:t>pytest</a:t>
            </a:r>
            <a:r>
              <a:rPr lang="en-US" sz="1200" b="0" kern="1200" dirty="0">
                <a:effectLst/>
              </a:rPr>
              <a:t>. Trong </a:t>
            </a:r>
            <a:r>
              <a:rPr lang="en-US" sz="1200" b="0" kern="1200" dirty="0" err="1">
                <a:effectLst/>
              </a:rPr>
              <a:t>lần</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phục</a:t>
            </a:r>
            <a:r>
              <a:rPr lang="en-US" sz="1200" b="0" kern="1200" dirty="0">
                <a:effectLst/>
              </a:rPr>
              <a:t> </a:t>
            </a:r>
            <a:r>
              <a:rPr lang="en-US" sz="1200" b="0" kern="1200" dirty="0" err="1">
                <a:effectLst/>
              </a:rPr>
              <a:t>vụ</a:t>
            </a:r>
            <a:r>
              <a:rPr lang="en-US" sz="1200" b="0" kern="1200" dirty="0">
                <a:effectLst/>
              </a:rPr>
              <a:t> </a:t>
            </a:r>
            <a:r>
              <a:rPr lang="en-US" sz="1200" b="0" kern="1200" dirty="0" err="1">
                <a:effectLst/>
              </a:rPr>
              <a:t>báo</a:t>
            </a:r>
            <a:r>
              <a:rPr lang="en-US" sz="1200" b="0" kern="1200" dirty="0">
                <a:effectLst/>
              </a:rPr>
              <a:t> </a:t>
            </a:r>
            <a:r>
              <a:rPr lang="en-US" sz="1200" b="0" kern="1200" dirty="0" err="1">
                <a:effectLst/>
              </a:rPr>
              <a:t>cáo</a:t>
            </a:r>
            <a:r>
              <a:rPr lang="en-US" sz="1200" b="0" kern="1200" dirty="0">
                <a:effectLst/>
              </a:rPr>
              <a:t>, </a:t>
            </a:r>
            <a:r>
              <a:rPr lang="en-US" sz="1200" b="0" kern="1200" dirty="0" err="1">
                <a:effectLst/>
              </a:rPr>
              <a:t>cả</a:t>
            </a:r>
            <a:r>
              <a:rPr lang="en-US" sz="1200" b="0" kern="1200" dirty="0">
                <a:effectLst/>
              </a:rPr>
              <a:t> 16 </a:t>
            </a:r>
            <a:r>
              <a:rPr lang="en-US" sz="1200" b="0" kern="1200" dirty="0" err="1">
                <a:effectLst/>
              </a:rPr>
              <a:t>kiểm</a:t>
            </a:r>
            <a:r>
              <a:rPr lang="en-US" sz="1200" b="0" kern="1200" dirty="0">
                <a:effectLst/>
              </a:rPr>
              <a:t> </a:t>
            </a:r>
            <a:r>
              <a:rPr lang="en-US" sz="1200" b="0" kern="1200" dirty="0" err="1">
                <a:effectLst/>
              </a:rPr>
              <a:t>thử</a:t>
            </a:r>
            <a:r>
              <a:rPr lang="en-US" sz="1200" b="0" kern="1200" dirty="0">
                <a:effectLst/>
              </a:rPr>
              <a:t> </a:t>
            </a:r>
            <a:r>
              <a:rPr lang="en-US" sz="1200" b="0" kern="1200" dirty="0" err="1">
                <a:effectLst/>
              </a:rPr>
              <a:t>đều</a:t>
            </a:r>
            <a:r>
              <a:rPr lang="en-US" sz="1200" b="0" kern="1200" dirty="0">
                <a:effectLst/>
              </a:rPr>
              <a:t> </a:t>
            </a:r>
            <a:r>
              <a:rPr lang="en-US" sz="1200" b="0" kern="1200" dirty="0" err="1">
                <a:effectLst/>
              </a:rPr>
              <a:t>chạy</a:t>
            </a:r>
            <a:r>
              <a:rPr lang="en-US" sz="1200" b="0" kern="1200" dirty="0">
                <a:effectLst/>
              </a:rPr>
              <a:t> </a:t>
            </a:r>
            <a:r>
              <a:rPr lang="en-US" sz="1200" b="0" kern="1200" dirty="0" err="1">
                <a:effectLst/>
              </a:rPr>
              <a:t>thành</a:t>
            </a:r>
            <a:r>
              <a:rPr lang="en-US" sz="1200" b="0" kern="1200" dirty="0">
                <a:effectLst/>
              </a:rPr>
              <a:t> </a:t>
            </a:r>
            <a:r>
              <a:rPr lang="en-US" sz="1200" b="0" kern="1200" dirty="0" err="1">
                <a:effectLst/>
              </a:rPr>
              <a:t>công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Tiếp</a:t>
            </a:r>
            <a:r>
              <a:rPr lang="en-US" sz="1200" b="0" kern="1200" dirty="0">
                <a:effectLst/>
              </a:rPr>
              <a:t> </a:t>
            </a:r>
            <a:r>
              <a:rPr lang="en-US" sz="1200" b="0" kern="1200" dirty="0" err="1">
                <a:effectLst/>
              </a:rPr>
              <a:t>theo</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cách</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thành</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phối</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một</a:t>
            </a:r>
            <a:r>
              <a:rPr lang="en-US" sz="1200" b="0" kern="1200" dirty="0">
                <a:effectLst/>
              </a:rPr>
              <a:t> URL.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4 — </a:t>
            </a:r>
            <a:r>
              <a:rPr lang="en-US" sz="1200" b="1" kern="1200" dirty="0" err="1">
                <a:effectLst/>
              </a:rPr>
              <a:t>Kiến</a:t>
            </a:r>
            <a:r>
              <a:rPr lang="en-US" sz="1200" b="1" kern="1200" dirty="0">
                <a:effectLst/>
              </a:rPr>
              <a:t> </a:t>
            </a:r>
            <a:r>
              <a:rPr lang="en-US" sz="1200" b="1" kern="1200" dirty="0" err="1">
                <a:effectLst/>
              </a:rPr>
              <a:t>trúc</a:t>
            </a:r>
            <a:r>
              <a:rPr lang="en-US" sz="1200" b="1" kern="1200" dirty="0">
                <a:effectLst/>
              </a:rPr>
              <a:t> </a:t>
            </a:r>
            <a:r>
              <a:rPr lang="en-US" sz="1200" b="1" kern="1200" dirty="0" err="1">
                <a:effectLst/>
              </a:rPr>
              <a:t>xử</a:t>
            </a:r>
            <a:r>
              <a:rPr lang="en-US" sz="1200" b="1" kern="1200" dirty="0">
                <a:effectLst/>
              </a:rPr>
              <a:t> </a:t>
            </a:r>
            <a:r>
              <a:rPr lang="en-US" sz="1200" b="1" kern="1200" dirty="0" err="1">
                <a:effectLst/>
              </a:rPr>
              <a:t>lý</a:t>
            </a:r>
            <a:r>
              <a:rPr lang="en-US" sz="1200" b="1" kern="1200" dirty="0">
                <a:effectLst/>
              </a:rPr>
              <a:t> </a:t>
            </a:r>
            <a:r>
              <a:rPr lang="en-US" sz="1200" b="1" kern="1200" dirty="0" err="1">
                <a:effectLst/>
              </a:rPr>
              <a:t>một</a:t>
            </a:r>
            <a:r>
              <a:rPr lang="en-US" sz="1200" b="1" kern="1200" dirty="0">
                <a:effectLst/>
              </a:rPr>
              <a:t> URL</a:t>
            </a:r>
            <a:endParaRPr lang="en-US" sz="1200" b="0" kern="1200" dirty="0">
              <a:effectLst/>
            </a:endParaRPr>
          </a:p>
          <a:p>
            <a:br>
              <a:rPr lang="en-US" sz="1200" b="0" kern="1200" dirty="0">
                <a:effectLst/>
              </a:rPr>
            </a:br>
            <a:endParaRPr lang="en-US" sz="1200" b="0" i="1" kern="1200" dirty="0">
              <a:effectLst/>
            </a:endParaRPr>
          </a:p>
          <a:p>
            <a:r>
              <a:rPr lang="en-US" sz="1200" b="0" i="1" kern="1200" dirty="0">
                <a:effectLst/>
              </a:rPr>
              <a:t>[</a:t>
            </a:r>
            <a:r>
              <a:rPr lang="en-US" sz="1200" b="0" i="1" kern="1200" dirty="0" err="1">
                <a:effectLst/>
              </a:rPr>
              <a:t>Chỉ</a:t>
            </a:r>
            <a:r>
              <a:rPr lang="en-US" sz="1200" b="0" i="1" kern="1200" dirty="0">
                <a:effectLst/>
              </a:rPr>
              <a:t> </a:t>
            </a:r>
            <a:r>
              <a:rPr lang="en-US" sz="1200" b="0" i="1" kern="1200" dirty="0" err="1">
                <a:effectLst/>
              </a:rPr>
              <a:t>theo</a:t>
            </a:r>
            <a:r>
              <a:rPr lang="en-US" sz="1200" b="0" i="1" kern="1200" dirty="0">
                <a:effectLst/>
              </a:rPr>
              <a:t> </a:t>
            </a:r>
            <a:r>
              <a:rPr lang="en-US" sz="1200" b="0" i="1" kern="1200" dirty="0" err="1">
                <a:effectLst/>
              </a:rPr>
              <a:t>chiều</a:t>
            </a:r>
            <a:r>
              <a:rPr lang="en-US" sz="1200" b="0" i="1" kern="1200" dirty="0">
                <a:effectLst/>
              </a:rPr>
              <a:t> </a:t>
            </a:r>
            <a:r>
              <a:rPr lang="en-US" sz="1200" b="0" i="1" kern="1200" dirty="0" err="1">
                <a:effectLst/>
              </a:rPr>
              <a:t>mũi</a:t>
            </a:r>
            <a:r>
              <a:rPr lang="en-US" sz="1200" b="0" i="1" kern="1200" dirty="0">
                <a:effectLst/>
              </a:rPr>
              <a:t> </a:t>
            </a:r>
            <a:r>
              <a:rPr lang="en-US" sz="1200" b="0" i="1" kern="1200" dirty="0" err="1">
                <a:effectLst/>
              </a:rPr>
              <a:t>tên</a:t>
            </a:r>
            <a:r>
              <a:rPr lang="en-US" sz="1200" b="0" i="1" kern="1200" dirty="0">
                <a:effectLst/>
              </a:rPr>
              <a:t>: </a:t>
            </a:r>
            <a:r>
              <a:rPr lang="en-US" sz="1200" b="0" i="1" kern="1200" dirty="0" err="1">
                <a:effectLst/>
              </a:rPr>
              <a:t>hàng</a:t>
            </a:r>
            <a:r>
              <a:rPr lang="en-US" sz="1200" b="0" i="1" kern="1200" dirty="0">
                <a:effectLst/>
              </a:rPr>
              <a:t> </a:t>
            </a:r>
            <a:r>
              <a:rPr lang="en-US" sz="1200" b="0" i="1" kern="1200" dirty="0" err="1">
                <a:effectLst/>
              </a:rPr>
              <a:t>trên</a:t>
            </a:r>
            <a:r>
              <a:rPr lang="en-US" sz="1200" b="0" i="1" kern="1200" dirty="0">
                <a:effectLst/>
              </a:rPr>
              <a:t> </a:t>
            </a:r>
            <a:r>
              <a:rPr lang="en-US" sz="1200" b="0" i="1" kern="1200" dirty="0" err="1">
                <a:effectLst/>
              </a:rPr>
              <a:t>từ</a:t>
            </a:r>
            <a:r>
              <a:rPr lang="en-US" sz="1200" b="0" i="1" kern="1200" dirty="0">
                <a:effectLst/>
              </a:rPr>
              <a:t> </a:t>
            </a:r>
            <a:r>
              <a:rPr lang="en-US" sz="1200" b="0" i="1" kern="1200" dirty="0" err="1">
                <a:effectLst/>
              </a:rPr>
              <a:t>trái</a:t>
            </a:r>
            <a:r>
              <a:rPr lang="en-US" sz="1200" b="0" i="1" kern="1200" dirty="0">
                <a:effectLst/>
              </a:rPr>
              <a:t> sang </a:t>
            </a:r>
            <a:r>
              <a:rPr lang="en-US" sz="1200" b="0" i="1" kern="1200" dirty="0" err="1">
                <a:effectLst/>
              </a:rPr>
              <a:t>phải</a:t>
            </a:r>
            <a:r>
              <a:rPr lang="en-US" sz="1200" b="0" i="1" kern="1200" dirty="0">
                <a:effectLst/>
              </a:rPr>
              <a:t>, </a:t>
            </a:r>
            <a:r>
              <a:rPr lang="en-US" sz="1200" b="0" i="1" kern="1200" dirty="0" err="1">
                <a:effectLst/>
              </a:rPr>
              <a:t>xuống</a:t>
            </a:r>
            <a:r>
              <a:rPr lang="en-US" sz="1200" b="0" i="1" kern="1200" dirty="0">
                <a:effectLst/>
              </a:rPr>
              <a:t> </a:t>
            </a:r>
            <a:r>
              <a:rPr lang="en-US" sz="1200" b="0" i="1" kern="1200" dirty="0" err="1">
                <a:effectLst/>
              </a:rPr>
              <a:t>hàng</a:t>
            </a:r>
            <a:r>
              <a:rPr lang="en-US" sz="1200" b="0" i="1" kern="1200" dirty="0">
                <a:effectLst/>
              </a:rPr>
              <a:t> </a:t>
            </a:r>
            <a:r>
              <a:rPr lang="en-US" sz="1200" b="0" i="1" kern="1200" dirty="0" err="1">
                <a:effectLst/>
              </a:rPr>
              <a:t>giữa</a:t>
            </a:r>
            <a:r>
              <a:rPr lang="en-US" sz="1200" b="0" i="1" kern="1200" dirty="0">
                <a:effectLst/>
              </a:rPr>
              <a:t>, </a:t>
            </a:r>
            <a:r>
              <a:rPr lang="en-US" sz="1200" b="0" i="1" kern="1200" dirty="0" err="1">
                <a:effectLst/>
              </a:rPr>
              <a:t>rồi</a:t>
            </a:r>
            <a:r>
              <a:rPr lang="en-US" sz="1200" b="0" i="1" kern="1200" dirty="0">
                <a:effectLst/>
              </a:rPr>
              <a:t> </a:t>
            </a:r>
            <a:r>
              <a:rPr lang="en-US" sz="1200" b="0" i="1" kern="1200" dirty="0" err="1">
                <a:effectLst/>
              </a:rPr>
              <a:t>xuống</a:t>
            </a:r>
            <a:r>
              <a:rPr lang="en-US" sz="1200" b="0" i="1" kern="1200" dirty="0">
                <a:effectLst/>
              </a:rPr>
              <a:t> Risk Engine.]</a:t>
            </a:r>
          </a:p>
          <a:p>
            <a:br>
              <a:rPr lang="en-US" sz="1200" b="0" kern="1200" dirty="0">
                <a:effectLst/>
              </a:rPr>
            </a:br>
            <a:endParaRPr lang="en-US" sz="1200" b="0" kern="1200" dirty="0">
              <a:effectLst/>
            </a:endParaRPr>
          </a:p>
          <a:p>
            <a:r>
              <a:rPr lang="en-US" sz="1200" b="0" kern="1200" dirty="0">
                <a:effectLst/>
              </a:rPr>
              <a:t>Khi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nhập</a:t>
            </a:r>
            <a:r>
              <a:rPr lang="en-US" sz="1200" b="0" kern="1200" dirty="0">
                <a:effectLst/>
              </a:rPr>
              <a:t> URL,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địa</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trước</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chế</a:t>
            </a:r>
            <a:r>
              <a:rPr lang="en-US" sz="1200" b="0" kern="1200" dirty="0">
                <a:effectLst/>
              </a:rPr>
              <a:t> </a:t>
            </a:r>
            <a:r>
              <a:rPr lang="en-US" sz="1200" b="0" kern="1200" dirty="0" err="1">
                <a:effectLst/>
              </a:rPr>
              <a:t>việc</a:t>
            </a:r>
            <a:r>
              <a:rPr lang="en-US" sz="1200" b="0" kern="1200" dirty="0">
                <a:effectLst/>
              </a:rPr>
              <a:t> </a:t>
            </a:r>
            <a:r>
              <a:rPr lang="en-US" sz="1200" b="0" kern="1200" dirty="0" err="1">
                <a:effectLst/>
              </a:rPr>
              <a:t>máy</a:t>
            </a:r>
            <a:r>
              <a:rPr lang="en-US" sz="1200" b="0" kern="1200" dirty="0">
                <a:effectLst/>
              </a:rPr>
              <a:t> </a:t>
            </a:r>
            <a:r>
              <a:rPr lang="en-US" sz="1200" b="0" kern="1200" dirty="0" err="1">
                <a:effectLst/>
              </a:rPr>
              <a:t>chủ</a:t>
            </a:r>
            <a:r>
              <a:rPr lang="en-US" sz="1200" b="0" kern="1200" dirty="0">
                <a:effectLst/>
              </a:rPr>
              <a:t> </a:t>
            </a:r>
            <a:r>
              <a:rPr lang="en-US" sz="1200" b="0" kern="1200" dirty="0" err="1">
                <a:effectLst/>
              </a:rPr>
              <a:t>bị</a:t>
            </a:r>
            <a:r>
              <a:rPr lang="en-US" sz="1200" b="0" kern="1200" dirty="0">
                <a:effectLst/>
              </a:rPr>
              <a:t> </a:t>
            </a:r>
            <a:r>
              <a:rPr lang="en-US" sz="1200" b="0" kern="1200" dirty="0" err="1">
                <a:effectLst/>
              </a:rPr>
              <a:t>lợi</a:t>
            </a:r>
            <a:r>
              <a:rPr lang="en-US" sz="1200" b="0" kern="1200" dirty="0">
                <a:effectLst/>
              </a:rPr>
              <a:t> </a:t>
            </a:r>
            <a:r>
              <a:rPr lang="en-US" sz="1200" b="0" kern="1200" dirty="0" err="1">
                <a:effectLst/>
              </a:rPr>
              <a:t>dụng</a:t>
            </a:r>
            <a:r>
              <a:rPr lang="en-US" sz="1200" b="0" kern="1200" dirty="0">
                <a:effectLst/>
              </a:rPr>
              <a:t> </a:t>
            </a:r>
            <a:r>
              <a:rPr lang="en-US" sz="1200" b="0" kern="1200" dirty="0" err="1">
                <a:effectLst/>
              </a:rPr>
              <a:t>truy</a:t>
            </a:r>
            <a:r>
              <a:rPr lang="en-US" sz="1200" b="0" kern="1200" dirty="0">
                <a:effectLst/>
              </a:rPr>
              <a:t> </a:t>
            </a:r>
            <a:r>
              <a:rPr lang="en-US" sz="1200" b="0" kern="1200" dirty="0" err="1">
                <a:effectLst/>
              </a:rPr>
              <a:t>cập</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mạng</a:t>
            </a:r>
            <a:r>
              <a:rPr lang="en-US" sz="1200" b="0" kern="1200" dirty="0">
                <a:effectLst/>
              </a:rPr>
              <a:t> </a:t>
            </a:r>
            <a:r>
              <a:rPr lang="en-US" sz="1200" b="0" kern="1200" dirty="0" err="1">
                <a:effectLst/>
              </a:rPr>
              <a:t>nội</a:t>
            </a:r>
            <a:r>
              <a:rPr lang="en-US" sz="1200" b="0" kern="1200" dirty="0">
                <a:effectLst/>
              </a:rPr>
              <a:t> </a:t>
            </a:r>
            <a:r>
              <a:rPr lang="en-US" sz="1200" b="0" kern="1200" dirty="0" err="1">
                <a:effectLst/>
              </a:rPr>
              <a:t>bộ</a:t>
            </a:r>
            <a:r>
              <a:rPr lang="en-US" sz="1200" b="0" kern="1200" dirty="0">
                <a:effectLst/>
              </a:rPr>
              <a:t>. Sau </a:t>
            </a:r>
            <a:r>
              <a:rPr lang="en-US" sz="1200" b="0" kern="1200" dirty="0" err="1">
                <a:effectLst/>
              </a:rPr>
              <a:t>đó</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bộ</a:t>
            </a:r>
            <a:r>
              <a:rPr lang="en-US" sz="1200" b="0" kern="1200" dirty="0">
                <a:effectLst/>
              </a:rPr>
              <a:t> </a:t>
            </a:r>
            <a:r>
              <a:rPr lang="en-US" sz="1200" b="0" kern="1200" dirty="0" err="1">
                <a:effectLst/>
              </a:rPr>
              <a:t>phân</a:t>
            </a:r>
            <a:r>
              <a:rPr lang="en-US" sz="1200" b="0" kern="1200" dirty="0">
                <a:effectLst/>
              </a:rPr>
              <a:t> </a:t>
            </a:r>
            <a:r>
              <a:rPr lang="en-US" sz="1200" b="0" kern="1200" dirty="0" err="1">
                <a:effectLst/>
              </a:rPr>
              <a:t>tích</a:t>
            </a:r>
            <a:r>
              <a:rPr lang="en-US" sz="1200" b="0" kern="1200" dirty="0">
                <a:effectLst/>
              </a:rPr>
              <a:t> </a:t>
            </a:r>
            <a:r>
              <a:rPr lang="en-US" sz="1200" b="0" kern="1200" dirty="0" err="1">
                <a:effectLst/>
              </a:rPr>
              <a:t>thu</a:t>
            </a:r>
            <a:r>
              <a:rPr lang="en-US" sz="1200" b="0" kern="1200" dirty="0">
                <a:effectLst/>
              </a:rPr>
              <a:t> </a:t>
            </a:r>
            <a:r>
              <a:rPr lang="en-US" sz="1200" b="0" kern="1200" dirty="0" err="1">
                <a:effectLst/>
              </a:rPr>
              <a:t>thập</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từ</a:t>
            </a:r>
            <a:r>
              <a:rPr lang="en-US" sz="1200" b="0" kern="1200" dirty="0">
                <a:effectLst/>
              </a:rPr>
              <a:t> URL,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chứng</a:t>
            </a:r>
            <a:r>
              <a:rPr lang="en-US" sz="1200" b="0" kern="1200" dirty="0">
                <a:effectLst/>
              </a:rPr>
              <a:t> </a:t>
            </a:r>
            <a:r>
              <a:rPr lang="en-US" sz="1200" b="0" kern="1200" dirty="0" err="1">
                <a:effectLst/>
              </a:rPr>
              <a:t>chỉ</a:t>
            </a:r>
            <a:r>
              <a:rPr lang="en-US" sz="1200" b="0" kern="1200" dirty="0">
                <a:effectLst/>
              </a:rPr>
              <a:t>, HTML </a:t>
            </a:r>
            <a:r>
              <a:rPr lang="en-US" sz="1200" b="0" kern="1200" dirty="0" err="1">
                <a:effectLst/>
              </a:rPr>
              <a:t>và</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thương</a:t>
            </a:r>
            <a:r>
              <a:rPr lang="en-US" sz="1200" b="0" kern="1200" dirty="0">
                <a:effectLst/>
              </a:rPr>
              <a:t> </a:t>
            </a:r>
            <a:r>
              <a:rPr lang="en-US" sz="1200" b="0" kern="1200" dirty="0" err="1">
                <a:effectLst/>
              </a:rPr>
              <a:t>hiệu</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Những</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này</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chuẩn</a:t>
            </a:r>
            <a:r>
              <a:rPr lang="en-US" sz="1200" b="0" kern="1200" dirty="0">
                <a:effectLst/>
              </a:rPr>
              <a:t> </a:t>
            </a:r>
            <a:r>
              <a:rPr lang="en-US" sz="1200" b="0" kern="1200" dirty="0" err="1">
                <a:effectLst/>
              </a:rPr>
              <a:t>hóa</a:t>
            </a:r>
            <a:r>
              <a:rPr lang="en-US" sz="1200" b="0" kern="1200" dirty="0">
                <a:effectLst/>
              </a:rPr>
              <a:t> </a:t>
            </a:r>
            <a:r>
              <a:rPr lang="en-US" sz="1200" b="0" kern="1200" dirty="0" err="1">
                <a:effectLst/>
              </a:rPr>
              <a:t>thành</a:t>
            </a:r>
            <a:r>
              <a:rPr lang="en-US" sz="1200" b="0" kern="1200" dirty="0">
                <a:effectLst/>
              </a:rPr>
              <a:t> 30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Từ</a:t>
            </a:r>
            <a:r>
              <a:rPr lang="en-US" sz="1200" b="0" kern="1200" dirty="0">
                <a:effectLst/>
              </a:rPr>
              <a:t> </a:t>
            </a:r>
            <a:r>
              <a:rPr lang="en-US" sz="1200" b="0" kern="1200" dirty="0" err="1">
                <a:effectLst/>
              </a:rPr>
              <a:t>đó</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luật</a:t>
            </a:r>
            <a:r>
              <a:rPr lang="en-US" sz="1200" b="0" kern="1200" dirty="0">
                <a:effectLst/>
              </a:rPr>
              <a:t> </a:t>
            </a:r>
            <a:r>
              <a:rPr lang="en-US" sz="1200" b="0" kern="1200" dirty="0" err="1">
                <a:effectLst/>
              </a:rPr>
              <a:t>tạo</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lời</a:t>
            </a:r>
            <a:r>
              <a:rPr lang="en-US" sz="1200" b="0" kern="1200" dirty="0">
                <a:effectLst/>
              </a:rPr>
              <a:t> </a:t>
            </a:r>
            <a:r>
              <a:rPr lang="en-US" sz="1200" b="0" kern="1200" dirty="0" err="1">
                <a:effectLst/>
              </a:rPr>
              <a:t>giải</a:t>
            </a:r>
            <a:r>
              <a:rPr lang="en-US" sz="1200" b="0" kern="1200" dirty="0">
                <a:effectLst/>
              </a:rPr>
              <a:t> </a:t>
            </a:r>
            <a:r>
              <a:rPr lang="en-US" sz="1200" b="0" kern="1200" dirty="0" err="1">
                <a:effectLst/>
              </a:rPr>
              <a:t>thích</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XGBoost</a:t>
            </a:r>
            <a:r>
              <a:rPr lang="en-US" sz="1200" b="0" kern="1200" dirty="0">
                <a:effectLst/>
              </a:rPr>
              <a:t> </a:t>
            </a:r>
            <a:r>
              <a:rPr lang="en-US" sz="1200" b="0" kern="1200" dirty="0" err="1">
                <a:effectLst/>
              </a:rPr>
              <a:t>đưa</a:t>
            </a:r>
            <a:r>
              <a:rPr lang="en-US" sz="1200" b="0" kern="1200" dirty="0">
                <a:effectLst/>
              </a:rPr>
              <a:t> </a:t>
            </a:r>
            <a:r>
              <a:rPr lang="en-US" sz="1200" b="0" kern="1200" dirty="0" err="1">
                <a:effectLst/>
              </a:rPr>
              <a:t>ra</a:t>
            </a:r>
            <a:r>
              <a:rPr lang="en-US" sz="1200" b="0" kern="1200" dirty="0">
                <a:effectLst/>
              </a:rPr>
              <a:t> </a:t>
            </a:r>
            <a:r>
              <a:rPr lang="en-US" sz="1200" b="0" kern="1200" dirty="0" err="1">
                <a:effectLst/>
              </a:rPr>
              <a:t>xác</a:t>
            </a:r>
            <a:r>
              <a:rPr lang="en-US" sz="1200" b="0" kern="1200" dirty="0">
                <a:effectLst/>
              </a:rPr>
              <a:t> </a:t>
            </a:r>
            <a:r>
              <a:rPr lang="en-US" sz="1200" b="0" kern="1200" dirty="0" err="1">
                <a:effectLst/>
              </a:rPr>
              <a:t>suất</a:t>
            </a:r>
            <a:r>
              <a:rPr lang="en-US" sz="1200" b="0" kern="1200" dirty="0">
                <a:effectLst/>
              </a:rPr>
              <a:t> phishing </a:t>
            </a:r>
            <a:r>
              <a:rPr lang="en-US" sz="1200" b="0" kern="1200" dirty="0" err="1">
                <a:effectLst/>
              </a:rPr>
              <a:t>ước</a:t>
            </a:r>
            <a:r>
              <a:rPr lang="en-US" sz="1200" b="0" kern="1200" dirty="0">
                <a:effectLst/>
              </a:rPr>
              <a:t> </a:t>
            </a:r>
            <a:r>
              <a:rPr lang="en-US" sz="1200" b="0" kern="1200" dirty="0" err="1">
                <a:effectLst/>
              </a:rPr>
              <a:t>tính</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Riêng</a:t>
            </a:r>
            <a:r>
              <a:rPr lang="en-US" sz="1200" b="0" kern="1200" dirty="0">
                <a:effectLst/>
              </a:rPr>
              <a:t> </a:t>
            </a:r>
            <a:r>
              <a:rPr lang="en-US" sz="1200" b="0" kern="1200" dirty="0" err="1">
                <a:effectLst/>
              </a:rPr>
              <a:t>danh</a:t>
            </a:r>
            <a:r>
              <a:rPr lang="en-US" sz="1200" b="0" kern="1200" dirty="0">
                <a:effectLst/>
              </a:rPr>
              <a:t> </a:t>
            </a:r>
            <a:r>
              <a:rPr lang="en-US" sz="1200" b="0" kern="1200" dirty="0" err="1">
                <a:effectLst/>
              </a:rPr>
              <a:t>sách</a:t>
            </a:r>
            <a:r>
              <a:rPr lang="en-US" sz="1200" b="0" kern="1200" dirty="0">
                <a:effectLst/>
              </a:rPr>
              <a:t> </a:t>
            </a:r>
            <a:r>
              <a:rPr lang="en-US" sz="1200" b="0" kern="1200" dirty="0" err="1">
                <a:effectLst/>
              </a:rPr>
              <a:t>đen</a:t>
            </a:r>
            <a:r>
              <a:rPr lang="en-US" sz="1200" b="0" kern="1200" dirty="0">
                <a:effectLst/>
              </a:rPr>
              <a:t> </a:t>
            </a:r>
            <a:r>
              <a:rPr lang="en-US" sz="1200" b="0" kern="1200" dirty="0" err="1">
                <a:effectLst/>
              </a:rPr>
              <a:t>cung</a:t>
            </a:r>
            <a:r>
              <a:rPr lang="en-US" sz="1200" b="0" kern="1200" dirty="0">
                <a:effectLst/>
              </a:rPr>
              <a:t> </a:t>
            </a:r>
            <a:r>
              <a:rPr lang="en-US" sz="1200" b="0" kern="1200" dirty="0" err="1">
                <a:effectLst/>
              </a:rPr>
              <a:t>cấp</a:t>
            </a:r>
            <a:r>
              <a:rPr lang="en-US" sz="1200" b="0" kern="1200" dirty="0">
                <a:effectLst/>
              </a:rPr>
              <a:t> </a:t>
            </a:r>
            <a:r>
              <a:rPr lang="en-US" sz="1200" b="0" kern="1200" dirty="0" err="1">
                <a:effectLst/>
              </a:rPr>
              <a:t>bằng</a:t>
            </a:r>
            <a:r>
              <a:rPr lang="en-US" sz="1200" b="0" kern="1200" dirty="0">
                <a:effectLst/>
              </a:rPr>
              <a:t> </a:t>
            </a:r>
            <a:r>
              <a:rPr lang="en-US" sz="1200" b="0" kern="1200" dirty="0" err="1">
                <a:effectLst/>
              </a:rPr>
              <a:t>chứng</a:t>
            </a:r>
            <a:r>
              <a:rPr lang="en-US" sz="1200" b="0" kern="1200" dirty="0">
                <a:effectLst/>
              </a:rPr>
              <a:t> </a:t>
            </a:r>
            <a:r>
              <a:rPr lang="en-US" sz="1200" b="0" kern="1200" dirty="0" err="1">
                <a:effectLst/>
              </a:rPr>
              <a:t>trực</a:t>
            </a:r>
            <a:r>
              <a:rPr lang="en-US" sz="1200" b="0" kern="1200" dirty="0">
                <a:effectLst/>
              </a:rPr>
              <a:t> </a:t>
            </a:r>
            <a:r>
              <a:rPr lang="en-US" sz="1200" b="0" kern="1200" dirty="0" err="1">
                <a:effectLst/>
              </a:rPr>
              <a:t>tiếp</a:t>
            </a:r>
            <a:r>
              <a:rPr lang="en-US" sz="1200" b="0" kern="1200" dirty="0">
                <a:effectLst/>
              </a:rPr>
              <a:t> </a:t>
            </a:r>
            <a:r>
              <a:rPr lang="en-US" sz="1200" b="0" kern="1200" dirty="0" err="1">
                <a:effectLst/>
              </a:rPr>
              <a:t>cho</a:t>
            </a:r>
            <a:r>
              <a:rPr lang="en-US" sz="1200" b="0" kern="1200" dirty="0">
                <a:effectLst/>
              </a:rPr>
              <a:t> Risk Engine.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danh</a:t>
            </a:r>
            <a:r>
              <a:rPr lang="en-US" sz="1200" b="0" kern="1200" dirty="0">
                <a:effectLst/>
              </a:rPr>
              <a:t> </a:t>
            </a:r>
            <a:r>
              <a:rPr lang="en-US" sz="1200" b="0" kern="1200" dirty="0" err="1">
                <a:effectLst/>
              </a:rPr>
              <a:t>sách</a:t>
            </a:r>
            <a:r>
              <a:rPr lang="en-US" sz="1200" b="0" kern="1200" dirty="0">
                <a:effectLst/>
              </a:rPr>
              <a:t> </a:t>
            </a:r>
            <a:r>
              <a:rPr lang="en-US" sz="1200" b="0" kern="1200" dirty="0" err="1">
                <a:effectLst/>
              </a:rPr>
              <a:t>đen</a:t>
            </a:r>
            <a:r>
              <a:rPr lang="en-US" sz="1200" b="0" kern="1200" dirty="0">
                <a:effectLst/>
              </a:rPr>
              <a:t> </a:t>
            </a:r>
            <a:r>
              <a:rPr lang="en-US" sz="1200" b="0" kern="1200" dirty="0" err="1">
                <a:effectLst/>
              </a:rPr>
              <a:t>không</a:t>
            </a:r>
            <a:r>
              <a:rPr lang="en-US" sz="1200" b="0" kern="1200" dirty="0">
                <a:effectLst/>
              </a:rPr>
              <a:t> </a:t>
            </a:r>
            <a:r>
              <a:rPr lang="en-US" sz="1200" b="0" kern="1200" dirty="0" err="1">
                <a:effectLst/>
              </a:rPr>
              <a:t>nằm</a:t>
            </a:r>
            <a:r>
              <a:rPr lang="en-US" sz="1200" b="0" kern="1200" dirty="0">
                <a:effectLst/>
              </a:rPr>
              <a:t> </a:t>
            </a:r>
            <a:r>
              <a:rPr lang="en-US" sz="1200" b="0" kern="1200" dirty="0" err="1">
                <a:effectLst/>
              </a:rPr>
              <a:t>trong</a:t>
            </a:r>
            <a:r>
              <a:rPr lang="en-US" sz="1200" b="0" kern="1200" dirty="0">
                <a:effectLst/>
              </a:rPr>
              <a:t> 30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của</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Cuối</a:t>
            </a:r>
            <a:r>
              <a:rPr lang="en-US" sz="1200" b="0" kern="1200" dirty="0">
                <a:effectLst/>
              </a:rPr>
              <a:t> </a:t>
            </a:r>
            <a:r>
              <a:rPr lang="en-US" sz="1200" b="0" kern="1200" dirty="0" err="1">
                <a:effectLst/>
              </a:rPr>
              <a:t>cùng</a:t>
            </a:r>
            <a:r>
              <a:rPr lang="en-US" sz="1200" b="0" kern="1200" dirty="0">
                <a:effectLst/>
              </a:rPr>
              <a:t>, Risk Engine </a:t>
            </a:r>
            <a:r>
              <a:rPr lang="en-US" sz="1200" b="0" kern="1200" dirty="0" err="1">
                <a:effectLst/>
              </a:rPr>
              <a:t>tổng</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nguồn</a:t>
            </a:r>
            <a:r>
              <a:rPr lang="en-US" sz="1200" b="0" kern="1200" dirty="0">
                <a:effectLst/>
              </a:rPr>
              <a:t> </a:t>
            </a:r>
            <a:r>
              <a:rPr lang="en-US" sz="1200" b="0" kern="1200" dirty="0" err="1">
                <a:effectLst/>
              </a:rPr>
              <a:t>thành</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rủi</a:t>
            </a:r>
            <a:r>
              <a:rPr lang="en-US" sz="1200" b="0" kern="1200" dirty="0">
                <a:effectLst/>
              </a:rPr>
              <a:t> ro.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lưu</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cơ</a:t>
            </a:r>
            <a:r>
              <a:rPr lang="en-US" sz="1200" b="0" kern="1200" dirty="0">
                <a:effectLst/>
              </a:rPr>
              <a:t> </a:t>
            </a:r>
            <a:r>
              <a:rPr lang="en-US" sz="1200" b="0" kern="1200" dirty="0" err="1">
                <a:effectLst/>
              </a:rPr>
              <a:t>sở</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rồi</a:t>
            </a:r>
            <a:r>
              <a:rPr lang="en-US" sz="1200" b="0" kern="1200" dirty="0">
                <a:effectLst/>
              </a:rPr>
              <a:t> </a:t>
            </a:r>
            <a:r>
              <a:rPr lang="en-US" sz="1200" b="0" kern="1200" dirty="0" err="1">
                <a:effectLst/>
              </a:rPr>
              <a:t>trả</a:t>
            </a:r>
            <a:r>
              <a:rPr lang="en-US" sz="1200" b="0" kern="1200" dirty="0">
                <a:effectLst/>
              </a:rPr>
              <a:t> </a:t>
            </a:r>
            <a:r>
              <a:rPr lang="en-US" sz="1200" b="0" kern="1200" dirty="0" err="1">
                <a:effectLst/>
              </a:rPr>
              <a:t>lại</a:t>
            </a:r>
            <a:r>
              <a:rPr lang="en-US" sz="1200" b="0" kern="1200" dirty="0">
                <a:effectLst/>
              </a:rPr>
              <a:t> qua </a:t>
            </a:r>
            <a:r>
              <a:rPr lang="en-US" sz="1200" b="0" kern="1200" dirty="0" err="1">
                <a:effectLst/>
              </a:rPr>
              <a:t>giao</a:t>
            </a:r>
            <a:r>
              <a:rPr lang="en-US" sz="1200" b="0" kern="1200" dirty="0">
                <a:effectLst/>
              </a:rPr>
              <a:t> </a:t>
            </a:r>
            <a:r>
              <a:rPr lang="en-US" sz="1200" b="0" kern="1200" dirty="0" err="1">
                <a:effectLst/>
              </a:rPr>
              <a:t>diện</a:t>
            </a:r>
            <a:r>
              <a:rPr lang="en-US" sz="1200" b="0" kern="1200" dirty="0">
                <a:effectLst/>
              </a:rPr>
              <a:t> </a:t>
            </a:r>
            <a:r>
              <a:rPr lang="en-US" sz="1200" b="0" kern="1200" dirty="0" err="1">
                <a:effectLst/>
              </a:rPr>
              <a:t>hoặc</a:t>
            </a:r>
            <a:r>
              <a:rPr lang="en-US" sz="1200" b="0" kern="1200" dirty="0">
                <a:effectLst/>
              </a:rPr>
              <a:t> API.</a:t>
            </a:r>
          </a:p>
          <a:p>
            <a:br>
              <a:rPr lang="en-US" sz="1200" b="0" kern="1200" dirty="0">
                <a:effectLst/>
              </a:rPr>
            </a:br>
            <a:endParaRPr lang="en-US" sz="1200" b="0" kern="1200" dirty="0">
              <a:effectLst/>
            </a:endParaRPr>
          </a:p>
          <a:p>
            <a:r>
              <a:rPr lang="en-US" sz="1200" b="0" kern="1200" dirty="0">
                <a:effectLst/>
              </a:rPr>
              <a:t>Em </a:t>
            </a:r>
            <a:r>
              <a:rPr lang="en-US" sz="1200" b="0" kern="1200" dirty="0" err="1">
                <a:effectLst/>
              </a:rPr>
              <a:t>sẽ</a:t>
            </a:r>
            <a:r>
              <a:rPr lang="en-US" sz="1200" b="0" kern="1200" dirty="0">
                <a:effectLst/>
              </a:rPr>
              <a:t> </a:t>
            </a:r>
            <a:r>
              <a:rPr lang="en-US" sz="1200" b="0" kern="1200" dirty="0" err="1">
                <a:effectLst/>
              </a:rPr>
              <a:t>đi</a:t>
            </a:r>
            <a:r>
              <a:rPr lang="en-US" sz="1200" b="0" kern="1200" dirty="0">
                <a:effectLst/>
              </a:rPr>
              <a:t> </a:t>
            </a:r>
            <a:r>
              <a:rPr lang="en-US" sz="1200" b="0" kern="1200" dirty="0" err="1">
                <a:effectLst/>
              </a:rPr>
              <a:t>cụ</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hơn</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mà</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bộ</a:t>
            </a:r>
            <a:r>
              <a:rPr lang="en-US" sz="1200" b="0" kern="1200" dirty="0">
                <a:effectLst/>
              </a:rPr>
              <a:t> </a:t>
            </a:r>
            <a:r>
              <a:rPr lang="en-US" sz="1200" b="0" kern="1200" dirty="0" err="1">
                <a:effectLst/>
              </a:rPr>
              <a:t>phân</a:t>
            </a:r>
            <a:r>
              <a:rPr lang="en-US" sz="1200" b="0" kern="1200" dirty="0">
                <a:effectLst/>
              </a:rPr>
              <a:t> </a:t>
            </a:r>
            <a:r>
              <a:rPr lang="en-US" sz="1200" b="0" kern="1200" dirty="0" err="1">
                <a:effectLst/>
              </a:rPr>
              <a:t>tích</a:t>
            </a:r>
            <a:r>
              <a:rPr lang="en-US" sz="1200" b="0" kern="1200" dirty="0">
                <a:effectLst/>
              </a:rPr>
              <a:t> </a:t>
            </a:r>
            <a:r>
              <a:rPr lang="en-US" sz="1200" b="0" kern="1200" dirty="0" err="1">
                <a:effectLst/>
              </a:rPr>
              <a:t>thu</a:t>
            </a:r>
            <a:r>
              <a:rPr lang="en-US" sz="1200" b="0" kern="1200" dirty="0">
                <a:effectLst/>
              </a:rPr>
              <a:t> </a:t>
            </a:r>
            <a:r>
              <a:rPr lang="en-US" sz="1200" b="0" kern="1200" dirty="0" err="1">
                <a:effectLst/>
              </a:rPr>
              <a:t>thập</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5 — Các </a:t>
            </a:r>
            <a:r>
              <a:rPr lang="en-US" sz="1200" b="1" kern="1200" dirty="0" err="1">
                <a:effectLst/>
              </a:rPr>
              <a:t>bộ</a:t>
            </a:r>
            <a:r>
              <a:rPr lang="en-US" sz="1200" b="1" kern="1200" dirty="0">
                <a:effectLst/>
              </a:rPr>
              <a:t> </a:t>
            </a:r>
            <a:r>
              <a:rPr lang="en-US" sz="1200" b="1" kern="1200" dirty="0" err="1">
                <a:effectLst/>
              </a:rPr>
              <a:t>phân</a:t>
            </a:r>
            <a:r>
              <a:rPr lang="en-US" sz="1200" b="1" kern="1200" dirty="0">
                <a:effectLst/>
              </a:rPr>
              <a:t> </a:t>
            </a:r>
            <a:r>
              <a:rPr lang="en-US" sz="1200" b="1" kern="1200" dirty="0" err="1">
                <a:effectLst/>
              </a:rPr>
              <a:t>tích</a:t>
            </a:r>
            <a:endParaRPr lang="en-US" sz="1200" b="0" kern="1200" dirty="0">
              <a:effectLst/>
            </a:endParaRPr>
          </a:p>
          <a:p>
            <a:br>
              <a:rPr lang="en-US" sz="1200" b="0" kern="1200" dirty="0">
                <a:effectLst/>
              </a:rPr>
            </a:br>
            <a:endParaRPr lang="en-US" sz="1200" b="0" kern="1200" dirty="0">
              <a:effectLst/>
            </a:endParaRPr>
          </a:p>
          <a:p>
            <a:r>
              <a:rPr lang="en-US" sz="1200" b="0" kern="1200" dirty="0" err="1">
                <a:effectLst/>
              </a:rPr>
              <a:t>Với</a:t>
            </a:r>
            <a:r>
              <a:rPr lang="en-US" sz="1200" b="0" kern="1200" dirty="0">
                <a:effectLst/>
              </a:rPr>
              <a:t> URL,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xem</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đặc</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như</a:t>
            </a:r>
            <a:r>
              <a:rPr lang="en-US" sz="1200" b="0" kern="1200" dirty="0">
                <a:effectLst/>
              </a:rPr>
              <a:t> </a:t>
            </a:r>
            <a:r>
              <a:rPr lang="en-US" sz="1200" b="0" kern="1200" dirty="0" err="1">
                <a:effectLst/>
              </a:rPr>
              <a:t>độ</a:t>
            </a:r>
            <a:r>
              <a:rPr lang="en-US" sz="1200" b="0" kern="1200" dirty="0">
                <a:effectLst/>
              </a:rPr>
              <a:t> </a:t>
            </a:r>
            <a:r>
              <a:rPr lang="en-US" sz="1200" b="0" kern="1200" dirty="0" err="1">
                <a:effectLst/>
              </a:rPr>
              <a:t>dài</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phụ</a:t>
            </a:r>
            <a:r>
              <a:rPr lang="en-US" sz="1200" b="0" kern="1200" dirty="0">
                <a:effectLst/>
              </a:rPr>
              <a:t>, </a:t>
            </a:r>
            <a:r>
              <a:rPr lang="en-US" sz="1200" b="0" kern="1200" dirty="0" err="1">
                <a:effectLst/>
              </a:rPr>
              <a:t>việc</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địa</a:t>
            </a:r>
            <a:r>
              <a:rPr lang="en-US" sz="1200" b="0" kern="1200" dirty="0">
                <a:effectLst/>
              </a:rPr>
              <a:t> </a:t>
            </a:r>
            <a:r>
              <a:rPr lang="en-US" sz="1200" b="0" kern="1200" dirty="0" err="1">
                <a:effectLst/>
              </a:rPr>
              <a:t>chỉ</a:t>
            </a:r>
            <a:r>
              <a:rPr lang="en-US" sz="1200" b="0" kern="1200" dirty="0">
                <a:effectLst/>
              </a:rPr>
              <a:t> IP </a:t>
            </a:r>
            <a:r>
              <a:rPr lang="en-US" sz="1200" b="0" kern="1200" dirty="0" err="1">
                <a:effectLst/>
              </a:rPr>
              <a:t>hoặc</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ký</a:t>
            </a:r>
            <a:r>
              <a:rPr lang="en-US" sz="1200" b="0" kern="1200" dirty="0">
                <a:effectLst/>
              </a:rPr>
              <a:t> </a:t>
            </a:r>
            <a:r>
              <a:rPr lang="en-US" sz="1200" b="0" kern="1200" dirty="0" err="1">
                <a:effectLst/>
              </a:rPr>
              <a:t>tự</a:t>
            </a:r>
            <a:r>
              <a:rPr lang="en-US" sz="1200" b="0" kern="1200" dirty="0">
                <a:effectLst/>
              </a:rPr>
              <a:t> </a:t>
            </a:r>
            <a:r>
              <a:rPr lang="en-US" sz="1200" b="0" kern="1200" dirty="0" err="1">
                <a:effectLst/>
              </a:rPr>
              <a:t>bất</a:t>
            </a:r>
            <a:r>
              <a:rPr lang="en-US" sz="1200" b="0" kern="1200" dirty="0">
                <a:effectLst/>
              </a:rPr>
              <a:t> </a:t>
            </a:r>
            <a:r>
              <a:rPr lang="en-US" sz="1200" b="0" kern="1200" dirty="0" err="1">
                <a:effectLst/>
              </a:rPr>
              <a:t>thường</a:t>
            </a:r>
            <a:r>
              <a:rPr lang="en-US" sz="1200" b="0" kern="1200" dirty="0">
                <a:effectLst/>
              </a:rPr>
              <a:t>. </a:t>
            </a:r>
            <a:r>
              <a:rPr lang="en-US" sz="1200" b="0" kern="1200" dirty="0" err="1">
                <a:effectLst/>
              </a:rPr>
              <a:t>Đây</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lấy</a:t>
            </a:r>
            <a:r>
              <a:rPr lang="en-US" sz="1200" b="0" kern="1200" dirty="0">
                <a:effectLst/>
              </a:rPr>
              <a:t> </a:t>
            </a:r>
            <a:r>
              <a:rPr lang="en-US" sz="1200" b="0" kern="1200" dirty="0" err="1">
                <a:effectLst/>
              </a:rPr>
              <a:t>ngay</a:t>
            </a:r>
            <a:r>
              <a:rPr lang="en-US" sz="1200" b="0" kern="1200" dirty="0">
                <a:effectLst/>
              </a:rPr>
              <a:t> </a:t>
            </a:r>
            <a:r>
              <a:rPr lang="en-US" sz="1200" b="0" kern="1200" dirty="0" err="1">
                <a:effectLst/>
              </a:rPr>
              <a:t>từ</a:t>
            </a:r>
            <a:r>
              <a:rPr lang="en-US" sz="1200" b="0" kern="1200" dirty="0">
                <a:effectLst/>
              </a:rPr>
              <a:t> </a:t>
            </a:r>
            <a:r>
              <a:rPr lang="en-US" sz="1200" b="0" kern="1200" dirty="0" err="1">
                <a:effectLst/>
              </a:rPr>
              <a:t>đường</a:t>
            </a:r>
            <a:r>
              <a:rPr lang="en-US" sz="1200" b="0" kern="1200" dirty="0">
                <a:effectLst/>
              </a:rPr>
              <a:t> link.</a:t>
            </a:r>
          </a:p>
          <a:p>
            <a:br>
              <a:rPr lang="en-US" sz="1200" b="0" kern="1200" dirty="0">
                <a:effectLst/>
              </a:rPr>
            </a:br>
            <a:endParaRPr lang="en-US" sz="1200" b="0" kern="1200" dirty="0">
              <a:effectLst/>
            </a:endParaRPr>
          </a:p>
          <a:p>
            <a:r>
              <a:rPr lang="en-US" sz="1200" b="0" kern="1200" dirty="0" err="1">
                <a:effectLst/>
              </a:rPr>
              <a:t>Với</a:t>
            </a:r>
            <a:r>
              <a:rPr lang="en-US" sz="1200" b="0" kern="1200" dirty="0">
                <a:effectLst/>
              </a:rPr>
              <a:t> domain,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tìm</a:t>
            </a:r>
            <a:r>
              <a:rPr lang="en-US" sz="1200" b="0" kern="1200" dirty="0">
                <a:effectLst/>
              </a:rPr>
              <a:t> </a:t>
            </a:r>
            <a:r>
              <a:rPr lang="en-US" sz="1200" b="0" kern="1200" dirty="0" err="1">
                <a:effectLst/>
              </a:rPr>
              <a:t>tuổi</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Với</a:t>
            </a:r>
            <a:r>
              <a:rPr lang="en-US" sz="1200" b="0" kern="1200" dirty="0">
                <a:effectLst/>
              </a:rPr>
              <a:t> TLS,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chứng</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nối</a:t>
            </a:r>
            <a:r>
              <a:rPr lang="en-US" sz="1200" b="0" kern="1200" dirty="0">
                <a:effectLst/>
              </a:rPr>
              <a:t>, </a:t>
            </a:r>
            <a:r>
              <a:rPr lang="en-US" sz="1200" b="0" kern="1200" dirty="0" err="1">
                <a:effectLst/>
              </a:rPr>
              <a:t>chẳng</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chứng</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phù</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với</a:t>
            </a:r>
            <a:r>
              <a:rPr lang="en-US" sz="1200" b="0" kern="1200" dirty="0">
                <a:effectLst/>
              </a:rPr>
              <a:t> hostname hay </a:t>
            </a:r>
            <a:r>
              <a:rPr lang="en-US" sz="1200" b="0" kern="1200" dirty="0" err="1">
                <a:effectLst/>
              </a:rPr>
              <a:t>không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Phần</a:t>
            </a:r>
            <a:r>
              <a:rPr lang="en-US" sz="1200" b="0" kern="1200" dirty="0">
                <a:effectLst/>
              </a:rPr>
              <a:t> HTML </a:t>
            </a:r>
            <a:r>
              <a:rPr lang="en-US" sz="1200" b="0" kern="1200" dirty="0" err="1">
                <a:effectLst/>
              </a:rPr>
              <a:t>tìm</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như</a:t>
            </a:r>
            <a:r>
              <a:rPr lang="en-US" sz="1200" b="0" kern="1200" dirty="0">
                <a:effectLst/>
              </a:rPr>
              <a:t> ô </a:t>
            </a:r>
            <a:r>
              <a:rPr lang="en-US" sz="1200" b="0" kern="1200" dirty="0" err="1">
                <a:effectLst/>
              </a:rPr>
              <a:t>nhập</a:t>
            </a:r>
            <a:r>
              <a:rPr lang="en-US" sz="1200" b="0" kern="1200" dirty="0">
                <a:effectLst/>
              </a:rPr>
              <a:t> </a:t>
            </a:r>
            <a:r>
              <a:rPr lang="en-US" sz="1200" b="0" kern="1200" dirty="0" err="1">
                <a:effectLst/>
              </a:rPr>
              <a:t>mật</a:t>
            </a:r>
            <a:r>
              <a:rPr lang="en-US" sz="1200" b="0" kern="1200" dirty="0">
                <a:effectLst/>
              </a:rPr>
              <a:t> </a:t>
            </a:r>
            <a:r>
              <a:rPr lang="en-US" sz="1200" b="0" kern="1200" dirty="0" err="1">
                <a:effectLst/>
              </a:rPr>
              <a:t>khẩu</a:t>
            </a:r>
            <a:r>
              <a:rPr lang="en-US" sz="1200" b="0" kern="1200" dirty="0">
                <a:effectLst/>
              </a:rPr>
              <a:t>, </a:t>
            </a:r>
            <a:r>
              <a:rPr lang="en-US" sz="1200" b="0" kern="1200" dirty="0" err="1">
                <a:effectLst/>
              </a:rPr>
              <a:t>trường</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thẻ</a:t>
            </a:r>
            <a:r>
              <a:rPr lang="en-US" sz="1200" b="0" kern="1200" dirty="0">
                <a:effectLst/>
              </a:rPr>
              <a:t>, </a:t>
            </a:r>
            <a:r>
              <a:rPr lang="en-US" sz="1200" b="0" kern="1200" dirty="0" err="1">
                <a:effectLst/>
              </a:rPr>
              <a:t>iframe</a:t>
            </a:r>
            <a:r>
              <a:rPr lang="en-US" sz="1200" b="0" kern="1200" dirty="0">
                <a:effectLst/>
              </a:rPr>
              <a:t> </a:t>
            </a:r>
            <a:r>
              <a:rPr lang="en-US" sz="1200" b="0" kern="1200" dirty="0" err="1">
                <a:effectLst/>
              </a:rPr>
              <a:t>hoặc</a:t>
            </a:r>
            <a:r>
              <a:rPr lang="en-US" sz="1200" b="0" kern="1200" dirty="0">
                <a:effectLst/>
              </a:rPr>
              <a:t> </a:t>
            </a:r>
            <a:r>
              <a:rPr lang="en-US" sz="1200" b="0" kern="1200" dirty="0" err="1">
                <a:effectLst/>
              </a:rPr>
              <a:t>nội</a:t>
            </a:r>
            <a:r>
              <a:rPr lang="en-US" sz="1200" b="0" kern="1200" dirty="0">
                <a:effectLst/>
              </a:rPr>
              <a:t> dung </a:t>
            </a:r>
            <a:r>
              <a:rPr lang="en-US" sz="1200" b="0" kern="1200" dirty="0" err="1">
                <a:effectLst/>
              </a:rPr>
              <a:t>thúc</a:t>
            </a:r>
            <a:r>
              <a:rPr lang="en-US" sz="1200" b="0" kern="1200" dirty="0">
                <a:effectLst/>
              </a:rPr>
              <a:t> </a:t>
            </a:r>
            <a:r>
              <a:rPr lang="en-US" sz="1200" b="0" kern="1200" dirty="0" err="1">
                <a:effectLst/>
              </a:rPr>
              <a:t>ép</a:t>
            </a:r>
            <a:r>
              <a:rPr lang="en-US" sz="1200" b="0" kern="1200" dirty="0">
                <a:effectLst/>
              </a:rPr>
              <a:t>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thực</a:t>
            </a:r>
            <a:r>
              <a:rPr lang="en-US" sz="1200" b="0" kern="1200" dirty="0">
                <a:effectLst/>
              </a:rPr>
              <a:t> </a:t>
            </a:r>
            <a:r>
              <a:rPr lang="en-US" sz="1200" b="0" kern="1200" dirty="0" err="1">
                <a:effectLst/>
              </a:rPr>
              <a:t>hiện</a:t>
            </a:r>
            <a:r>
              <a:rPr lang="en-US" sz="1200" b="0" kern="1200" dirty="0">
                <a:effectLst/>
              </a:rPr>
              <a:t> </a:t>
            </a:r>
            <a:r>
              <a:rPr lang="en-US" sz="1200" b="0" kern="1200" dirty="0" err="1">
                <a:effectLst/>
              </a:rPr>
              <a:t>hành</a:t>
            </a:r>
            <a:r>
              <a:rPr lang="en-US" sz="1200" b="0" kern="1200" dirty="0">
                <a:effectLst/>
              </a:rPr>
              <a:t> </a:t>
            </a:r>
            <a:r>
              <a:rPr lang="en-US" sz="1200" b="0" kern="1200" dirty="0" err="1">
                <a:effectLst/>
              </a:rPr>
              <a:t>động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Phần</a:t>
            </a:r>
            <a:r>
              <a:rPr lang="en-US" sz="1200" b="0" kern="1200" dirty="0">
                <a:effectLst/>
              </a:rPr>
              <a:t> </a:t>
            </a:r>
            <a:r>
              <a:rPr lang="en-US" sz="1200" b="0" kern="1200" dirty="0" err="1">
                <a:effectLst/>
              </a:rPr>
              <a:t>thương</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gần</a:t>
            </a:r>
            <a:r>
              <a:rPr lang="en-US" sz="1200" b="0" kern="1200" dirty="0">
                <a:effectLst/>
              </a:rPr>
              <a:t> </a:t>
            </a:r>
            <a:r>
              <a:rPr lang="en-US" sz="1200" b="0" kern="1200" dirty="0" err="1">
                <a:effectLst/>
              </a:rPr>
              <a:t>giống</a:t>
            </a:r>
            <a:r>
              <a:rPr lang="en-US" sz="1200" b="0" kern="1200" dirty="0">
                <a:effectLst/>
              </a:rPr>
              <a:t> </a:t>
            </a:r>
            <a:r>
              <a:rPr lang="en-US" sz="1200" b="0" kern="1200" dirty="0" err="1">
                <a:effectLst/>
              </a:rPr>
              <a:t>thương</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đã</a:t>
            </a:r>
            <a:r>
              <a:rPr lang="en-US" sz="1200" b="0" kern="1200" dirty="0">
                <a:effectLst/>
              </a:rPr>
              <a:t> </a:t>
            </a:r>
            <a:r>
              <a:rPr lang="en-US" sz="1200" b="0" kern="1200" dirty="0" err="1">
                <a:effectLst/>
              </a:rPr>
              <a:t>cấu</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rồi</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thêm</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đăng</a:t>
            </a:r>
            <a:r>
              <a:rPr lang="en-US" sz="1200" b="0" kern="1200" dirty="0">
                <a:effectLst/>
              </a:rPr>
              <a:t> </a:t>
            </a:r>
            <a:r>
              <a:rPr lang="en-US" sz="1200" b="0" kern="1200" dirty="0" err="1">
                <a:effectLst/>
              </a:rPr>
              <a:t>nhập</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gần</a:t>
            </a:r>
            <a:r>
              <a:rPr lang="en-US" sz="1200" b="0" kern="1200" dirty="0">
                <a:effectLst/>
              </a:rPr>
              <a:t> </a:t>
            </a:r>
            <a:r>
              <a:rPr lang="en-US" sz="1200" b="0" kern="1200" dirty="0" err="1">
                <a:effectLst/>
              </a:rPr>
              <a:t>giống</a:t>
            </a:r>
            <a:r>
              <a:rPr lang="en-US" sz="1200" b="0" kern="1200" dirty="0">
                <a:effectLst/>
              </a:rPr>
              <a:t> </a:t>
            </a:r>
            <a:r>
              <a:rPr lang="en-US" sz="1200" b="0" kern="1200" dirty="0" err="1">
                <a:effectLst/>
              </a:rPr>
              <a:t>thì</a:t>
            </a:r>
            <a:r>
              <a:rPr lang="en-US" sz="1200" b="0" kern="1200" dirty="0">
                <a:effectLst/>
              </a:rPr>
              <a:t> </a:t>
            </a:r>
            <a:r>
              <a:rPr lang="en-US" sz="1200" b="0" kern="1200" dirty="0" err="1">
                <a:effectLst/>
              </a:rPr>
              <a:t>chưa</a:t>
            </a:r>
            <a:r>
              <a:rPr lang="en-US" sz="1200" b="0" kern="1200" dirty="0">
                <a:effectLst/>
              </a:rPr>
              <a:t> </a:t>
            </a:r>
            <a:r>
              <a:rPr lang="en-US" sz="1200" b="0" kern="1200" dirty="0" err="1">
                <a:effectLst/>
              </a:rPr>
              <a:t>đủ</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luận</a:t>
            </a:r>
            <a:r>
              <a:rPr lang="en-US" sz="1200" b="0" kern="1200" dirty="0">
                <a:effectLst/>
              </a:rPr>
              <a:t> </a:t>
            </a:r>
            <a:r>
              <a:rPr lang="en-US" sz="1200" b="0" kern="1200" dirty="0" err="1">
                <a:effectLst/>
              </a:rPr>
              <a:t>giả</a:t>
            </a:r>
            <a:r>
              <a:rPr lang="en-US" sz="1200" b="0" kern="1200" dirty="0">
                <a:effectLst/>
              </a:rPr>
              <a:t> </a:t>
            </a:r>
            <a:r>
              <a:rPr lang="en-US" sz="1200" b="0" kern="1200" dirty="0" err="1">
                <a:effectLst/>
              </a:rPr>
              <a:t>mạo</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Những</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sẽ</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a:t>
            </a:r>
            <a:r>
              <a:rPr lang="en-US" sz="1200" b="0" kern="1200" dirty="0" err="1">
                <a:effectLst/>
              </a:rPr>
              <a:t>như</a:t>
            </a:r>
            <a:r>
              <a:rPr lang="en-US" sz="1200" b="0" kern="1200" dirty="0">
                <a:effectLst/>
              </a:rPr>
              <a:t> </a:t>
            </a:r>
            <a:r>
              <a:rPr lang="en-US" sz="1200" b="0" kern="1200" dirty="0" err="1">
                <a:effectLst/>
              </a:rPr>
              <a:t>thế</a:t>
            </a:r>
            <a:r>
              <a:rPr lang="en-US" sz="1200" b="0" kern="1200" dirty="0">
                <a:effectLst/>
              </a:rPr>
              <a:t> </a:t>
            </a:r>
            <a:r>
              <a:rPr lang="en-US" sz="1200" b="0" kern="1200" dirty="0" err="1">
                <a:effectLst/>
              </a:rPr>
              <a:t>nào</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Trước</a:t>
            </a:r>
            <a:r>
              <a:rPr lang="en-US" sz="1200" b="0" kern="1200" dirty="0">
                <a:effectLst/>
              </a:rPr>
              <a:t> </a:t>
            </a:r>
            <a:r>
              <a:rPr lang="en-US" sz="1200" b="0" kern="1200" dirty="0" err="1">
                <a:effectLst/>
              </a:rPr>
              <a:t>hết</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luật</a:t>
            </a:r>
            <a:r>
              <a:rPr lang="en-US" sz="1200" b="0" kern="1200" dirty="0">
                <a:effectLst/>
              </a:rPr>
              <a:t> heuristic.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6 — </a:t>
            </a:r>
            <a:r>
              <a:rPr lang="en-US" sz="1200" b="1" kern="1200" dirty="0" err="1">
                <a:effectLst/>
              </a:rPr>
              <a:t>Luật</a:t>
            </a:r>
            <a:r>
              <a:rPr lang="en-US" sz="1200" b="1" kern="1200" dirty="0">
                <a:effectLst/>
              </a:rPr>
              <a:t> heuristic </a:t>
            </a:r>
            <a:r>
              <a:rPr lang="en-US" sz="1200" b="1" kern="1200" dirty="0" err="1">
                <a:effectLst/>
              </a:rPr>
              <a:t>tạo</a:t>
            </a:r>
            <a:r>
              <a:rPr lang="en-US" sz="1200" b="1" kern="1200" dirty="0">
                <a:effectLst/>
              </a:rPr>
              <a:t> </a:t>
            </a:r>
            <a:r>
              <a:rPr lang="en-US" sz="1200" b="1" kern="1200" dirty="0" err="1">
                <a:effectLst/>
              </a:rPr>
              <a:t>điểm</a:t>
            </a:r>
            <a:r>
              <a:rPr lang="en-US" sz="1200" b="1" kern="1200" dirty="0">
                <a:effectLst/>
              </a:rPr>
              <a:t> </a:t>
            </a:r>
            <a:r>
              <a:rPr lang="en-US" sz="1200" b="1" kern="1200" dirty="0" err="1">
                <a:effectLst/>
              </a:rPr>
              <a:t>và</a:t>
            </a:r>
            <a:r>
              <a:rPr lang="en-US" sz="1200" b="1" kern="1200" dirty="0">
                <a:effectLst/>
              </a:rPr>
              <a:t> </a:t>
            </a:r>
            <a:r>
              <a:rPr lang="en-US" sz="1200" b="1" kern="1200" dirty="0" err="1">
                <a:effectLst/>
              </a:rPr>
              <a:t>lời</a:t>
            </a:r>
            <a:r>
              <a:rPr lang="en-US" sz="1200" b="1" kern="1200" dirty="0">
                <a:effectLst/>
              </a:rPr>
              <a:t> </a:t>
            </a:r>
            <a:r>
              <a:rPr lang="en-US" sz="1200" b="1" kern="1200" dirty="0" err="1">
                <a:effectLst/>
              </a:rPr>
              <a:t>giải</a:t>
            </a:r>
            <a:r>
              <a:rPr lang="en-US" sz="1200" b="1" kern="1200" dirty="0">
                <a:effectLst/>
              </a:rPr>
              <a:t> </a:t>
            </a:r>
            <a:r>
              <a:rPr lang="en-US" sz="1200" b="1" kern="1200" dirty="0" err="1">
                <a:effectLst/>
              </a:rPr>
              <a:t>thích</a:t>
            </a:r>
            <a:endParaRPr lang="en-US" sz="1200" b="0" kern="1200" dirty="0">
              <a:effectLst/>
            </a:endParaRPr>
          </a:p>
          <a:p>
            <a:br>
              <a:rPr lang="en-US" sz="1200" b="0" kern="1200" dirty="0">
                <a:effectLst/>
              </a:rPr>
            </a:br>
            <a:endParaRPr lang="en-US" sz="1200" b="0" kern="1200" dirty="0">
              <a:effectLst/>
            </a:endParaRPr>
          </a:p>
          <a:p>
            <a:r>
              <a:rPr lang="en-US" sz="1200" b="0" kern="1200" dirty="0">
                <a:effectLst/>
              </a:rPr>
              <a:t>Heuristic ở </a:t>
            </a:r>
            <a:r>
              <a:rPr lang="en-US" sz="1200" b="0" kern="1200" dirty="0" err="1">
                <a:effectLst/>
              </a:rPr>
              <a:t>đây</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hiểu</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quy</a:t>
            </a:r>
            <a:r>
              <a:rPr lang="en-US" sz="1200" b="0" kern="1200" dirty="0">
                <a:effectLst/>
              </a:rPr>
              <a:t> </a:t>
            </a:r>
            <a:r>
              <a:rPr lang="en-US" sz="1200" b="0" kern="1200" dirty="0" err="1">
                <a:effectLst/>
              </a:rPr>
              <a:t>tắc</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viết</a:t>
            </a:r>
            <a:r>
              <a:rPr lang="en-US" sz="1200" b="0" kern="1200" dirty="0">
                <a:effectLst/>
              </a:rPr>
              <a:t> </a:t>
            </a:r>
            <a:r>
              <a:rPr lang="en-US" sz="1200" b="0" kern="1200" dirty="0" err="1">
                <a:effectLst/>
              </a:rPr>
              <a:t>trước</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diện</a:t>
            </a:r>
            <a:r>
              <a:rPr lang="en-US" sz="1200" b="0" kern="1200" dirty="0">
                <a:effectLst/>
              </a:rPr>
              <a:t> </a:t>
            </a:r>
            <a:r>
              <a:rPr lang="en-US" sz="1200" b="0" kern="1200" dirty="0" err="1">
                <a:effectLst/>
              </a:rPr>
              <a:t>dấu</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đáng</a:t>
            </a:r>
            <a:r>
              <a:rPr lang="en-US" sz="1200" b="0" kern="1200" dirty="0">
                <a:effectLst/>
              </a:rPr>
              <a:t> </a:t>
            </a:r>
            <a:r>
              <a:rPr lang="en-US" sz="1200" b="0" kern="1200" dirty="0" err="1">
                <a:effectLst/>
              </a:rPr>
              <a:t>ngờ</a:t>
            </a:r>
            <a:r>
              <a:rPr lang="en-US" sz="1200" b="0" kern="1200" dirty="0">
                <a:effectLst/>
              </a:rPr>
              <a:t>. Khi </a:t>
            </a:r>
            <a:r>
              <a:rPr lang="en-US" sz="1200" b="0" kern="1200" dirty="0" err="1">
                <a:effectLst/>
              </a:rPr>
              <a:t>một</a:t>
            </a:r>
            <a:r>
              <a:rPr lang="en-US" sz="1200" b="0" kern="1200" dirty="0">
                <a:effectLst/>
              </a:rPr>
              <a:t> </a:t>
            </a:r>
            <a:r>
              <a:rPr lang="en-US" sz="1200" b="0" kern="1200" dirty="0" err="1">
                <a:effectLst/>
              </a:rPr>
              <a:t>điều</a:t>
            </a:r>
            <a:r>
              <a:rPr lang="en-US" sz="1200" b="0" kern="1200" dirty="0">
                <a:effectLst/>
              </a:rPr>
              <a:t> </a:t>
            </a:r>
            <a:r>
              <a:rPr lang="en-US" sz="1200" b="0" kern="1200" dirty="0" err="1">
                <a:effectLst/>
              </a:rPr>
              <a:t>kiện</a:t>
            </a:r>
            <a:r>
              <a:rPr lang="en-US" sz="1200" b="0" kern="1200" dirty="0">
                <a:effectLst/>
              </a:rPr>
              <a:t> </a:t>
            </a:r>
            <a:r>
              <a:rPr lang="en-US" sz="1200" b="0" kern="1200" dirty="0" err="1">
                <a:effectLst/>
              </a:rPr>
              <a:t>thỏa</a:t>
            </a:r>
            <a:r>
              <a:rPr lang="en-US" sz="1200" b="0" kern="1200" dirty="0">
                <a:effectLst/>
              </a:rPr>
              <a:t> </a:t>
            </a:r>
            <a:r>
              <a:rPr lang="en-US" sz="1200" b="0" kern="1200" dirty="0" err="1">
                <a:effectLst/>
              </a:rPr>
              <a:t>mãn</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cộng</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tương</a:t>
            </a:r>
            <a:r>
              <a:rPr lang="en-US" sz="1200" b="0" kern="1200" dirty="0">
                <a:effectLst/>
              </a:rPr>
              <a:t> </a:t>
            </a:r>
            <a:r>
              <a:rPr lang="en-US" sz="1200" b="0" kern="1200" dirty="0" err="1">
                <a:effectLst/>
              </a:rPr>
              <a:t>ứng</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tạo</a:t>
            </a:r>
            <a:r>
              <a:rPr lang="en-US" sz="1200" b="0" kern="1200" dirty="0">
                <a:effectLst/>
              </a:rPr>
              <a:t> </a:t>
            </a:r>
            <a:r>
              <a:rPr lang="en-US" sz="1200" b="0" kern="1200" dirty="0" err="1">
                <a:effectLst/>
              </a:rPr>
              <a:t>lời</a:t>
            </a:r>
            <a:r>
              <a:rPr lang="en-US" sz="1200" b="0" kern="1200" dirty="0">
                <a:effectLst/>
              </a:rPr>
              <a:t> </a:t>
            </a:r>
            <a:r>
              <a:rPr lang="en-US" sz="1200" b="0" kern="1200" dirty="0" err="1">
                <a:effectLst/>
              </a:rPr>
              <a:t>giải</a:t>
            </a:r>
            <a:r>
              <a:rPr lang="en-US" sz="1200" b="0" kern="1200" dirty="0">
                <a:effectLst/>
              </a:rPr>
              <a:t> </a:t>
            </a:r>
            <a:r>
              <a:rPr lang="en-US" sz="1200" b="0" kern="1200" dirty="0" err="1">
                <a:effectLst/>
              </a:rPr>
              <a:t>thích</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Ví</a:t>
            </a:r>
            <a:r>
              <a:rPr lang="en-US" sz="1200" b="0" kern="1200" dirty="0">
                <a:effectLst/>
              </a:rPr>
              <a:t> </a:t>
            </a:r>
            <a:r>
              <a:rPr lang="en-US" sz="1200" b="0" kern="1200" dirty="0" err="1">
                <a:effectLst/>
              </a:rPr>
              <a:t>dụ</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đăng</a:t>
            </a:r>
            <a:r>
              <a:rPr lang="en-US" sz="1200" b="0" kern="1200" dirty="0">
                <a:effectLst/>
              </a:rPr>
              <a:t> </a:t>
            </a:r>
            <a:r>
              <a:rPr lang="en-US" sz="1200" b="0" kern="1200" dirty="0" err="1">
                <a:effectLst/>
              </a:rPr>
              <a:t>ký</a:t>
            </a:r>
            <a:r>
              <a:rPr lang="en-US" sz="1200" b="0" kern="1200" dirty="0">
                <a:effectLst/>
              </a:rPr>
              <a:t> </a:t>
            </a:r>
            <a:r>
              <a:rPr lang="en-US" sz="1200" b="0" kern="1200" dirty="0" err="1">
                <a:effectLst/>
              </a:rPr>
              <a:t>chưa</a:t>
            </a:r>
            <a:r>
              <a:rPr lang="en-US" sz="1200" b="0" kern="1200" dirty="0">
                <a:effectLst/>
              </a:rPr>
              <a:t> </a:t>
            </a:r>
            <a:r>
              <a:rPr lang="en-US" sz="1200" b="0" kern="1200" dirty="0" err="1">
                <a:effectLst/>
              </a:rPr>
              <a:t>đến</a:t>
            </a:r>
            <a:r>
              <a:rPr lang="en-US" sz="1200" b="0" kern="1200" dirty="0">
                <a:effectLst/>
              </a:rPr>
              <a:t> 7 </a:t>
            </a:r>
            <a:r>
              <a:rPr lang="en-US" sz="1200" b="0" kern="1200" dirty="0" err="1">
                <a:effectLst/>
              </a:rPr>
              <a:t>ngày</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cộng</a:t>
            </a:r>
            <a:r>
              <a:rPr lang="en-US" sz="1200" b="0" kern="1200" dirty="0">
                <a:effectLst/>
              </a:rPr>
              <a:t> 30 </a:t>
            </a:r>
            <a:r>
              <a:rPr lang="en-US" sz="1200" b="0" kern="1200" dirty="0" err="1">
                <a:effectLst/>
              </a:rPr>
              <a:t>điểm</a:t>
            </a:r>
            <a:r>
              <a:rPr lang="en-US" sz="1200" b="0" kern="1200" dirty="0">
                <a:effectLst/>
              </a:rPr>
              <a:t>. URL </a:t>
            </a:r>
            <a:r>
              <a:rPr lang="en-US" sz="1200" b="0" kern="1200" dirty="0" err="1">
                <a:effectLst/>
              </a:rPr>
              <a:t>dùng</a:t>
            </a:r>
            <a:r>
              <a:rPr lang="en-US" sz="1200" b="0" kern="1200" dirty="0">
                <a:effectLst/>
              </a:rPr>
              <a:t> </a:t>
            </a:r>
            <a:r>
              <a:rPr lang="en-US" sz="1200" b="0" kern="1200" dirty="0" err="1">
                <a:effectLst/>
              </a:rPr>
              <a:t>địa</a:t>
            </a:r>
            <a:r>
              <a:rPr lang="en-US" sz="1200" b="0" kern="1200" dirty="0">
                <a:effectLst/>
              </a:rPr>
              <a:t> </a:t>
            </a:r>
            <a:r>
              <a:rPr lang="en-US" sz="1200" b="0" kern="1200" dirty="0" err="1">
                <a:effectLst/>
              </a:rPr>
              <a:t>chỉ</a:t>
            </a:r>
            <a:r>
              <a:rPr lang="en-US" sz="1200" b="0" kern="1200" dirty="0">
                <a:effectLst/>
              </a:rPr>
              <a:t> IP </a:t>
            </a:r>
            <a:r>
              <a:rPr lang="en-US" sz="1200" b="0" kern="1200" dirty="0" err="1">
                <a:effectLst/>
              </a:rPr>
              <a:t>được</a:t>
            </a:r>
            <a:r>
              <a:rPr lang="en-US" sz="1200" b="0" kern="1200" dirty="0">
                <a:effectLst/>
              </a:rPr>
              <a:t> </a:t>
            </a:r>
            <a:r>
              <a:rPr lang="en-US" sz="1200" b="0" kern="1200" dirty="0" err="1">
                <a:effectLst/>
              </a:rPr>
              <a:t>cộng</a:t>
            </a:r>
            <a:r>
              <a:rPr lang="en-US" sz="1200" b="0" kern="1200" dirty="0">
                <a:effectLst/>
              </a:rPr>
              <a:t> 25 </a:t>
            </a:r>
            <a:r>
              <a:rPr lang="en-US" sz="1200" b="0" kern="1200" dirty="0" err="1">
                <a:effectLst/>
              </a:rPr>
              <a:t>điểm</a:t>
            </a:r>
            <a:r>
              <a:rPr lang="en-US" sz="1200" b="0" kern="1200" dirty="0">
                <a:effectLst/>
              </a:rPr>
              <a:t>. </a:t>
            </a:r>
            <a:r>
              <a:rPr lang="en-US" sz="1200" b="0" kern="1200" dirty="0" err="1">
                <a:effectLst/>
              </a:rPr>
              <a:t>Nếu</a:t>
            </a:r>
            <a:r>
              <a:rPr lang="en-US" sz="1200" b="0" kern="1200" dirty="0">
                <a:effectLst/>
              </a:rPr>
              <a:t> </a:t>
            </a:r>
            <a:r>
              <a:rPr lang="en-US" sz="1200" b="0" kern="1200" dirty="0" err="1">
                <a:effectLst/>
              </a:rPr>
              <a:t>một</a:t>
            </a:r>
            <a:r>
              <a:rPr lang="en-US" sz="1200" b="0" kern="1200" dirty="0">
                <a:effectLst/>
              </a:rPr>
              <a:t> form </a:t>
            </a:r>
            <a:r>
              <a:rPr lang="en-US" sz="1200" b="0" kern="1200" dirty="0" err="1">
                <a:effectLst/>
              </a:rPr>
              <a:t>gửi</a:t>
            </a:r>
            <a:r>
              <a:rPr lang="en-US" sz="1200" b="0" kern="1200" dirty="0">
                <a:effectLst/>
              </a:rPr>
              <a:t> </a:t>
            </a:r>
            <a:r>
              <a:rPr lang="en-US" sz="1200" b="0" kern="1200" dirty="0" err="1">
                <a:effectLst/>
              </a:rPr>
              <a:t>thông</a:t>
            </a:r>
            <a:r>
              <a:rPr lang="en-US" sz="1200" b="0" kern="1200" dirty="0">
                <a:effectLst/>
              </a:rPr>
              <a:t> tin sang domain </a:t>
            </a:r>
            <a:r>
              <a:rPr lang="en-US" sz="1200" b="0" kern="1200" dirty="0" err="1">
                <a:effectLst/>
              </a:rPr>
              <a:t>khác</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cộng</a:t>
            </a:r>
            <a:r>
              <a:rPr lang="en-US" sz="1200" b="0" kern="1200" dirty="0">
                <a:effectLst/>
              </a:rPr>
              <a:t> 12 </a:t>
            </a:r>
            <a:r>
              <a:rPr lang="en-US" sz="1200" b="0" kern="1200" dirty="0" err="1">
                <a:effectLst/>
              </a:rPr>
              <a:t>điểm</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Ngược</a:t>
            </a:r>
            <a:r>
              <a:rPr lang="en-US" sz="1200" b="0" kern="1200" dirty="0">
                <a:effectLst/>
              </a:rPr>
              <a:t> </a:t>
            </a:r>
            <a:r>
              <a:rPr lang="en-US" sz="1200" b="0" kern="1200" dirty="0" err="1">
                <a:effectLst/>
              </a:rPr>
              <a:t>lại</a:t>
            </a:r>
            <a:r>
              <a:rPr lang="en-US" sz="1200" b="0" kern="1200" dirty="0">
                <a:effectLst/>
              </a:rPr>
              <a:t>, </a:t>
            </a:r>
            <a:r>
              <a:rPr lang="en-US" sz="1200" b="0" kern="1200" dirty="0" err="1">
                <a:effectLst/>
              </a:rPr>
              <a:t>việc</a:t>
            </a:r>
            <a:r>
              <a:rPr lang="en-US" sz="1200" b="0" kern="1200" dirty="0">
                <a:effectLst/>
              </a:rPr>
              <a:t> </a:t>
            </a:r>
            <a:r>
              <a:rPr lang="en-US" sz="1200" b="0" kern="1200" dirty="0" err="1">
                <a:effectLst/>
              </a:rPr>
              <a:t>không</a:t>
            </a:r>
            <a:r>
              <a:rPr lang="en-US" sz="1200" b="0" kern="1200" dirty="0">
                <a:effectLst/>
              </a:rPr>
              <a:t> </a:t>
            </a:r>
            <a:r>
              <a:rPr lang="en-US" sz="1200" b="0" kern="1200" dirty="0" err="1">
                <a:effectLst/>
              </a:rPr>
              <a:t>dùng</a:t>
            </a:r>
            <a:r>
              <a:rPr lang="en-US" sz="1200" b="0" kern="1200" dirty="0">
                <a:effectLst/>
              </a:rPr>
              <a:t> HTTPS </a:t>
            </a:r>
            <a:r>
              <a:rPr lang="en-US" sz="1200" b="0" kern="1200" dirty="0" err="1">
                <a:effectLst/>
              </a:rPr>
              <a:t>chỉ</a:t>
            </a:r>
            <a:r>
              <a:rPr lang="en-US" sz="1200" b="0" kern="1200" dirty="0">
                <a:effectLst/>
              </a:rPr>
              <a:t> </a:t>
            </a:r>
            <a:r>
              <a:rPr lang="en-US" sz="1200" b="0" kern="1200" dirty="0" err="1">
                <a:effectLst/>
              </a:rPr>
              <a:t>cộng</a:t>
            </a:r>
            <a:r>
              <a:rPr lang="en-US" sz="1200" b="0" kern="1200" dirty="0">
                <a:effectLst/>
              </a:rPr>
              <a:t> 5 </a:t>
            </a:r>
            <a:r>
              <a:rPr lang="en-US" sz="1200" b="0" kern="1200" dirty="0" err="1">
                <a:effectLst/>
              </a:rPr>
              <a:t>điểm</a:t>
            </a:r>
            <a:r>
              <a:rPr lang="en-US" sz="1200" b="0" kern="1200" dirty="0">
                <a:effectLst/>
              </a:rPr>
              <a:t>. Trong </a:t>
            </a:r>
            <a:r>
              <a:rPr lang="en-US" sz="1200" b="0" kern="1200" dirty="0" err="1">
                <a:effectLst/>
              </a:rPr>
              <a:t>cách</a:t>
            </a:r>
            <a:r>
              <a:rPr lang="en-US" sz="1200" b="0" kern="1200" dirty="0">
                <a:effectLst/>
              </a:rPr>
              <a:t> </a:t>
            </a:r>
            <a:r>
              <a:rPr lang="en-US" sz="1200" b="0" kern="1200" dirty="0" err="1">
                <a:effectLst/>
              </a:rPr>
              <a:t>thiết</a:t>
            </a:r>
            <a:r>
              <a:rPr lang="en-US" sz="1200" b="0" kern="1200" dirty="0">
                <a:effectLst/>
              </a:rPr>
              <a:t> </a:t>
            </a:r>
            <a:r>
              <a:rPr lang="en-US" sz="1200" b="0" kern="1200" dirty="0" err="1">
                <a:effectLst/>
              </a:rPr>
              <a:t>kế</a:t>
            </a:r>
            <a:r>
              <a:rPr lang="en-US" sz="1200" b="0" kern="1200" dirty="0">
                <a:effectLst/>
              </a:rPr>
              <a:t> </a:t>
            </a:r>
            <a:r>
              <a:rPr lang="en-US" sz="1200" b="0" kern="1200" dirty="0" err="1">
                <a:effectLst/>
              </a:rPr>
              <a:t>này</a:t>
            </a:r>
            <a:r>
              <a:rPr lang="en-US" sz="1200" b="0" kern="1200" dirty="0">
                <a:effectLst/>
              </a:rPr>
              <a:t>, HTTPS </a:t>
            </a:r>
            <a:r>
              <a:rPr lang="en-US" sz="1200" b="0" kern="1200" dirty="0" err="1">
                <a:effectLst/>
              </a:rPr>
              <a:t>là</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tín</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về</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nối</a:t>
            </a:r>
            <a:r>
              <a:rPr lang="en-US" sz="1200" b="0" kern="1200" dirty="0">
                <a:effectLst/>
              </a:rPr>
              <a:t>, </a:t>
            </a:r>
            <a:r>
              <a:rPr lang="en-US" sz="1200" b="0" kern="1200" dirty="0" err="1">
                <a:effectLst/>
              </a:rPr>
              <a:t>chưa</a:t>
            </a:r>
            <a:r>
              <a:rPr lang="en-US" sz="1200" b="0" kern="1200" dirty="0">
                <a:effectLst/>
              </a:rPr>
              <a:t> </a:t>
            </a:r>
            <a:r>
              <a:rPr lang="en-US" sz="1200" b="0" kern="1200" dirty="0" err="1">
                <a:effectLst/>
              </a:rPr>
              <a:t>đủ</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quyết</a:t>
            </a:r>
            <a:r>
              <a:rPr lang="en-US" sz="1200" b="0" kern="1200" dirty="0">
                <a:effectLst/>
              </a:rPr>
              <a:t> </a:t>
            </a:r>
            <a:r>
              <a:rPr lang="en-US" sz="1200" b="0" kern="1200" dirty="0" err="1">
                <a:effectLst/>
              </a:rPr>
              <a:t>định</a:t>
            </a:r>
            <a:r>
              <a:rPr lang="en-US" sz="1200" b="0" kern="1200" dirty="0">
                <a:effectLst/>
              </a:rPr>
              <a:t> website </a:t>
            </a:r>
            <a:r>
              <a:rPr lang="en-US" sz="1200" b="0" kern="1200" dirty="0" err="1">
                <a:effectLst/>
              </a:rPr>
              <a:t>có</a:t>
            </a:r>
            <a:r>
              <a:rPr lang="en-US" sz="1200" b="0" kern="1200" dirty="0">
                <a:effectLst/>
              </a:rPr>
              <a:t> </a:t>
            </a:r>
            <a:r>
              <a:rPr lang="en-US" sz="1200" b="0" kern="1200" dirty="0" err="1">
                <a:effectLst/>
              </a:rPr>
              <a:t>đáng</a:t>
            </a:r>
            <a:r>
              <a:rPr lang="en-US" sz="1200" b="0" kern="1200" dirty="0">
                <a:effectLst/>
              </a:rPr>
              <a:t> tin hay </a:t>
            </a:r>
            <a:r>
              <a:rPr lang="en-US" sz="1200" b="0" kern="1200" dirty="0" err="1">
                <a:effectLst/>
              </a:rPr>
              <a:t>không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Ưu</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của</a:t>
            </a:r>
            <a:r>
              <a:rPr lang="en-US" sz="1200" b="0" kern="1200" dirty="0">
                <a:effectLst/>
              </a:rPr>
              <a:t> </a:t>
            </a:r>
            <a:r>
              <a:rPr lang="en-US" sz="1200" b="0" kern="1200" dirty="0" err="1">
                <a:effectLst/>
              </a:rPr>
              <a:t>phần</a:t>
            </a:r>
            <a:r>
              <a:rPr lang="en-US" sz="1200" b="0" kern="1200" dirty="0">
                <a:effectLst/>
              </a:rPr>
              <a:t> </a:t>
            </a:r>
            <a:r>
              <a:rPr lang="en-US" sz="1200" b="0" kern="1200" dirty="0" err="1">
                <a:effectLst/>
              </a:rPr>
              <a:t>luật</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biết</a:t>
            </a:r>
            <a:r>
              <a:rPr lang="en-US" sz="1200" b="0" kern="1200" dirty="0">
                <a:effectLst/>
              </a:rPr>
              <a:t> </a:t>
            </a:r>
            <a:r>
              <a:rPr lang="en-US" sz="1200" b="0" kern="1200" dirty="0" err="1">
                <a:effectLst/>
              </a:rPr>
              <a:t>vì</a:t>
            </a:r>
            <a:r>
              <a:rPr lang="en-US" sz="1200" b="0" kern="1200" dirty="0">
                <a:effectLst/>
              </a:rPr>
              <a:t> </a:t>
            </a:r>
            <a:r>
              <a:rPr lang="en-US" sz="1200" b="0" kern="1200" dirty="0" err="1">
                <a:effectLst/>
              </a:rPr>
              <a:t>sao</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tăng</a:t>
            </a:r>
            <a:r>
              <a:rPr lang="en-US" sz="1200" b="0" kern="1200" dirty="0">
                <a:effectLst/>
              </a:rPr>
              <a:t>. </a:t>
            </a:r>
            <a:r>
              <a:rPr lang="en-US" sz="1200" b="0" kern="1200" dirty="0" err="1">
                <a:effectLst/>
              </a:rPr>
              <a:t>Tổng</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luật</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giới</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trong</a:t>
            </a:r>
            <a:r>
              <a:rPr lang="en-US" sz="1200" b="0" kern="1200" dirty="0">
                <a:effectLst/>
              </a:rPr>
              <a:t> </a:t>
            </a:r>
            <a:r>
              <a:rPr lang="en-US" sz="1200" b="0" kern="1200" dirty="0" err="1">
                <a:effectLst/>
              </a:rPr>
              <a:t>khoảng</a:t>
            </a:r>
            <a:r>
              <a:rPr lang="en-US" sz="1200" b="0" kern="1200" dirty="0">
                <a:effectLst/>
              </a:rPr>
              <a:t> 0 </a:t>
            </a:r>
            <a:r>
              <a:rPr lang="en-US" sz="1200" b="0" kern="1200" dirty="0" err="1">
                <a:effectLst/>
              </a:rPr>
              <a:t>đến</a:t>
            </a:r>
            <a:r>
              <a:rPr lang="en-US" sz="1200" b="0" kern="1200" dirty="0">
                <a:effectLst/>
              </a:rPr>
              <a:t> 100.</a:t>
            </a:r>
          </a:p>
          <a:p>
            <a:br>
              <a:rPr lang="en-US" sz="1200" b="0" kern="1200" dirty="0">
                <a:effectLst/>
              </a:rPr>
            </a:br>
            <a:endParaRPr lang="en-US" sz="1200" b="0" kern="1200" dirty="0">
              <a:effectLst/>
            </a:endParaRPr>
          </a:p>
          <a:p>
            <a:r>
              <a:rPr lang="en-US" sz="1200" b="0" kern="1200" dirty="0">
                <a:effectLst/>
              </a:rPr>
              <a:t>Tuy </a:t>
            </a:r>
            <a:r>
              <a:rPr lang="en-US" sz="1200" b="0" kern="1200" dirty="0" err="1">
                <a:effectLst/>
              </a:rPr>
              <a:t>nhiên</a:t>
            </a:r>
            <a:r>
              <a:rPr lang="en-US" sz="1200" b="0" kern="1200" dirty="0">
                <a:effectLst/>
              </a:rPr>
              <a:t>, </a:t>
            </a:r>
            <a:r>
              <a:rPr lang="en-US" sz="1200" b="0" kern="1200" dirty="0" err="1">
                <a:effectLst/>
              </a:rPr>
              <a:t>luật</a:t>
            </a:r>
            <a:r>
              <a:rPr lang="en-US" sz="1200" b="0" kern="1200" dirty="0">
                <a:effectLst/>
              </a:rPr>
              <a:t> </a:t>
            </a:r>
            <a:r>
              <a:rPr lang="en-US" sz="1200" b="0" kern="1200" dirty="0" err="1">
                <a:effectLst/>
              </a:rPr>
              <a:t>chỉ</a:t>
            </a:r>
            <a:r>
              <a:rPr lang="en-US" sz="1200" b="0" kern="1200" dirty="0">
                <a:effectLst/>
              </a:rPr>
              <a:t> bao </a:t>
            </a:r>
            <a:r>
              <a:rPr lang="en-US" sz="1200" b="0" kern="1200" dirty="0" err="1">
                <a:effectLst/>
              </a:rPr>
              <a:t>phủ</a:t>
            </a:r>
            <a:r>
              <a:rPr lang="en-US" sz="1200" b="0" kern="1200" dirty="0">
                <a:effectLst/>
              </a:rPr>
              <a:t> </a:t>
            </a:r>
            <a:r>
              <a:rPr lang="en-US" sz="1200" b="0" kern="1200" dirty="0" err="1">
                <a:effectLst/>
              </a:rPr>
              <a:t>những</a:t>
            </a:r>
            <a:r>
              <a:rPr lang="en-US" sz="1200" b="0" kern="1200" dirty="0">
                <a:effectLst/>
              </a:rPr>
              <a:t> </a:t>
            </a:r>
            <a:r>
              <a:rPr lang="en-US" sz="1200" b="0" kern="1200" dirty="0" err="1">
                <a:effectLst/>
              </a:rPr>
              <a:t>điều</a:t>
            </a:r>
            <a:r>
              <a:rPr lang="en-US" sz="1200" b="0" kern="1200" dirty="0">
                <a:effectLst/>
              </a:rPr>
              <a:t> </a:t>
            </a:r>
            <a:r>
              <a:rPr lang="en-US" sz="1200" b="0" kern="1200" dirty="0" err="1">
                <a:effectLst/>
              </a:rPr>
              <a:t>kiện</a:t>
            </a:r>
            <a:r>
              <a:rPr lang="en-US" sz="1200" b="0" kern="1200" dirty="0">
                <a:effectLst/>
              </a:rPr>
              <a:t> </a:t>
            </a:r>
            <a:r>
              <a:rPr lang="en-US" sz="1200" b="0" kern="1200" dirty="0" err="1">
                <a:effectLst/>
              </a:rPr>
              <a:t>đã</a:t>
            </a:r>
            <a:r>
              <a:rPr lang="en-US" sz="1200" b="0" kern="1200" dirty="0">
                <a:effectLst/>
              </a:rPr>
              <a:t> </a:t>
            </a:r>
            <a:r>
              <a:rPr lang="en-US" sz="1200" b="0" kern="1200" dirty="0" err="1">
                <a:effectLst/>
              </a:rPr>
              <a:t>viết</a:t>
            </a:r>
            <a:r>
              <a:rPr lang="en-US" sz="1200" b="0" kern="1200" dirty="0">
                <a:effectLst/>
              </a:rPr>
              <a:t> </a:t>
            </a:r>
            <a:r>
              <a:rPr lang="en-US" sz="1200" b="0" kern="1200" dirty="0" err="1">
                <a:effectLst/>
              </a:rPr>
              <a:t>sẵn</a:t>
            </a:r>
            <a:r>
              <a:rPr lang="en-US" sz="1200" b="0" kern="1200" dirty="0">
                <a:effectLst/>
              </a:rPr>
              <a:t>. </a:t>
            </a:r>
            <a:r>
              <a:rPr lang="en-US" sz="1200" b="0" kern="1200" dirty="0" err="1">
                <a:effectLst/>
              </a:rPr>
              <a:t>Vì</a:t>
            </a:r>
            <a:r>
              <a:rPr lang="en-US" sz="1200" b="0" kern="1200" dirty="0">
                <a:effectLst/>
              </a:rPr>
              <a:t> </a:t>
            </a:r>
            <a:r>
              <a:rPr lang="en-US" sz="1200" b="0" kern="1200" dirty="0" err="1">
                <a:effectLst/>
              </a:rPr>
              <a:t>vậy</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bổ</a:t>
            </a:r>
            <a:r>
              <a:rPr lang="en-US" sz="1200" b="0" kern="1200" dirty="0">
                <a:effectLst/>
              </a:rPr>
              <a:t> sung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học</a:t>
            </a:r>
            <a:r>
              <a:rPr lang="en-US" sz="1200" b="0" kern="1200" dirty="0">
                <a:effectLst/>
              </a:rPr>
              <a:t> </a:t>
            </a:r>
            <a:r>
              <a:rPr lang="en-US" sz="1200" b="0" kern="1200" dirty="0" err="1">
                <a:effectLst/>
              </a:rPr>
              <a:t>máy</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học</a:t>
            </a:r>
            <a:r>
              <a:rPr lang="en-US" sz="1200" b="0" kern="1200" dirty="0">
                <a:effectLst/>
              </a:rPr>
              <a:t> </a:t>
            </a:r>
            <a:r>
              <a:rPr lang="en-US" sz="1200" b="0" kern="1200" dirty="0" err="1">
                <a:effectLst/>
              </a:rPr>
              <a:t>thêm</a:t>
            </a:r>
            <a:r>
              <a:rPr lang="en-US" sz="1200" b="0" kern="1200" dirty="0">
                <a:effectLst/>
              </a:rPr>
              <a:t> </a:t>
            </a:r>
            <a:r>
              <a:rPr lang="en-US" sz="1200" b="0" kern="1200" dirty="0" err="1">
                <a:effectLst/>
              </a:rPr>
              <a:t>từ</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7 — </a:t>
            </a:r>
            <a:r>
              <a:rPr lang="en-US" sz="1200" b="1" kern="1200" dirty="0" err="1">
                <a:effectLst/>
              </a:rPr>
              <a:t>PhiUSIIL</a:t>
            </a:r>
            <a:r>
              <a:rPr lang="en-US" sz="1200" b="1" kern="1200" dirty="0">
                <a:effectLst/>
              </a:rPr>
              <a:t>: </a:t>
            </a:r>
            <a:r>
              <a:rPr lang="en-US" sz="1200" b="1" kern="1200" dirty="0" err="1">
                <a:effectLst/>
              </a:rPr>
              <a:t>dữ</a:t>
            </a:r>
            <a:r>
              <a:rPr lang="en-US" sz="1200" b="1" kern="1200" dirty="0">
                <a:effectLst/>
              </a:rPr>
              <a:t> </a:t>
            </a:r>
            <a:r>
              <a:rPr lang="en-US" sz="1200" b="1" kern="1200" dirty="0" err="1">
                <a:effectLst/>
              </a:rPr>
              <a:t>liệu</a:t>
            </a:r>
            <a:r>
              <a:rPr lang="en-US" sz="1200" b="1" kern="1200" dirty="0">
                <a:effectLst/>
              </a:rPr>
              <a:t> </a:t>
            </a:r>
            <a:r>
              <a:rPr lang="en-US" sz="1200" b="1" kern="1200" dirty="0" err="1">
                <a:effectLst/>
              </a:rPr>
              <a:t>và</a:t>
            </a:r>
            <a:r>
              <a:rPr lang="en-US" sz="1200" b="1" kern="1200" dirty="0">
                <a:effectLst/>
              </a:rPr>
              <a:t> </a:t>
            </a:r>
            <a:r>
              <a:rPr lang="en-US" sz="1200" b="1" kern="1200" dirty="0" err="1">
                <a:effectLst/>
              </a:rPr>
              <a:t>cách</a:t>
            </a:r>
            <a:r>
              <a:rPr lang="en-US" sz="1200" b="1" kern="1200" dirty="0">
                <a:effectLst/>
              </a:rPr>
              <a:t> chia </a:t>
            </a:r>
            <a:r>
              <a:rPr lang="en-US" sz="1200" b="1" kern="1200" dirty="0" err="1">
                <a:effectLst/>
              </a:rPr>
              <a:t>tập</a:t>
            </a:r>
            <a:endParaRPr lang="en-US" sz="1200" b="0" kern="1200" dirty="0">
              <a:effectLst/>
            </a:endParaRPr>
          </a:p>
          <a:p>
            <a:br>
              <a:rPr lang="en-US" sz="1200" b="0" kern="1200" dirty="0">
                <a:effectLst/>
              </a:rPr>
            </a:br>
            <a:endParaRPr lang="en-US" sz="1200" b="0" kern="1200" dirty="0">
              <a:effectLst/>
            </a:endParaRPr>
          </a:p>
          <a:p>
            <a:r>
              <a:rPr lang="en-US" sz="1200" b="0" kern="1200" dirty="0" err="1">
                <a:effectLst/>
              </a:rPr>
              <a:t>Để</a:t>
            </a:r>
            <a:r>
              <a:rPr lang="en-US" sz="1200" b="0" kern="1200" dirty="0">
                <a:effectLst/>
              </a:rPr>
              <a:t> </a:t>
            </a:r>
            <a:r>
              <a:rPr lang="en-US" sz="1200" b="0" kern="1200" dirty="0" err="1">
                <a:effectLst/>
              </a:rPr>
              <a:t>huấn</a:t>
            </a:r>
            <a:r>
              <a:rPr lang="en-US" sz="1200" b="0" kern="1200" dirty="0">
                <a:effectLst/>
              </a:rPr>
              <a:t> </a:t>
            </a:r>
            <a:r>
              <a:rPr lang="en-US" sz="1200" b="0" kern="1200" dirty="0" err="1">
                <a:effectLst/>
              </a:rPr>
              <a:t>luyện</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a:t>
            </a:r>
            <a:r>
              <a:rPr lang="en-US" sz="1200" b="0" kern="1200" dirty="0" err="1">
                <a:effectLst/>
              </a:rPr>
              <a:t>bộ</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PhiUSIIL</a:t>
            </a:r>
            <a:r>
              <a:rPr lang="en-US" sz="1200" b="0" kern="1200" dirty="0">
                <a:effectLst/>
              </a:rPr>
              <a:t>. Sau </a:t>
            </a:r>
            <a:r>
              <a:rPr lang="en-US" sz="1200" b="0" kern="1200" dirty="0" err="1">
                <a:effectLst/>
              </a:rPr>
              <a:t>khi</a:t>
            </a:r>
            <a:r>
              <a:rPr lang="en-US" sz="1200" b="0" kern="1200" dirty="0">
                <a:effectLst/>
              </a:rPr>
              <a:t> </a:t>
            </a:r>
            <a:r>
              <a:rPr lang="en-US" sz="1200" b="0" kern="1200" dirty="0" err="1">
                <a:effectLst/>
              </a:rPr>
              <a:t>loại</a:t>
            </a:r>
            <a:r>
              <a:rPr lang="en-US" sz="1200" b="0" kern="1200" dirty="0">
                <a:effectLst/>
              </a:rPr>
              <a:t> </a:t>
            </a:r>
            <a:r>
              <a:rPr lang="en-US" sz="1200" b="0" kern="1200" dirty="0" err="1">
                <a:effectLst/>
              </a:rPr>
              <a:t>trùng</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khoảng</a:t>
            </a:r>
            <a:r>
              <a:rPr lang="en-US" sz="1200" b="0" kern="1200" dirty="0">
                <a:effectLst/>
              </a:rPr>
              <a:t> 235 </a:t>
            </a:r>
            <a:r>
              <a:rPr lang="en-US" sz="1200" b="0" kern="1200" dirty="0" err="1">
                <a:effectLst/>
              </a:rPr>
              <a:t>nghìn</a:t>
            </a:r>
            <a:r>
              <a:rPr lang="en-US" sz="1200" b="0" kern="1200" dirty="0">
                <a:effectLst/>
              </a:rPr>
              <a:t> URL, </a:t>
            </a:r>
            <a:r>
              <a:rPr lang="en-US" sz="1200" b="0" kern="1200" dirty="0" err="1">
                <a:effectLst/>
              </a:rPr>
              <a:t>gồm</a:t>
            </a:r>
            <a:r>
              <a:rPr lang="en-US" sz="1200" b="0" kern="1200" dirty="0">
                <a:effectLst/>
              </a:rPr>
              <a:t> </a:t>
            </a:r>
            <a:r>
              <a:rPr lang="en-US" sz="1200" b="0" kern="1200" dirty="0" err="1">
                <a:effectLst/>
              </a:rPr>
              <a:t>cả</a:t>
            </a:r>
            <a:r>
              <a:rPr lang="en-US" sz="1200" b="0" kern="1200" dirty="0">
                <a:effectLst/>
              </a:rPr>
              <a:t> URL </a:t>
            </a:r>
            <a:r>
              <a:rPr lang="en-US" sz="1200" b="0" kern="1200" dirty="0" err="1">
                <a:effectLst/>
              </a:rPr>
              <a:t>hợp</a:t>
            </a:r>
            <a:r>
              <a:rPr lang="en-US" sz="1200" b="0" kern="1200" dirty="0">
                <a:effectLst/>
              </a:rPr>
              <a:t> </a:t>
            </a:r>
            <a:r>
              <a:rPr lang="en-US" sz="1200" b="0" kern="1200" dirty="0" err="1">
                <a:effectLst/>
              </a:rPr>
              <a:t>lệ</a:t>
            </a:r>
            <a:r>
              <a:rPr lang="en-US" sz="1200" b="0" kern="1200" dirty="0">
                <a:effectLst/>
              </a:rPr>
              <a:t> </a:t>
            </a:r>
            <a:r>
              <a:rPr lang="en-US" sz="1200" b="0" kern="1200" dirty="0" err="1">
                <a:effectLst/>
              </a:rPr>
              <a:t>và</a:t>
            </a:r>
            <a:r>
              <a:rPr lang="en-US" sz="1200" b="0" kern="1200" dirty="0">
                <a:effectLst/>
              </a:rPr>
              <a:t> URL phishing.</a:t>
            </a:r>
          </a:p>
          <a:p>
            <a:br>
              <a:rPr lang="en-US" sz="1200" b="0" kern="1200" dirty="0">
                <a:effectLst/>
              </a:rPr>
            </a:br>
            <a:endParaRPr lang="en-US" sz="1200" b="0" kern="1200" dirty="0">
              <a:effectLst/>
            </a:endParaRPr>
          </a:p>
          <a:p>
            <a:r>
              <a:rPr lang="en-US" sz="1200" b="0" kern="1200" dirty="0">
                <a:effectLst/>
              </a:rPr>
              <a:t>Trong </a:t>
            </a:r>
            <a:r>
              <a:rPr lang="en-US" sz="1200" b="0" kern="1200" dirty="0" err="1">
                <a:effectLst/>
              </a:rPr>
              <a:t>đó</a:t>
            </a:r>
            <a:r>
              <a:rPr lang="en-US" sz="1200" b="0" kern="1200" dirty="0">
                <a:effectLst/>
              </a:rPr>
              <a:t>, </a:t>
            </a:r>
            <a:r>
              <a:rPr lang="en-US" sz="1200" b="0" kern="1200" dirty="0" err="1">
                <a:effectLst/>
              </a:rPr>
              <a:t>khoảng</a:t>
            </a:r>
            <a:r>
              <a:rPr lang="en-US" sz="1200" b="0" kern="1200" dirty="0">
                <a:effectLst/>
              </a:rPr>
              <a:t> 186 </a:t>
            </a:r>
            <a:r>
              <a:rPr lang="en-US" sz="1200" b="0" kern="1200" dirty="0" err="1">
                <a:effectLst/>
              </a:rPr>
              <a:t>nghìn</a:t>
            </a:r>
            <a:r>
              <a:rPr lang="en-US" sz="1200" b="0" kern="1200" dirty="0">
                <a:effectLst/>
              </a:rPr>
              <a:t> URL </a:t>
            </a:r>
            <a:r>
              <a:rPr lang="en-US" sz="1200" b="0" kern="1200" dirty="0" err="1">
                <a:effectLst/>
              </a:rPr>
              <a:t>dùng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huấn</a:t>
            </a:r>
            <a:r>
              <a:rPr lang="en-US" sz="1200" b="0" kern="1200" dirty="0">
                <a:effectLst/>
              </a:rPr>
              <a:t> </a:t>
            </a:r>
            <a:r>
              <a:rPr lang="en-US" sz="1200" b="0" kern="1200" dirty="0" err="1">
                <a:effectLst/>
              </a:rPr>
              <a:t>luyện</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hơn</a:t>
            </a:r>
            <a:r>
              <a:rPr lang="en-US" sz="1200" b="0" kern="1200" dirty="0">
                <a:effectLst/>
              </a:rPr>
              <a:t> 49 </a:t>
            </a:r>
            <a:r>
              <a:rPr lang="en-US" sz="1200" b="0" kern="1200" dirty="0" err="1">
                <a:effectLst/>
              </a:rPr>
              <a:t>nghìn</a:t>
            </a:r>
            <a:r>
              <a:rPr lang="en-US" sz="1200" b="0" kern="1200" dirty="0">
                <a:effectLst/>
              </a:rPr>
              <a:t> URL </a:t>
            </a:r>
            <a:r>
              <a:rPr lang="en-US" sz="1200" b="0" kern="1200" dirty="0" err="1">
                <a:effectLst/>
              </a:rPr>
              <a:t>dùng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Nhãn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nhất</a:t>
            </a:r>
            <a:r>
              <a:rPr lang="en-US" sz="1200" b="0" kern="1200" dirty="0">
                <a:effectLst/>
              </a:rPr>
              <a:t> </a:t>
            </a:r>
            <a:r>
              <a:rPr lang="en-US" sz="1200" b="0" kern="1200" dirty="0" err="1">
                <a:effectLst/>
              </a:rPr>
              <a:t>là</a:t>
            </a:r>
            <a:r>
              <a:rPr lang="en-US" sz="1200" b="0" kern="1200" dirty="0">
                <a:effectLst/>
              </a:rPr>
              <a:t> 1 </a:t>
            </a:r>
            <a:r>
              <a:rPr lang="en-US" sz="1200" b="0" kern="1200" dirty="0" err="1">
                <a:effectLst/>
              </a:rPr>
              <a:t>cho</a:t>
            </a:r>
            <a:r>
              <a:rPr lang="en-US" sz="1200" b="0" kern="1200" dirty="0">
                <a:effectLst/>
              </a:rPr>
              <a:t> phishing </a:t>
            </a:r>
            <a:r>
              <a:rPr lang="en-US" sz="1200" b="0" kern="1200" dirty="0" err="1">
                <a:effectLst/>
              </a:rPr>
              <a:t>và</a:t>
            </a:r>
            <a:r>
              <a:rPr lang="en-US" sz="1200" b="0" kern="1200" dirty="0">
                <a:effectLst/>
              </a:rPr>
              <a:t> 0 </a:t>
            </a:r>
            <a:r>
              <a:rPr lang="en-US" sz="1200" b="0" kern="1200" dirty="0" err="1">
                <a:effectLst/>
              </a:rPr>
              <a:t>cho</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lệ</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Điểm</a:t>
            </a:r>
            <a:r>
              <a:rPr lang="en-US" sz="1200" b="0" kern="1200" dirty="0">
                <a:effectLst/>
              </a:rPr>
              <a:t> </a:t>
            </a:r>
            <a:r>
              <a:rPr lang="en-US" sz="1200" b="0" kern="1200" dirty="0" err="1">
                <a:effectLst/>
              </a:rPr>
              <a:t>cần</a:t>
            </a:r>
            <a:r>
              <a:rPr lang="en-US" sz="1200" b="0" kern="1200" dirty="0">
                <a:effectLst/>
              </a:rPr>
              <a:t> </a:t>
            </a:r>
            <a:r>
              <a:rPr lang="en-US" sz="1200" b="0" kern="1200" dirty="0" err="1">
                <a:effectLst/>
              </a:rPr>
              <a:t>chú</a:t>
            </a:r>
            <a:r>
              <a:rPr lang="en-US" sz="1200" b="0" kern="1200" dirty="0">
                <a:effectLst/>
              </a:rPr>
              <a:t> ý </a:t>
            </a:r>
            <a:r>
              <a:rPr lang="en-US" sz="1200" b="0" kern="1200" dirty="0" err="1">
                <a:effectLst/>
              </a:rPr>
              <a:t>là</a:t>
            </a:r>
            <a:r>
              <a:rPr lang="en-US" sz="1200" b="0" kern="1200" dirty="0">
                <a:effectLst/>
              </a:rPr>
              <a:t> </a:t>
            </a:r>
            <a:r>
              <a:rPr lang="en-US" sz="1200" b="0" kern="1200" dirty="0" err="1">
                <a:effectLst/>
              </a:rPr>
              <a:t>cách</a:t>
            </a:r>
            <a:r>
              <a:rPr lang="en-US" sz="1200" b="0" kern="1200" dirty="0">
                <a:effectLst/>
              </a:rPr>
              <a:t> chia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theo</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Ví</a:t>
            </a:r>
            <a:r>
              <a:rPr lang="en-US" sz="1200" b="0" kern="1200" dirty="0">
                <a:effectLst/>
              </a:rPr>
              <a:t> </a:t>
            </a:r>
            <a:r>
              <a:rPr lang="en-US" sz="1200" b="0" kern="1200" dirty="0" err="1">
                <a:effectLst/>
              </a:rPr>
              <a:t>dụ</a:t>
            </a:r>
            <a:r>
              <a:rPr lang="en-US" sz="1200" b="0" kern="1200" dirty="0">
                <a:effectLst/>
              </a:rPr>
              <a:t>, </a:t>
            </a:r>
            <a:r>
              <a:rPr lang="en-US" sz="1200" b="0" kern="1200" dirty="0" err="1">
                <a:effectLst/>
              </a:rPr>
              <a:t>một</a:t>
            </a:r>
            <a:r>
              <a:rPr lang="en-US" sz="1200" b="0" kern="1200" dirty="0">
                <a:effectLst/>
              </a:rPr>
              <a:t> website </a:t>
            </a:r>
            <a:r>
              <a:rPr lang="en-US" sz="1200" b="0" kern="1200" dirty="0" err="1">
                <a:effectLst/>
              </a:rPr>
              <a:t>có</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đường</a:t>
            </a:r>
            <a:r>
              <a:rPr lang="en-US" sz="1200" b="0" kern="1200" dirty="0">
                <a:effectLst/>
              </a:rPr>
              <a:t> </a:t>
            </a:r>
            <a:r>
              <a:rPr lang="en-US" sz="1200" b="0" kern="1200" dirty="0" err="1">
                <a:effectLst/>
              </a:rPr>
              <a:t>dẫn</a:t>
            </a:r>
            <a:r>
              <a:rPr lang="en-US" sz="1200" b="0" kern="1200" dirty="0">
                <a:effectLst/>
              </a:rPr>
              <a:t> </a:t>
            </a:r>
            <a:r>
              <a:rPr lang="en-US" sz="1200" b="0" kern="1200" dirty="0" err="1">
                <a:effectLst/>
              </a:rPr>
              <a:t>khác</a:t>
            </a:r>
            <a:r>
              <a:rPr lang="en-US" sz="1200" b="0" kern="1200" dirty="0">
                <a:effectLst/>
              </a:rPr>
              <a:t> </a:t>
            </a:r>
            <a:r>
              <a:rPr lang="en-US" sz="1200" b="0" kern="1200" dirty="0" err="1">
                <a:effectLst/>
              </a:rPr>
              <a:t>nhau</a:t>
            </a:r>
            <a:r>
              <a:rPr lang="en-US" sz="1200" b="0" kern="1200" dirty="0">
                <a:effectLst/>
              </a:rPr>
              <a:t> </a:t>
            </a:r>
            <a:r>
              <a:rPr lang="en-US" sz="1200" b="0" kern="1200" dirty="0" err="1">
                <a:effectLst/>
              </a:rPr>
              <a:t>như</a:t>
            </a:r>
            <a:r>
              <a:rPr lang="en-US" sz="1200" b="0" kern="1200" dirty="0">
                <a:effectLst/>
              </a:rPr>
              <a:t> </a:t>
            </a:r>
            <a:r>
              <a:rPr lang="en-US" sz="1200" b="0" kern="1200" dirty="0" err="1">
                <a:effectLst/>
              </a:rPr>
              <a:t>trang</a:t>
            </a:r>
            <a:r>
              <a:rPr lang="en-US" sz="1200" b="0" kern="1200" dirty="0">
                <a:effectLst/>
              </a:rPr>
              <a:t> </a:t>
            </a:r>
            <a:r>
              <a:rPr lang="en-US" sz="1200" b="0" kern="1200" dirty="0" err="1">
                <a:effectLst/>
              </a:rPr>
              <a:t>đăng</a:t>
            </a:r>
            <a:r>
              <a:rPr lang="en-US" sz="1200" b="0" kern="1200" dirty="0">
                <a:effectLst/>
              </a:rPr>
              <a:t> </a:t>
            </a:r>
            <a:r>
              <a:rPr lang="en-US" sz="1200" b="0" kern="1200" dirty="0" err="1">
                <a:effectLst/>
              </a:rPr>
              <a:t>nhập</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trang</a:t>
            </a:r>
            <a:r>
              <a:rPr lang="en-US" sz="1200" b="0" kern="1200" dirty="0">
                <a:effectLst/>
              </a:rPr>
              <a:t> </a:t>
            </a:r>
            <a:r>
              <a:rPr lang="en-US" sz="1200" b="0" kern="1200" dirty="0" err="1">
                <a:effectLst/>
              </a:rPr>
              <a:t>tài</a:t>
            </a:r>
            <a:r>
              <a:rPr lang="en-US" sz="1200" b="0" kern="1200" dirty="0">
                <a:effectLst/>
              </a:rPr>
              <a:t> </a:t>
            </a:r>
            <a:r>
              <a:rPr lang="en-US" sz="1200" b="0" kern="1200" dirty="0" err="1">
                <a:effectLst/>
              </a:rPr>
              <a:t>khoản</a:t>
            </a:r>
            <a:r>
              <a:rPr lang="en-US" sz="1200" b="0" kern="1200" dirty="0">
                <a:effectLst/>
              </a:rPr>
              <a:t>. </a:t>
            </a:r>
            <a:r>
              <a:rPr lang="en-US" sz="1200" b="0" kern="1200" dirty="0" err="1">
                <a:effectLst/>
              </a:rPr>
              <a:t>Nếu</a:t>
            </a:r>
            <a:r>
              <a:rPr lang="en-US" sz="1200" b="0" kern="1200" dirty="0">
                <a:effectLst/>
              </a:rPr>
              <a:t> chia </a:t>
            </a:r>
            <a:r>
              <a:rPr lang="en-US" sz="1200" b="0" kern="1200" dirty="0" err="1">
                <a:effectLst/>
              </a:rPr>
              <a:t>ngẫu</a:t>
            </a:r>
            <a:r>
              <a:rPr lang="en-US" sz="1200" b="0" kern="1200" dirty="0">
                <a:effectLst/>
              </a:rPr>
              <a:t> </a:t>
            </a:r>
            <a:r>
              <a:rPr lang="en-US" sz="1200" b="0" kern="1200" dirty="0" err="1">
                <a:effectLst/>
              </a:rPr>
              <a:t>nhiên</a:t>
            </a:r>
            <a:r>
              <a:rPr lang="en-US" sz="1200" b="0" kern="1200" dirty="0">
                <a:effectLst/>
              </a:rPr>
              <a:t> </a:t>
            </a:r>
            <a:r>
              <a:rPr lang="en-US" sz="1200" b="0" kern="1200" dirty="0" err="1">
                <a:effectLst/>
              </a:rPr>
              <a:t>từng</a:t>
            </a:r>
            <a:r>
              <a:rPr lang="en-US" sz="1200" b="0" kern="1200" dirty="0">
                <a:effectLst/>
              </a:rPr>
              <a:t> URL, </a:t>
            </a:r>
            <a:r>
              <a:rPr lang="en-US" sz="1200" b="0" kern="1200" dirty="0" err="1">
                <a:effectLst/>
              </a:rPr>
              <a:t>các</a:t>
            </a:r>
            <a:r>
              <a:rPr lang="en-US" sz="1200" b="0" kern="1200" dirty="0">
                <a:effectLst/>
              </a:rPr>
              <a:t> </a:t>
            </a:r>
            <a:r>
              <a:rPr lang="en-US" sz="1200" b="0" kern="1200" dirty="0" err="1">
                <a:effectLst/>
              </a:rPr>
              <a:t>trang</a:t>
            </a:r>
            <a:r>
              <a:rPr lang="en-US" sz="1200" b="0" kern="1200" dirty="0">
                <a:effectLst/>
              </a:rPr>
              <a:t> </a:t>
            </a:r>
            <a:r>
              <a:rPr lang="en-US" sz="1200" b="0" kern="1200" dirty="0" err="1">
                <a:effectLst/>
              </a:rPr>
              <a:t>cùng</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xuất</a:t>
            </a:r>
            <a:r>
              <a:rPr lang="en-US" sz="1200" b="0" kern="1200" dirty="0">
                <a:effectLst/>
              </a:rPr>
              <a:t> </a:t>
            </a:r>
            <a:r>
              <a:rPr lang="en-US" sz="1200" b="0" kern="1200" dirty="0" err="1">
                <a:effectLst/>
              </a:rPr>
              <a:t>hiện</a:t>
            </a:r>
            <a:r>
              <a:rPr lang="en-US" sz="1200" b="0" kern="1200" dirty="0">
                <a:effectLst/>
              </a:rPr>
              <a:t> ở </a:t>
            </a:r>
            <a:r>
              <a:rPr lang="en-US" sz="1200" b="0" kern="1200" dirty="0" err="1">
                <a:effectLst/>
              </a:rPr>
              <a:t>cả</a:t>
            </a:r>
            <a:r>
              <a:rPr lang="en-US" sz="1200" b="0" kern="1200" dirty="0">
                <a:effectLst/>
              </a:rPr>
              <a:t> </a:t>
            </a:r>
            <a:r>
              <a:rPr lang="en-US" sz="1200" b="0" kern="1200" dirty="0" err="1">
                <a:effectLst/>
              </a:rPr>
              <a:t>hai</a:t>
            </a:r>
            <a:r>
              <a:rPr lang="en-US" sz="1200" b="0" kern="1200" dirty="0">
                <a:effectLst/>
              </a:rPr>
              <a:t> </a:t>
            </a:r>
            <a:r>
              <a:rPr lang="en-US" sz="1200" b="0" kern="1200" dirty="0" err="1">
                <a:effectLst/>
              </a:rPr>
              <a:t>tập</a:t>
            </a:r>
            <a:r>
              <a:rPr lang="en-US" sz="1200" b="0" kern="1200" dirty="0">
                <a:effectLst/>
              </a:rPr>
              <a:t>, </a:t>
            </a:r>
            <a:r>
              <a:rPr lang="en-US" sz="1200" b="0" kern="1200" dirty="0" err="1">
                <a:effectLst/>
              </a:rPr>
              <a:t>khiến</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thuận</a:t>
            </a:r>
            <a:r>
              <a:rPr lang="en-US" sz="1200" b="0" kern="1200" dirty="0">
                <a:effectLst/>
              </a:rPr>
              <a:t> </a:t>
            </a:r>
            <a:r>
              <a:rPr lang="en-US" sz="1200" b="0" kern="1200" dirty="0" err="1">
                <a:effectLst/>
              </a:rPr>
              <a:t>lợi</a:t>
            </a:r>
            <a:r>
              <a:rPr lang="en-US" sz="1200" b="0" kern="1200" dirty="0">
                <a:effectLst/>
              </a:rPr>
              <a:t> </a:t>
            </a:r>
            <a:r>
              <a:rPr lang="en-US" sz="1200" b="0" kern="1200" dirty="0" err="1">
                <a:effectLst/>
              </a:rPr>
              <a:t>hơn</a:t>
            </a:r>
            <a:r>
              <a:rPr lang="en-US" sz="1200" b="0" kern="1200" dirty="0">
                <a:effectLst/>
              </a:rPr>
              <a:t> </a:t>
            </a:r>
            <a:r>
              <a:rPr lang="en-US" sz="1200" b="0" kern="1200" dirty="0" err="1">
                <a:effectLst/>
              </a:rPr>
              <a:t>thực</a:t>
            </a:r>
            <a:r>
              <a:rPr lang="en-US" sz="1200" b="0" kern="1200" dirty="0">
                <a:effectLst/>
              </a:rPr>
              <a:t> </a:t>
            </a:r>
            <a:r>
              <a:rPr lang="en-US" sz="1200" b="0" kern="1200" dirty="0" err="1">
                <a:effectLst/>
              </a:rPr>
              <a:t>tế</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Vì</a:t>
            </a:r>
            <a:r>
              <a:rPr lang="en-US" sz="1200" b="0" kern="1200" dirty="0">
                <a:effectLst/>
              </a:rPr>
              <a:t> </a:t>
            </a:r>
            <a:r>
              <a:rPr lang="en-US" sz="1200" b="0" kern="1200" dirty="0" err="1">
                <a:effectLst/>
              </a:rPr>
              <a:t>vậy</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gom</a:t>
            </a:r>
            <a:r>
              <a:rPr lang="en-US" sz="1200" b="0" kern="1200" dirty="0">
                <a:effectLst/>
              </a:rPr>
              <a:t> </a:t>
            </a:r>
            <a:r>
              <a:rPr lang="en-US" sz="1200" b="0" kern="1200" dirty="0" err="1">
                <a:effectLst/>
              </a:rPr>
              <a:t>các</a:t>
            </a:r>
            <a:r>
              <a:rPr lang="en-US" sz="1200" b="0" kern="1200" dirty="0">
                <a:effectLst/>
              </a:rPr>
              <a:t> URL </a:t>
            </a:r>
            <a:r>
              <a:rPr lang="en-US" sz="1200" b="0" kern="1200" dirty="0" err="1">
                <a:effectLst/>
              </a:rPr>
              <a:t>theo</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đăng</a:t>
            </a:r>
            <a:r>
              <a:rPr lang="en-US" sz="1200" b="0" kern="1200" dirty="0">
                <a:effectLst/>
              </a:rPr>
              <a:t> </a:t>
            </a:r>
            <a:r>
              <a:rPr lang="en-US" sz="1200" b="0" kern="1200" dirty="0" err="1">
                <a:effectLst/>
              </a:rPr>
              <a:t>ký</a:t>
            </a:r>
            <a:r>
              <a:rPr lang="en-US" sz="1200" b="0" kern="1200" dirty="0">
                <a:effectLst/>
              </a:rPr>
              <a:t> </a:t>
            </a:r>
            <a:r>
              <a:rPr lang="en-US" sz="1200" b="0" kern="1200" dirty="0" err="1">
                <a:effectLst/>
              </a:rPr>
              <a:t>khi</a:t>
            </a:r>
            <a:r>
              <a:rPr lang="en-US" sz="1200" b="0" kern="1200" dirty="0">
                <a:effectLst/>
              </a:rPr>
              <a:t> chia </a:t>
            </a:r>
            <a:r>
              <a:rPr lang="en-US" sz="1200" b="0" kern="1200" dirty="0" err="1">
                <a:effectLst/>
              </a:rPr>
              <a:t>tập</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chế</a:t>
            </a:r>
            <a:r>
              <a:rPr lang="en-US" sz="1200" b="0" kern="1200" dirty="0">
                <a:effectLst/>
              </a:rPr>
              <a:t> </a:t>
            </a:r>
            <a:r>
              <a:rPr lang="en-US" sz="1200" b="0" kern="1200" dirty="0" err="1">
                <a:effectLst/>
              </a:rPr>
              <a:t>tình</a:t>
            </a:r>
            <a:r>
              <a:rPr lang="en-US" sz="1200" b="0" kern="1200" dirty="0">
                <a:effectLst/>
              </a:rPr>
              <a:t> </a:t>
            </a:r>
            <a:r>
              <a:rPr lang="en-US" sz="1200" b="0" kern="1200" dirty="0" err="1">
                <a:effectLst/>
              </a:rPr>
              <a:t>trạng</a:t>
            </a:r>
            <a:r>
              <a:rPr lang="en-US" sz="1200" b="0" kern="1200" dirty="0">
                <a:effectLst/>
              </a:rPr>
              <a:t> </a:t>
            </a:r>
            <a:r>
              <a:rPr lang="en-US" sz="1200" b="0" kern="1200" dirty="0" err="1">
                <a:effectLst/>
              </a:rPr>
              <a:t>này</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Sau </a:t>
            </a:r>
            <a:r>
              <a:rPr lang="en-US" sz="1200" b="0" kern="1200" dirty="0" err="1">
                <a:effectLst/>
              </a:rPr>
              <a:t>bước</a:t>
            </a:r>
            <a:r>
              <a:rPr lang="en-US" sz="1200" b="0" kern="1200" dirty="0">
                <a:effectLst/>
              </a:rPr>
              <a:t> </a:t>
            </a:r>
            <a:r>
              <a:rPr lang="en-US" sz="1200" b="0" kern="1200" dirty="0" err="1">
                <a:effectLst/>
              </a:rPr>
              <a:t>chuẩn</a:t>
            </a:r>
            <a:r>
              <a:rPr lang="en-US" sz="1200" b="0" kern="1200" dirty="0">
                <a:effectLst/>
              </a:rPr>
              <a:t> </a:t>
            </a:r>
            <a:r>
              <a:rPr lang="en-US" sz="1200" b="0" kern="1200" dirty="0" err="1">
                <a:effectLst/>
              </a:rPr>
              <a:t>bị</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mỗi</a:t>
            </a:r>
            <a:r>
              <a:rPr lang="en-US" sz="1200" b="0" kern="1200" dirty="0">
                <a:effectLst/>
              </a:rPr>
              <a:t> URL </a:t>
            </a:r>
            <a:r>
              <a:rPr lang="en-US" sz="1200" b="0" kern="1200" dirty="0" err="1">
                <a:effectLst/>
              </a:rPr>
              <a:t>được</a:t>
            </a:r>
            <a:r>
              <a:rPr lang="en-US" sz="1200" b="0" kern="1200" dirty="0">
                <a:effectLst/>
              </a:rPr>
              <a:t> </a:t>
            </a:r>
            <a:r>
              <a:rPr lang="en-US" sz="1200" b="0" kern="1200" dirty="0" err="1">
                <a:effectLst/>
              </a:rPr>
              <a:t>chuyển</a:t>
            </a:r>
            <a:r>
              <a:rPr lang="en-US" sz="1200" b="0" kern="1200" dirty="0">
                <a:effectLst/>
              </a:rPr>
              <a:t> </a:t>
            </a:r>
            <a:r>
              <a:rPr lang="en-US" sz="1200" b="0" kern="1200" dirty="0" err="1">
                <a:effectLst/>
              </a:rPr>
              <a:t>thành</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đầu</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cho</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8 — Vector </a:t>
            </a:r>
            <a:r>
              <a:rPr lang="en-US" sz="1200" b="1" kern="1200" dirty="0" err="1">
                <a:effectLst/>
              </a:rPr>
              <a:t>đầu</a:t>
            </a:r>
            <a:r>
              <a:rPr lang="en-US" sz="1200" b="1" kern="1200" dirty="0">
                <a:effectLst/>
              </a:rPr>
              <a:t> </a:t>
            </a:r>
            <a:r>
              <a:rPr lang="en-US" sz="1200" b="1" kern="1200" dirty="0" err="1">
                <a:effectLst/>
              </a:rPr>
              <a:t>vào</a:t>
            </a:r>
            <a:r>
              <a:rPr lang="en-US" sz="1200" b="1" kern="1200" dirty="0">
                <a:effectLst/>
              </a:rPr>
              <a:t> </a:t>
            </a:r>
            <a:r>
              <a:rPr lang="en-US" sz="1200" b="1" kern="1200" dirty="0" err="1">
                <a:effectLst/>
              </a:rPr>
              <a:t>gồm</a:t>
            </a:r>
            <a:r>
              <a:rPr lang="en-US" sz="1200" b="1" kern="1200" dirty="0">
                <a:effectLst/>
              </a:rPr>
              <a:t> 30 </a:t>
            </a:r>
            <a:r>
              <a:rPr lang="en-US" sz="1200" b="1" kern="1200" dirty="0" err="1">
                <a:effectLst/>
              </a:rPr>
              <a:t>thuộc</a:t>
            </a:r>
            <a:r>
              <a:rPr lang="en-US" sz="1200" b="1" kern="1200" dirty="0">
                <a:effectLst/>
              </a:rPr>
              <a:t> </a:t>
            </a:r>
            <a:r>
              <a:rPr lang="en-US" sz="1200" b="1" kern="1200" dirty="0" err="1">
                <a:effectLst/>
              </a:rPr>
              <a:t>tính</a:t>
            </a:r>
            <a:endParaRPr lang="en-US" sz="1200" b="0" kern="1200" dirty="0">
              <a:effectLst/>
            </a:endParaRPr>
          </a:p>
          <a:p>
            <a:br>
              <a:rPr lang="en-US" sz="1200" b="0" kern="1200" dirty="0">
                <a:effectLst/>
              </a:rPr>
            </a:br>
            <a:endParaRPr lang="en-US" sz="1200" b="0" kern="1200" dirty="0">
              <a:effectLst/>
            </a:endParaRPr>
          </a:p>
          <a:p>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không</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trực</a:t>
            </a:r>
            <a:r>
              <a:rPr lang="en-US" sz="1200" b="0" kern="1200" dirty="0">
                <a:effectLst/>
              </a:rPr>
              <a:t> </a:t>
            </a:r>
            <a:r>
              <a:rPr lang="en-US" sz="1200" b="0" kern="1200" dirty="0" err="1">
                <a:effectLst/>
              </a:rPr>
              <a:t>tiếp</a:t>
            </a:r>
            <a:r>
              <a:rPr lang="en-US" sz="1200" b="0" kern="1200" dirty="0">
                <a:effectLst/>
              </a:rPr>
              <a:t> </a:t>
            </a:r>
            <a:r>
              <a:rPr lang="en-US" sz="1200" b="0" kern="1200" dirty="0" err="1">
                <a:effectLst/>
              </a:rPr>
              <a:t>cả</a:t>
            </a:r>
            <a:r>
              <a:rPr lang="en-US" sz="1200" b="0" kern="1200" dirty="0">
                <a:effectLst/>
              </a:rPr>
              <a:t> </a:t>
            </a:r>
            <a:r>
              <a:rPr lang="en-US" sz="1200" b="0" kern="1200" dirty="0" err="1">
                <a:effectLst/>
              </a:rPr>
              <a:t>một</a:t>
            </a:r>
            <a:r>
              <a:rPr lang="en-US" sz="1200" b="0" kern="1200" dirty="0">
                <a:effectLst/>
              </a:rPr>
              <a:t> website. </a:t>
            </a:r>
            <a:r>
              <a:rPr lang="en-US" sz="1200" b="0" kern="1200" dirty="0" err="1">
                <a:effectLst/>
              </a:rPr>
              <a:t>Nó</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dãy</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tả</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đặc</a:t>
            </a:r>
            <a:r>
              <a:rPr lang="en-US" sz="1200" b="0" kern="1200" dirty="0">
                <a:effectLst/>
              </a:rPr>
              <a:t> </a:t>
            </a:r>
            <a:r>
              <a:rPr lang="en-US" sz="1200" b="0" kern="1200" dirty="0" err="1">
                <a:effectLst/>
              </a:rPr>
              <a:t>điểm</a:t>
            </a:r>
            <a:r>
              <a:rPr lang="en-US" sz="1200" b="0" kern="1200" dirty="0">
                <a:effectLst/>
              </a:rPr>
              <a:t> </a:t>
            </a:r>
            <a:r>
              <a:rPr lang="en-US" sz="1200" b="0" kern="1200" dirty="0" err="1">
                <a:effectLst/>
              </a:rPr>
              <a:t>của</a:t>
            </a:r>
            <a:r>
              <a:rPr lang="en-US" sz="1200" b="0" kern="1200" dirty="0">
                <a:effectLst/>
              </a:rPr>
              <a:t> website </a:t>
            </a:r>
            <a:r>
              <a:rPr lang="en-US" sz="1200" b="0" kern="1200" dirty="0" err="1">
                <a:effectLst/>
              </a:rPr>
              <a:t>đó</a:t>
            </a:r>
            <a:r>
              <a:rPr lang="en-US" sz="1200" b="0" kern="1200" dirty="0">
                <a:effectLst/>
              </a:rPr>
              <a:t>, </a:t>
            </a:r>
            <a:r>
              <a:rPr lang="en-US" sz="1200" b="0" kern="1200" dirty="0" err="1">
                <a:effectLst/>
              </a:rPr>
              <a:t>gọi</a:t>
            </a:r>
            <a:r>
              <a:rPr lang="en-US" sz="1200" b="0" kern="1200" dirty="0">
                <a:effectLst/>
              </a:rPr>
              <a:t> </a:t>
            </a:r>
            <a:r>
              <a:rPr lang="en-US" sz="1200" b="0" kern="1200" dirty="0" err="1">
                <a:effectLst/>
              </a:rPr>
              <a:t>là</a:t>
            </a:r>
            <a:r>
              <a:rPr lang="en-US" sz="1200" b="0" kern="1200" dirty="0">
                <a:effectLst/>
              </a:rPr>
              <a:t> vector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Trong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vector </a:t>
            </a:r>
            <a:r>
              <a:rPr lang="en-US" sz="1200" b="0" kern="1200" dirty="0" err="1">
                <a:effectLst/>
              </a:rPr>
              <a:t>này</a:t>
            </a:r>
            <a:r>
              <a:rPr lang="en-US" sz="1200" b="0" kern="1200" dirty="0">
                <a:effectLst/>
              </a:rPr>
              <a:t> </a:t>
            </a:r>
            <a:r>
              <a:rPr lang="en-US" sz="1200" b="0" kern="1200" dirty="0" err="1">
                <a:effectLst/>
              </a:rPr>
              <a:t>gồm</a:t>
            </a:r>
            <a:r>
              <a:rPr lang="en-US" sz="1200" b="0" kern="1200" dirty="0">
                <a:effectLst/>
              </a:rPr>
              <a:t> 30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chia </a:t>
            </a:r>
            <a:r>
              <a:rPr lang="en-US" sz="1200" b="0" kern="1200" dirty="0" err="1">
                <a:effectLst/>
              </a:rPr>
              <a:t>thành</a:t>
            </a:r>
            <a:r>
              <a:rPr lang="en-US" sz="1200" b="0" kern="1200" dirty="0">
                <a:effectLst/>
              </a:rPr>
              <a:t> </a:t>
            </a:r>
            <a:r>
              <a:rPr lang="en-US" sz="1200" b="0" kern="1200" dirty="0" err="1">
                <a:effectLst/>
              </a:rPr>
              <a:t>năm</a:t>
            </a:r>
            <a:r>
              <a:rPr lang="en-US" sz="1200" b="0" kern="1200" dirty="0">
                <a:effectLst/>
              </a:rPr>
              <a:t> </a:t>
            </a:r>
            <a:r>
              <a:rPr lang="en-US" sz="1200" b="0" kern="1200" dirty="0" err="1">
                <a:effectLst/>
              </a:rPr>
              <a:t>nhóm</a:t>
            </a:r>
            <a:r>
              <a:rPr lang="en-US" sz="1200" b="0" kern="1200" dirty="0">
                <a:effectLst/>
              </a:rPr>
              <a:t> </a:t>
            </a:r>
            <a:r>
              <a:rPr lang="en-US" sz="1200" b="0" kern="1200" dirty="0" err="1">
                <a:effectLst/>
              </a:rPr>
              <a:t>như</a:t>
            </a:r>
            <a:r>
              <a:rPr lang="en-US" sz="1200" b="0" kern="1200" dirty="0">
                <a:effectLst/>
              </a:rPr>
              <a:t> </a:t>
            </a:r>
            <a:r>
              <a:rPr lang="en-US" sz="1200" b="0" kern="1200" dirty="0" err="1">
                <a:effectLst/>
              </a:rPr>
              <a:t>trên</a:t>
            </a:r>
            <a:r>
              <a:rPr lang="en-US" sz="1200" b="0" kern="1200" dirty="0">
                <a:effectLst/>
              </a:rPr>
              <a:t> slide. </a:t>
            </a:r>
            <a:r>
              <a:rPr lang="en-US" sz="1200" b="0" kern="1200" dirty="0" err="1">
                <a:effectLst/>
              </a:rPr>
              <a:t>Nhóm</a:t>
            </a:r>
            <a:r>
              <a:rPr lang="en-US" sz="1200" b="0" kern="1200" dirty="0">
                <a:effectLst/>
              </a:rPr>
              <a:t> URL </a:t>
            </a:r>
            <a:r>
              <a:rPr lang="en-US" sz="1200" b="0" kern="1200" dirty="0" err="1">
                <a:effectLst/>
              </a:rPr>
              <a:t>có</a:t>
            </a:r>
            <a:r>
              <a:rPr lang="en-US" sz="1200" b="0" kern="1200" dirty="0">
                <a:effectLst/>
              </a:rPr>
              <a:t> </a:t>
            </a:r>
            <a:r>
              <a:rPr lang="en-US" sz="1200" b="0" kern="1200" dirty="0" err="1">
                <a:effectLst/>
              </a:rPr>
              <a:t>nhiều</a:t>
            </a:r>
            <a:r>
              <a:rPr lang="en-US" sz="1200" b="0" kern="1200" dirty="0">
                <a:effectLst/>
              </a:rPr>
              <a:t>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nhất</a:t>
            </a:r>
            <a:r>
              <a:rPr lang="en-US" sz="1200" b="0" kern="1200" dirty="0">
                <a:effectLst/>
              </a:rPr>
              <a:t>, </a:t>
            </a:r>
            <a:r>
              <a:rPr lang="en-US" sz="1200" b="0" kern="1200" dirty="0" err="1">
                <a:effectLst/>
              </a:rPr>
              <a:t>ví</a:t>
            </a:r>
            <a:r>
              <a:rPr lang="en-US" sz="1200" b="0" kern="1200" dirty="0">
                <a:effectLst/>
              </a:rPr>
              <a:t> </a:t>
            </a:r>
            <a:r>
              <a:rPr lang="en-US" sz="1200" b="0" kern="1200" dirty="0" err="1">
                <a:effectLst/>
              </a:rPr>
              <a:t>dụ</a:t>
            </a:r>
            <a:r>
              <a:rPr lang="en-US" sz="1200" b="0" kern="1200" dirty="0">
                <a:effectLst/>
              </a:rPr>
              <a:t> </a:t>
            </a:r>
            <a:r>
              <a:rPr lang="en-US" sz="1200" b="0" kern="1200" dirty="0" err="1">
                <a:effectLst/>
              </a:rPr>
              <a:t>độ</a:t>
            </a:r>
            <a:r>
              <a:rPr lang="en-US" sz="1200" b="0" kern="1200" dirty="0">
                <a:effectLst/>
              </a:rPr>
              <a:t> </a:t>
            </a:r>
            <a:r>
              <a:rPr lang="en-US" sz="1200" b="0" kern="1200" dirty="0" err="1">
                <a:effectLst/>
              </a:rPr>
              <a:t>dài</a:t>
            </a:r>
            <a:r>
              <a:rPr lang="en-US" sz="1200" b="0" kern="1200" dirty="0">
                <a:effectLst/>
              </a:rPr>
              <a:t> </a:t>
            </a:r>
            <a:r>
              <a:rPr lang="en-US" sz="1200" b="0" kern="1200" dirty="0" err="1">
                <a:effectLst/>
              </a:rPr>
              <a:t>đường</a:t>
            </a:r>
            <a:r>
              <a:rPr lang="en-US" sz="1200" b="0" kern="1200" dirty="0">
                <a:effectLst/>
              </a:rPr>
              <a:t> link, </a:t>
            </a:r>
            <a:r>
              <a:rPr lang="en-US" sz="1200" b="0" kern="1200" dirty="0" err="1">
                <a:effectLst/>
              </a:rPr>
              <a:t>số</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miền</a:t>
            </a:r>
            <a:r>
              <a:rPr lang="en-US" sz="1200" b="0" kern="1200" dirty="0">
                <a:effectLst/>
              </a:rPr>
              <a:t> </a:t>
            </a:r>
            <a:r>
              <a:rPr lang="en-US" sz="1200" b="0" kern="1200" dirty="0" err="1">
                <a:effectLst/>
              </a:rPr>
              <a:t>phụ</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dùng</a:t>
            </a:r>
            <a:r>
              <a:rPr lang="en-US" sz="1200" b="0" kern="1200" dirty="0">
                <a:effectLst/>
              </a:rPr>
              <a:t> HTTPS hay </a:t>
            </a:r>
            <a:r>
              <a:rPr lang="en-US" sz="1200" b="0" kern="1200" dirty="0" err="1">
                <a:effectLst/>
              </a:rPr>
              <a:t>không</a:t>
            </a:r>
            <a:r>
              <a:rPr lang="en-US" sz="1200" b="0" kern="1200" dirty="0">
                <a:effectLst/>
              </a:rPr>
              <a:t>. Các </a:t>
            </a:r>
            <a:r>
              <a:rPr lang="en-US" sz="1200" b="0" kern="1200" dirty="0" err="1">
                <a:effectLst/>
              </a:rPr>
              <a:t>nhóm</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lại</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tả</a:t>
            </a:r>
            <a:r>
              <a:rPr lang="en-US" sz="1200" b="0" kern="1200" dirty="0">
                <a:effectLst/>
              </a:rPr>
              <a:t> domain, TLS, HTML, </a:t>
            </a:r>
            <a:r>
              <a:rPr lang="en-US" sz="1200" b="0" kern="1200" dirty="0" err="1">
                <a:effectLst/>
              </a:rPr>
              <a:t>thương</a:t>
            </a:r>
            <a:r>
              <a:rPr lang="en-US" sz="1200" b="0" kern="1200" dirty="0">
                <a:effectLst/>
              </a:rPr>
              <a:t> </a:t>
            </a:r>
            <a:r>
              <a:rPr lang="en-US" sz="1200" b="0" kern="1200" dirty="0" err="1">
                <a:effectLst/>
              </a:rPr>
              <a:t>hiệu</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chuyển</a:t>
            </a:r>
            <a:r>
              <a:rPr lang="en-US" sz="1200" b="0" kern="1200" dirty="0">
                <a:effectLst/>
              </a:rPr>
              <a:t> </a:t>
            </a:r>
            <a:r>
              <a:rPr lang="en-US" sz="1200" b="0" kern="1200" dirty="0" err="1">
                <a:effectLst/>
              </a:rPr>
              <a:t>hướng</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FeatureExtractor</a:t>
            </a:r>
            <a:r>
              <a:rPr lang="en-US" sz="1200" b="0" kern="1200" dirty="0">
                <a:effectLst/>
              </a:rPr>
              <a:t> </a:t>
            </a:r>
            <a:r>
              <a:rPr lang="en-US" sz="1200" b="0" kern="1200" dirty="0" err="1">
                <a:effectLst/>
              </a:rPr>
              <a:t>giữ</a:t>
            </a:r>
            <a:r>
              <a:rPr lang="en-US" sz="1200" b="0" kern="1200" dirty="0">
                <a:effectLst/>
              </a:rPr>
              <a:t> </a:t>
            </a:r>
            <a:r>
              <a:rPr lang="en-US" sz="1200" b="0" kern="1200" dirty="0" err="1">
                <a:effectLst/>
              </a:rPr>
              <a:t>tên</a:t>
            </a:r>
            <a:r>
              <a:rPr lang="en-US" sz="1200" b="0" kern="1200" dirty="0">
                <a:effectLst/>
              </a:rPr>
              <a:t> </a:t>
            </a:r>
            <a:r>
              <a:rPr lang="en-US" sz="1200" b="0" kern="1200" dirty="0" err="1">
                <a:effectLst/>
              </a:rPr>
              <a:t>và</a:t>
            </a:r>
            <a:r>
              <a:rPr lang="en-US" sz="1200" b="0" kern="1200" dirty="0">
                <a:effectLst/>
              </a:rPr>
              <a:t> </a:t>
            </a:r>
            <a:r>
              <a:rPr lang="en-US" sz="1200" b="0" kern="1200" dirty="0" err="1">
                <a:effectLst/>
              </a:rPr>
              <a:t>thứ</a:t>
            </a:r>
            <a:r>
              <a:rPr lang="en-US" sz="1200" b="0" kern="1200" dirty="0">
                <a:effectLst/>
              </a:rPr>
              <a:t> </a:t>
            </a:r>
            <a:r>
              <a:rPr lang="en-US" sz="1200" b="0" kern="1200" dirty="0" err="1">
                <a:effectLst/>
              </a:rPr>
              <a:t>tự</a:t>
            </a:r>
            <a:r>
              <a:rPr lang="en-US" sz="1200" b="0" kern="1200" dirty="0">
                <a:effectLst/>
              </a:rPr>
              <a:t>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nhất</a:t>
            </a:r>
            <a:r>
              <a:rPr lang="en-US" sz="1200" b="0" kern="1200" dirty="0">
                <a:effectLst/>
              </a:rPr>
              <a:t> </a:t>
            </a:r>
            <a:r>
              <a:rPr lang="en-US" sz="1200" b="0" kern="1200" dirty="0" err="1">
                <a:effectLst/>
              </a:rPr>
              <a:t>quán</a:t>
            </a:r>
            <a:r>
              <a:rPr lang="en-US" sz="1200" b="0" kern="1200" dirty="0">
                <a:effectLst/>
              </a:rPr>
              <a:t> </a:t>
            </a:r>
            <a:r>
              <a:rPr lang="en-US" sz="1200" b="0" kern="1200" dirty="0" err="1">
                <a:effectLst/>
              </a:rPr>
              <a:t>giữa</a:t>
            </a:r>
            <a:r>
              <a:rPr lang="en-US" sz="1200" b="0" kern="1200" dirty="0">
                <a:effectLst/>
              </a:rPr>
              <a:t> </a:t>
            </a:r>
            <a:r>
              <a:rPr lang="en-US" sz="1200" b="0" kern="1200" dirty="0" err="1">
                <a:effectLst/>
              </a:rPr>
              <a:t>lúc</a:t>
            </a:r>
            <a:r>
              <a:rPr lang="en-US" sz="1200" b="0" kern="1200" dirty="0">
                <a:effectLst/>
              </a:rPr>
              <a:t> </a:t>
            </a:r>
            <a:r>
              <a:rPr lang="en-US" sz="1200" b="0" kern="1200" dirty="0" err="1">
                <a:effectLst/>
              </a:rPr>
              <a:t>huấn</a:t>
            </a:r>
            <a:r>
              <a:rPr lang="en-US" sz="1200" b="0" kern="1200" dirty="0">
                <a:effectLst/>
              </a:rPr>
              <a:t> </a:t>
            </a:r>
            <a:r>
              <a:rPr lang="en-US" sz="1200" b="0" kern="1200" dirty="0" err="1">
                <a:effectLst/>
              </a:rPr>
              <a:t>luyện</a:t>
            </a:r>
            <a:r>
              <a:rPr lang="en-US" sz="1200" b="0" kern="1200" dirty="0">
                <a:effectLst/>
              </a:rPr>
              <a:t> </a:t>
            </a:r>
            <a:r>
              <a:rPr lang="en-US" sz="1200" b="0" kern="1200" dirty="0" err="1">
                <a:effectLst/>
              </a:rPr>
              <a:t>với</a:t>
            </a:r>
            <a:r>
              <a:rPr lang="en-US" sz="1200" b="0" kern="1200" dirty="0">
                <a:effectLst/>
              </a:rPr>
              <a:t> </a:t>
            </a:r>
            <a:r>
              <a:rPr lang="en-US" sz="1200" b="0" kern="1200" dirty="0" err="1">
                <a:effectLst/>
              </a:rPr>
              <a:t>lúc</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đoán</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Tuy </a:t>
            </a:r>
            <a:r>
              <a:rPr lang="en-US" sz="1200" b="0" kern="1200" dirty="0" err="1">
                <a:effectLst/>
              </a:rPr>
              <a:t>vậy</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cùng</a:t>
            </a:r>
            <a:r>
              <a:rPr lang="en-US" sz="1200" b="0" kern="1200" dirty="0">
                <a:effectLst/>
              </a:rPr>
              <a:t> </a:t>
            </a:r>
            <a:r>
              <a:rPr lang="en-US" sz="1200" b="0" kern="1200" dirty="0" err="1">
                <a:effectLst/>
              </a:rPr>
              <a:t>cấu</a:t>
            </a:r>
            <a:r>
              <a:rPr lang="en-US" sz="1200" b="0" kern="1200" dirty="0">
                <a:effectLst/>
              </a:rPr>
              <a:t> </a:t>
            </a:r>
            <a:r>
              <a:rPr lang="en-US" sz="1200" b="0" kern="1200" dirty="0" err="1">
                <a:effectLst/>
              </a:rPr>
              <a:t>trúc</a:t>
            </a:r>
            <a:r>
              <a:rPr lang="en-US" sz="1200" b="0" kern="1200" dirty="0">
                <a:effectLst/>
              </a:rPr>
              <a:t> </a:t>
            </a:r>
            <a:r>
              <a:rPr lang="en-US" sz="1200" b="0" kern="1200" dirty="0" err="1">
                <a:effectLst/>
              </a:rPr>
              <a:t>đầu</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chưa</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nghĩa</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ở </a:t>
            </a:r>
            <a:r>
              <a:rPr lang="en-US" sz="1200" b="0" kern="1200" dirty="0" err="1">
                <a:effectLst/>
              </a:rPr>
              <a:t>hai</a:t>
            </a:r>
            <a:r>
              <a:rPr lang="en-US" sz="1200" b="0" kern="1200" dirty="0">
                <a:effectLst/>
              </a:rPr>
              <a:t> </a:t>
            </a:r>
            <a:r>
              <a:rPr lang="en-US" sz="1200" b="0" kern="1200" dirty="0" err="1">
                <a:effectLst/>
              </a:rPr>
              <a:t>giai</a:t>
            </a:r>
            <a:r>
              <a:rPr lang="en-US" sz="1200" b="0" kern="1200" dirty="0">
                <a:effectLst/>
              </a:rPr>
              <a:t> </a:t>
            </a:r>
            <a:r>
              <a:rPr lang="en-US" sz="1200" b="0" kern="1200" dirty="0" err="1">
                <a:effectLst/>
              </a:rPr>
              <a:t>đoạn</a:t>
            </a:r>
            <a:r>
              <a:rPr lang="en-US" sz="1200" b="0" kern="1200" dirty="0">
                <a:effectLst/>
              </a:rPr>
              <a:t> </a:t>
            </a:r>
            <a:r>
              <a:rPr lang="en-US" sz="1200" b="0" kern="1200" dirty="0" err="1">
                <a:effectLst/>
              </a:rPr>
              <a:t>hoàn</a:t>
            </a:r>
            <a:r>
              <a:rPr lang="en-US" sz="1200" b="0" kern="1200" dirty="0">
                <a:effectLst/>
              </a:rPr>
              <a:t> </a:t>
            </a:r>
            <a:r>
              <a:rPr lang="en-US" sz="1200" b="0" kern="1200" dirty="0" err="1">
                <a:effectLst/>
              </a:rPr>
              <a:t>toàn</a:t>
            </a:r>
            <a:r>
              <a:rPr lang="en-US" sz="1200" b="0" kern="1200" dirty="0">
                <a:effectLst/>
              </a:rPr>
              <a:t> </a:t>
            </a:r>
            <a:r>
              <a:rPr lang="en-US" sz="1200" b="0" kern="1200" dirty="0" err="1">
                <a:effectLst/>
              </a:rPr>
              <a:t>giống</a:t>
            </a:r>
            <a:r>
              <a:rPr lang="en-US" sz="1200" b="0" kern="1200" dirty="0">
                <a:effectLst/>
              </a:rPr>
              <a:t> </a:t>
            </a:r>
            <a:r>
              <a:rPr lang="en-US" sz="1200" b="0" kern="1200" dirty="0" err="1">
                <a:effectLst/>
              </a:rPr>
              <a:t>nhau</a:t>
            </a:r>
            <a:r>
              <a:rPr lang="en-US" sz="1200" b="0" kern="1200" dirty="0">
                <a:effectLst/>
              </a:rPr>
              <a:t>. </a:t>
            </a:r>
            <a:r>
              <a:rPr lang="en-US" sz="1200" b="0" kern="1200" dirty="0" err="1">
                <a:effectLst/>
              </a:rPr>
              <a:t>Chẳng</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huấn</a:t>
            </a:r>
            <a:r>
              <a:rPr lang="en-US" sz="1200" b="0" kern="1200" dirty="0">
                <a:effectLst/>
              </a:rPr>
              <a:t> </a:t>
            </a:r>
            <a:r>
              <a:rPr lang="en-US" sz="1200" b="0" kern="1200" dirty="0" err="1">
                <a:effectLst/>
              </a:rPr>
              <a:t>luyện</a:t>
            </a:r>
            <a:r>
              <a:rPr lang="en-US" sz="1200" b="0" kern="1200" dirty="0">
                <a:effectLst/>
              </a:rPr>
              <a:t> </a:t>
            </a:r>
            <a:r>
              <a:rPr lang="en-US" sz="1200" b="0" kern="1200" dirty="0" err="1">
                <a:effectLst/>
              </a:rPr>
              <a:t>thiếu</a:t>
            </a:r>
            <a:r>
              <a:rPr lang="en-US" sz="1200" b="0" kern="1200" dirty="0">
                <a:effectLst/>
              </a:rPr>
              <a:t> </a:t>
            </a:r>
            <a:r>
              <a:rPr lang="en-US" sz="1200" b="0" kern="1200" dirty="0" err="1">
                <a:effectLst/>
              </a:rPr>
              <a:t>thông</a:t>
            </a:r>
            <a:r>
              <a:rPr lang="en-US" sz="1200" b="0" kern="1200" dirty="0">
                <a:effectLst/>
              </a:rPr>
              <a:t> tin </a:t>
            </a:r>
            <a:r>
              <a:rPr lang="en-US" sz="1200" b="0" kern="1200" dirty="0" err="1">
                <a:effectLst/>
              </a:rPr>
              <a:t>chứng</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thật</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quét</a:t>
            </a:r>
            <a:r>
              <a:rPr lang="en-US" sz="1200" b="0" kern="1200" dirty="0">
                <a:effectLst/>
              </a:rPr>
              <a:t> </a:t>
            </a:r>
            <a:r>
              <a:rPr lang="en-US" sz="1200" b="0" kern="1200" dirty="0" err="1">
                <a:effectLst/>
              </a:rPr>
              <a:t>trực</a:t>
            </a:r>
            <a:r>
              <a:rPr lang="en-US" sz="1200" b="0" kern="1200" dirty="0">
                <a:effectLst/>
              </a:rPr>
              <a:t> </a:t>
            </a:r>
            <a:r>
              <a:rPr lang="en-US" sz="1200" b="0" kern="1200" dirty="0" err="1">
                <a:effectLst/>
              </a:rPr>
              <a:t>tiếp</a:t>
            </a:r>
            <a:r>
              <a:rPr lang="en-US" sz="1200" b="0" kern="1200" dirty="0">
                <a:effectLst/>
              </a:rPr>
              <a:t> </a:t>
            </a:r>
            <a:r>
              <a:rPr lang="en-US" sz="1200" b="0" kern="1200" dirty="0" err="1">
                <a:effectLst/>
              </a:rPr>
              <a:t>thì</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được</a:t>
            </a:r>
            <a:r>
              <a:rPr lang="en-US" sz="1200" b="0" kern="1200" dirty="0">
                <a:effectLst/>
              </a:rPr>
              <a:t>. Em </a:t>
            </a:r>
            <a:r>
              <a:rPr lang="en-US" sz="1200" b="0" kern="1200" dirty="0" err="1">
                <a:effectLst/>
              </a:rPr>
              <a:t>sẽ</a:t>
            </a:r>
            <a:r>
              <a:rPr lang="en-US" sz="1200" b="0" kern="1200" dirty="0">
                <a:effectLst/>
              </a:rPr>
              <a:t> quay </a:t>
            </a:r>
            <a:r>
              <a:rPr lang="en-US" sz="1200" b="0" kern="1200" dirty="0" err="1">
                <a:effectLst/>
              </a:rPr>
              <a:t>lại</a:t>
            </a:r>
            <a:r>
              <a:rPr lang="en-US" sz="1200" b="0" kern="1200" dirty="0">
                <a:effectLst/>
              </a:rPr>
              <a:t> </a:t>
            </a:r>
            <a:r>
              <a:rPr lang="en-US" sz="1200" b="0" kern="1200" dirty="0" err="1">
                <a:effectLst/>
              </a:rPr>
              <a:t>hạn</a:t>
            </a:r>
            <a:r>
              <a:rPr lang="en-US" sz="1200" b="0" kern="1200" dirty="0">
                <a:effectLst/>
              </a:rPr>
              <a:t> </a:t>
            </a:r>
            <a:r>
              <a:rPr lang="en-US" sz="1200" b="0" kern="1200" dirty="0" err="1">
                <a:effectLst/>
              </a:rPr>
              <a:t>chế</a:t>
            </a:r>
            <a:r>
              <a:rPr lang="en-US" sz="1200" b="0" kern="1200" dirty="0">
                <a:effectLst/>
              </a:rPr>
              <a:t> </a:t>
            </a:r>
            <a:r>
              <a:rPr lang="en-US" sz="1200" b="0" kern="1200" dirty="0" err="1">
                <a:effectLst/>
              </a:rPr>
              <a:t>này</a:t>
            </a:r>
            <a:r>
              <a:rPr lang="en-US" sz="1200" b="0" kern="1200" dirty="0">
                <a:effectLst/>
              </a:rPr>
              <a:t> ở </a:t>
            </a:r>
            <a:r>
              <a:rPr lang="en-US" sz="1200" b="0" kern="1200" dirty="0" err="1">
                <a:effectLst/>
              </a:rPr>
              <a:t>phần</a:t>
            </a:r>
            <a:r>
              <a:rPr lang="en-US" sz="1200" b="0" kern="1200" dirty="0">
                <a:effectLst/>
              </a:rPr>
              <a:t> </a:t>
            </a:r>
            <a:r>
              <a:rPr lang="en-US" sz="1200" b="0" kern="1200" dirty="0" err="1">
                <a:effectLst/>
              </a:rPr>
              <a:t>sau</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Trước</a:t>
            </a:r>
            <a:r>
              <a:rPr lang="en-US" sz="1200" b="0" kern="1200" dirty="0">
                <a:effectLst/>
              </a:rPr>
              <a:t> </a:t>
            </a:r>
            <a:r>
              <a:rPr lang="en-US" sz="1200" b="0" kern="1200" dirty="0" err="1">
                <a:effectLst/>
              </a:rPr>
              <a:t>hết</a:t>
            </a:r>
            <a:r>
              <a:rPr lang="en-US" sz="1200" b="0" kern="1200" dirty="0">
                <a:effectLst/>
              </a:rPr>
              <a:t>, </a:t>
            </a:r>
            <a:r>
              <a:rPr lang="en-US" sz="1200" b="0" kern="1200" dirty="0" err="1">
                <a:effectLst/>
              </a:rPr>
              <a:t>đây</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so </a:t>
            </a:r>
            <a:r>
              <a:rPr lang="en-US" sz="1200" b="0" kern="1200" dirty="0" err="1">
                <a:effectLst/>
              </a:rPr>
              <a:t>sánh</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9 — </a:t>
            </a:r>
            <a:r>
              <a:rPr lang="en-US" sz="1200" b="1" kern="1200" dirty="0" err="1">
                <a:effectLst/>
              </a:rPr>
              <a:t>XGBoost</a:t>
            </a:r>
            <a:r>
              <a:rPr lang="en-US" sz="1200" b="1" kern="1200" dirty="0">
                <a:effectLst/>
              </a:rPr>
              <a:t> </a:t>
            </a:r>
            <a:r>
              <a:rPr lang="en-US" sz="1200" b="1" kern="1200" dirty="0" err="1">
                <a:effectLst/>
              </a:rPr>
              <a:t>có</a:t>
            </a:r>
            <a:r>
              <a:rPr lang="en-US" sz="1200" b="1" kern="1200" dirty="0">
                <a:effectLst/>
              </a:rPr>
              <a:t> </a:t>
            </a:r>
            <a:r>
              <a:rPr lang="en-US" sz="1200" b="1" kern="1200" dirty="0" err="1">
                <a:effectLst/>
              </a:rPr>
              <a:t>tỷ</a:t>
            </a:r>
            <a:r>
              <a:rPr lang="en-US" sz="1200" b="1" kern="1200" dirty="0">
                <a:effectLst/>
              </a:rPr>
              <a:t> </a:t>
            </a:r>
            <a:r>
              <a:rPr lang="en-US" sz="1200" b="1" kern="1200" dirty="0" err="1">
                <a:effectLst/>
              </a:rPr>
              <a:t>lệ</a:t>
            </a:r>
            <a:r>
              <a:rPr lang="en-US" sz="1200" b="1" kern="1200" dirty="0">
                <a:effectLst/>
              </a:rPr>
              <a:t> </a:t>
            </a:r>
            <a:r>
              <a:rPr lang="en-US" sz="1200" b="1" kern="1200" dirty="0" err="1">
                <a:effectLst/>
              </a:rPr>
              <a:t>bỏ</a:t>
            </a:r>
            <a:r>
              <a:rPr lang="en-US" sz="1200" b="1" kern="1200" dirty="0">
                <a:effectLst/>
              </a:rPr>
              <a:t> </a:t>
            </a:r>
            <a:r>
              <a:rPr lang="en-US" sz="1200" b="1" kern="1200" dirty="0" err="1">
                <a:effectLst/>
              </a:rPr>
              <a:t>sót</a:t>
            </a:r>
            <a:r>
              <a:rPr lang="en-US" sz="1200" b="1" kern="1200" dirty="0">
                <a:effectLst/>
              </a:rPr>
              <a:t> </a:t>
            </a:r>
            <a:r>
              <a:rPr lang="en-US" sz="1200" b="1" kern="1200" dirty="0" err="1">
                <a:effectLst/>
              </a:rPr>
              <a:t>thấp</a:t>
            </a:r>
            <a:r>
              <a:rPr lang="en-US" sz="1200" b="1" kern="1200" dirty="0">
                <a:effectLst/>
              </a:rPr>
              <a:t> </a:t>
            </a:r>
            <a:r>
              <a:rPr lang="en-US" sz="1200" b="1" kern="1200" dirty="0" err="1">
                <a:effectLst/>
              </a:rPr>
              <a:t>nhất</a:t>
            </a:r>
            <a:endParaRPr lang="en-US" sz="1200" b="0" kern="1200" dirty="0">
              <a:effectLst/>
            </a:endParaRPr>
          </a:p>
          <a:p>
            <a:br>
              <a:rPr lang="en-US" sz="1200" b="0" kern="1200" dirty="0">
                <a:effectLst/>
              </a:rPr>
            </a:br>
            <a:endParaRPr lang="en-US" sz="1200" b="0" kern="1200" dirty="0">
              <a:effectLst/>
            </a:endParaRPr>
          </a:p>
          <a:p>
            <a:r>
              <a:rPr lang="en-US" sz="1200" b="0" i="1" kern="1200" dirty="0">
                <a:effectLst/>
              </a:rPr>
              <a:t>[</a:t>
            </a:r>
            <a:r>
              <a:rPr lang="en-US" sz="1200" b="0" i="1" kern="1200" dirty="0" err="1">
                <a:effectLst/>
              </a:rPr>
              <a:t>Chỉ</a:t>
            </a:r>
            <a:r>
              <a:rPr lang="en-US" sz="1200" b="0" i="1" kern="1200" dirty="0">
                <a:effectLst/>
              </a:rPr>
              <a:t> </a:t>
            </a:r>
            <a:r>
              <a:rPr lang="en-US" sz="1200" b="0" i="1" kern="1200" dirty="0" err="1">
                <a:effectLst/>
              </a:rPr>
              <a:t>lần</a:t>
            </a:r>
            <a:r>
              <a:rPr lang="en-US" sz="1200" b="0" i="1" kern="1200" dirty="0">
                <a:effectLst/>
              </a:rPr>
              <a:t> </a:t>
            </a:r>
            <a:r>
              <a:rPr lang="en-US" sz="1200" b="0" i="1" kern="1200" dirty="0" err="1">
                <a:effectLst/>
              </a:rPr>
              <a:t>lượt</a:t>
            </a:r>
            <a:r>
              <a:rPr lang="en-US" sz="1200" b="0" i="1" kern="1200" dirty="0">
                <a:effectLst/>
              </a:rPr>
              <a:t> </a:t>
            </a:r>
            <a:r>
              <a:rPr lang="en-US" sz="1200" b="0" i="1" kern="1200" dirty="0" err="1">
                <a:effectLst/>
              </a:rPr>
              <a:t>bốn</a:t>
            </a:r>
            <a:r>
              <a:rPr lang="en-US" sz="1200" b="0" i="1" kern="1200" dirty="0">
                <a:effectLst/>
              </a:rPr>
              <a:t> </a:t>
            </a:r>
            <a:r>
              <a:rPr lang="en-US" sz="1200" b="0" i="1" kern="1200" dirty="0" err="1">
                <a:effectLst/>
              </a:rPr>
              <a:t>cột</a:t>
            </a:r>
            <a:r>
              <a:rPr lang="en-US" sz="1200" b="0" i="1" kern="1200" dirty="0">
                <a:effectLst/>
              </a:rPr>
              <a:t>, </a:t>
            </a:r>
            <a:r>
              <a:rPr lang="en-US" sz="1200" b="0" i="1" kern="1200" dirty="0" err="1">
                <a:effectLst/>
              </a:rPr>
              <a:t>dừng</a:t>
            </a:r>
            <a:r>
              <a:rPr lang="en-US" sz="1200" b="0" i="1" kern="1200" dirty="0">
                <a:effectLst/>
              </a:rPr>
              <a:t> ở </a:t>
            </a:r>
            <a:r>
              <a:rPr lang="en-US" sz="1200" b="0" i="1" kern="1200" dirty="0" err="1">
                <a:effectLst/>
              </a:rPr>
              <a:t>XGBoost</a:t>
            </a:r>
            <a:r>
              <a:rPr lang="en-US" sz="1200" b="0" i="1" kern="1200" dirty="0">
                <a:effectLst/>
              </a:rPr>
              <a:t>.]</a:t>
            </a:r>
          </a:p>
          <a:p>
            <a:br>
              <a:rPr lang="en-US" sz="1200" b="0" kern="1200" dirty="0">
                <a:effectLst/>
              </a:rPr>
            </a:br>
            <a:endParaRPr lang="en-US" sz="1200" b="0" kern="1200" dirty="0">
              <a:effectLst/>
            </a:endParaRPr>
          </a:p>
          <a:p>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so </a:t>
            </a:r>
            <a:r>
              <a:rPr lang="en-US" sz="1200" b="0" kern="1200" dirty="0" err="1">
                <a:effectLst/>
              </a:rPr>
              <a:t>sánh</a:t>
            </a:r>
            <a:r>
              <a:rPr lang="en-US" sz="1200" b="0" kern="1200" dirty="0">
                <a:effectLst/>
              </a:rPr>
              <a:t> </a:t>
            </a:r>
            <a:r>
              <a:rPr lang="en-US" sz="1200" b="0" kern="1200" dirty="0" err="1">
                <a:effectLst/>
              </a:rPr>
              <a:t>bốn</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Logistic Regression, Decision Tree, Random Forest </a:t>
            </a:r>
            <a:r>
              <a:rPr lang="en-US" sz="1200" b="0" kern="1200" dirty="0" err="1">
                <a:effectLst/>
              </a:rPr>
              <a:t>và</a:t>
            </a:r>
            <a:r>
              <a:rPr lang="en-US" sz="1200" b="0" kern="1200" dirty="0">
                <a:effectLst/>
              </a:rPr>
              <a:t> </a:t>
            </a:r>
            <a:r>
              <a:rPr lang="en-US" sz="1200" b="0" kern="1200" dirty="0" err="1">
                <a:effectLst/>
              </a:rPr>
              <a:t>XGBoost</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Tiêu</a:t>
            </a:r>
            <a:r>
              <a:rPr lang="en-US" sz="1200" b="0" kern="1200" dirty="0">
                <a:effectLst/>
              </a:rPr>
              <a:t> </a:t>
            </a:r>
            <a:r>
              <a:rPr lang="en-US" sz="1200" b="0" kern="1200" dirty="0" err="1">
                <a:effectLst/>
              </a:rPr>
              <a:t>chí</a:t>
            </a:r>
            <a:r>
              <a:rPr lang="en-US" sz="1200" b="0" kern="1200" dirty="0">
                <a:effectLst/>
              </a:rPr>
              <a:t> </a:t>
            </a:r>
            <a:r>
              <a:rPr lang="en-US" sz="1200" b="0" kern="1200" dirty="0" err="1">
                <a:effectLst/>
              </a:rPr>
              <a:t>chính</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lựa</a:t>
            </a:r>
            <a:r>
              <a:rPr lang="en-US" sz="1200" b="0" kern="1200" dirty="0">
                <a:effectLst/>
              </a:rPr>
              <a:t> </a:t>
            </a:r>
            <a:r>
              <a:rPr lang="en-US" sz="1200" b="0" kern="1200" dirty="0" err="1">
                <a:effectLst/>
              </a:rPr>
              <a:t>chọn</a:t>
            </a:r>
            <a:r>
              <a:rPr lang="en-US" sz="1200" b="0" kern="1200" dirty="0">
                <a:effectLst/>
              </a:rPr>
              <a:t> </a:t>
            </a:r>
            <a:r>
              <a:rPr lang="en-US" sz="1200" b="0" kern="1200" dirty="0" err="1">
                <a:effectLst/>
              </a:rPr>
              <a:t>là</a:t>
            </a:r>
            <a:r>
              <a:rPr lang="en-US" sz="1200" b="0" kern="1200" dirty="0">
                <a:effectLst/>
              </a:rPr>
              <a:t> FNR, </a:t>
            </a:r>
            <a:r>
              <a:rPr lang="en-US" sz="1200" b="0" kern="1200" dirty="0" err="1">
                <a:effectLst/>
              </a:rPr>
              <a:t>tức</a:t>
            </a:r>
            <a:r>
              <a:rPr lang="en-US" sz="1200" b="0" kern="1200" dirty="0">
                <a:effectLst/>
              </a:rPr>
              <a:t> </a:t>
            </a:r>
            <a:r>
              <a:rPr lang="en-US" sz="1200" b="0" kern="1200" dirty="0" err="1">
                <a:effectLst/>
              </a:rPr>
              <a:t>tỷ</a:t>
            </a:r>
            <a:r>
              <a:rPr lang="en-US" sz="1200" b="0" kern="1200" dirty="0">
                <a:effectLst/>
              </a:rPr>
              <a:t> </a:t>
            </a:r>
            <a:r>
              <a:rPr lang="en-US" sz="1200" b="0" kern="1200" dirty="0" err="1">
                <a:effectLst/>
              </a:rPr>
              <a:t>lệ</a:t>
            </a:r>
            <a:r>
              <a:rPr lang="en-US" sz="1200" b="0" kern="1200" dirty="0">
                <a:effectLst/>
              </a:rPr>
              <a:t> </a:t>
            </a:r>
            <a:r>
              <a:rPr lang="en-US" sz="1200" b="0" kern="1200" dirty="0" err="1">
                <a:effectLst/>
              </a:rPr>
              <a:t>bỏ</a:t>
            </a:r>
            <a:r>
              <a:rPr lang="en-US" sz="1200" b="0" kern="1200" dirty="0">
                <a:effectLst/>
              </a:rPr>
              <a:t> </a:t>
            </a:r>
            <a:r>
              <a:rPr lang="en-US" sz="1200" b="0" kern="1200" dirty="0" err="1">
                <a:effectLst/>
              </a:rPr>
              <a:t>sót</a:t>
            </a:r>
            <a:r>
              <a:rPr lang="en-US" sz="1200" b="0" kern="1200" dirty="0">
                <a:effectLst/>
              </a:rPr>
              <a:t> phishing. </a:t>
            </a:r>
            <a:r>
              <a:rPr lang="en-US" sz="1200" b="0" kern="1200" dirty="0" err="1">
                <a:effectLst/>
              </a:rPr>
              <a:t>Có</a:t>
            </a:r>
            <a:r>
              <a:rPr lang="en-US" sz="1200" b="0" kern="1200" dirty="0">
                <a:effectLst/>
              </a:rPr>
              <a:t> </a:t>
            </a:r>
            <a:r>
              <a:rPr lang="en-US" sz="1200" b="0" kern="1200" dirty="0" err="1">
                <a:effectLst/>
              </a:rPr>
              <a:t>thể</a:t>
            </a:r>
            <a:r>
              <a:rPr lang="en-US" sz="1200" b="0" kern="1200" dirty="0">
                <a:effectLst/>
              </a:rPr>
              <a:t> </a:t>
            </a:r>
            <a:r>
              <a:rPr lang="en-US" sz="1200" b="0" kern="1200" dirty="0" err="1">
                <a:effectLst/>
              </a:rPr>
              <a:t>hiểu</a:t>
            </a:r>
            <a:r>
              <a:rPr lang="en-US" sz="1200" b="0" kern="1200" dirty="0">
                <a:effectLst/>
              </a:rPr>
              <a:t> </a:t>
            </a:r>
            <a:r>
              <a:rPr lang="en-US" sz="1200" b="0" kern="1200" dirty="0" err="1">
                <a:effectLst/>
              </a:rPr>
              <a:t>đơn</a:t>
            </a:r>
            <a:r>
              <a:rPr lang="en-US" sz="1200" b="0" kern="1200" dirty="0">
                <a:effectLst/>
              </a:rPr>
              <a:t> </a:t>
            </a:r>
            <a:r>
              <a:rPr lang="en-US" sz="1200" b="0" kern="1200" dirty="0" err="1">
                <a:effectLst/>
              </a:rPr>
              <a:t>giản</a:t>
            </a:r>
            <a:r>
              <a:rPr lang="en-US" sz="1200" b="0" kern="1200" dirty="0">
                <a:effectLst/>
              </a:rPr>
              <a:t>: </a:t>
            </a:r>
            <a:r>
              <a:rPr lang="en-US" sz="1200" b="0" kern="1200" dirty="0" err="1">
                <a:effectLst/>
              </a:rPr>
              <a:t>trong</a:t>
            </a:r>
            <a:r>
              <a:rPr lang="en-US" sz="1200" b="0" kern="1200" dirty="0">
                <a:effectLst/>
              </a:rPr>
              <a:t> </a:t>
            </a:r>
            <a:r>
              <a:rPr lang="en-US" sz="1200" b="0" kern="1200" dirty="0" err="1">
                <a:effectLst/>
              </a:rPr>
              <a:t>các</a:t>
            </a:r>
            <a:r>
              <a:rPr lang="en-US" sz="1200" b="0" kern="1200" dirty="0">
                <a:effectLst/>
              </a:rPr>
              <a:t> URL </a:t>
            </a:r>
            <a:r>
              <a:rPr lang="en-US" sz="1200" b="0" kern="1200" dirty="0" err="1">
                <a:effectLst/>
              </a:rPr>
              <a:t>thực</a:t>
            </a:r>
            <a:r>
              <a:rPr lang="en-US" sz="1200" b="0" kern="1200" dirty="0">
                <a:effectLst/>
              </a:rPr>
              <a:t> </a:t>
            </a:r>
            <a:r>
              <a:rPr lang="en-US" sz="1200" b="0" kern="1200" dirty="0" err="1">
                <a:effectLst/>
              </a:rPr>
              <a:t>sự</a:t>
            </a:r>
            <a:r>
              <a:rPr lang="en-US" sz="1200" b="0" kern="1200" dirty="0">
                <a:effectLst/>
              </a:rPr>
              <a:t> </a:t>
            </a:r>
            <a:r>
              <a:rPr lang="en-US" sz="1200" b="0" kern="1200" dirty="0" err="1">
                <a:effectLst/>
              </a:rPr>
              <a:t>là</a:t>
            </a:r>
            <a:r>
              <a:rPr lang="en-US" sz="1200" b="0" kern="1200" dirty="0">
                <a:effectLst/>
              </a:rPr>
              <a:t> phishing,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đã</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đoán</a:t>
            </a:r>
            <a:r>
              <a:rPr lang="en-US" sz="1200" b="0" kern="1200" dirty="0">
                <a:effectLst/>
              </a:rPr>
              <a:t> </a:t>
            </a:r>
            <a:r>
              <a:rPr lang="en-US" sz="1200" b="0" kern="1200" dirty="0" err="1">
                <a:effectLst/>
              </a:rPr>
              <a:t>nhầm</a:t>
            </a:r>
            <a:r>
              <a:rPr lang="en-US" sz="1200" b="0" kern="1200" dirty="0">
                <a:effectLst/>
              </a:rPr>
              <a:t> bao </a:t>
            </a:r>
            <a:r>
              <a:rPr lang="en-US" sz="1200" b="0" kern="1200" dirty="0" err="1">
                <a:effectLst/>
              </a:rPr>
              <a:t>nhiêu</a:t>
            </a:r>
            <a:r>
              <a:rPr lang="en-US" sz="1200" b="0" kern="1200" dirty="0">
                <a:effectLst/>
              </a:rPr>
              <a:t> URL </a:t>
            </a:r>
            <a:r>
              <a:rPr lang="en-US" sz="1200" b="0" kern="1200" dirty="0" err="1">
                <a:effectLst/>
              </a:rPr>
              <a:t>là</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lệ</a:t>
            </a:r>
            <a:r>
              <a:rPr lang="en-US" sz="1200" b="0" kern="1200" dirty="0">
                <a:effectLst/>
              </a:rPr>
              <a:t>. </a:t>
            </a:r>
            <a:r>
              <a:rPr lang="en-US" sz="1200" b="0" kern="1200" dirty="0" err="1">
                <a:effectLst/>
              </a:rPr>
              <a:t>Vì</a:t>
            </a:r>
            <a:r>
              <a:rPr lang="en-US" sz="1200" b="0" kern="1200" dirty="0">
                <a:effectLst/>
              </a:rPr>
              <a:t> </a:t>
            </a:r>
            <a:r>
              <a:rPr lang="en-US" sz="1200" b="0" kern="1200" dirty="0" err="1">
                <a:effectLst/>
              </a:rPr>
              <a:t>thế</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càng</a:t>
            </a:r>
            <a:r>
              <a:rPr lang="en-US" sz="1200" b="0" kern="1200" dirty="0">
                <a:effectLst/>
              </a:rPr>
              <a:t> </a:t>
            </a:r>
            <a:r>
              <a:rPr lang="en-US" sz="1200" b="0" kern="1200" dirty="0" err="1">
                <a:effectLst/>
              </a:rPr>
              <a:t>thấp</a:t>
            </a:r>
            <a:r>
              <a:rPr lang="en-US" sz="1200" b="0" kern="1200" dirty="0">
                <a:effectLst/>
              </a:rPr>
              <a:t> </a:t>
            </a:r>
            <a:r>
              <a:rPr lang="en-US" sz="1200" b="0" kern="1200" dirty="0" err="1">
                <a:effectLst/>
              </a:rPr>
              <a:t>càng</a:t>
            </a:r>
            <a:r>
              <a:rPr lang="en-US" sz="1200" b="0" kern="1200" dirty="0">
                <a:effectLst/>
              </a:rPr>
              <a:t> </a:t>
            </a:r>
            <a:r>
              <a:rPr lang="en-US" sz="1200" b="0" kern="1200" dirty="0" err="1">
                <a:effectLst/>
              </a:rPr>
              <a:t>tốt</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Trên</a:t>
            </a:r>
            <a:r>
              <a:rPr lang="en-US" sz="1200" b="0" kern="1200" dirty="0">
                <a:effectLst/>
              </a:rPr>
              <a:t> </a:t>
            </a:r>
            <a:r>
              <a:rPr lang="en-US" sz="1200" b="0" kern="1200" dirty="0" err="1">
                <a:effectLst/>
              </a:rPr>
              <a:t>tập</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hiện</a:t>
            </a:r>
            <a:r>
              <a:rPr lang="en-US" sz="1200" b="0" kern="1200" dirty="0">
                <a:effectLst/>
              </a:rPr>
              <a:t> </a:t>
            </a:r>
            <a:r>
              <a:rPr lang="en-US" sz="1200" b="0" kern="1200" dirty="0" err="1">
                <a:effectLst/>
              </a:rPr>
              <a:t>tại</a:t>
            </a:r>
            <a:r>
              <a:rPr lang="en-US" sz="1200" b="0" kern="1200" dirty="0">
                <a:effectLst/>
              </a:rPr>
              <a:t>, </a:t>
            </a:r>
            <a:r>
              <a:rPr lang="en-US" sz="1200" b="0" kern="1200" dirty="0" err="1">
                <a:effectLst/>
              </a:rPr>
              <a:t>XGBoost</a:t>
            </a:r>
            <a:r>
              <a:rPr lang="en-US" sz="1200" b="0" kern="1200" dirty="0">
                <a:effectLst/>
              </a:rPr>
              <a:t> </a:t>
            </a:r>
            <a:r>
              <a:rPr lang="en-US" sz="1200" b="0" kern="1200" dirty="0" err="1">
                <a:effectLst/>
              </a:rPr>
              <a:t>có</a:t>
            </a:r>
            <a:r>
              <a:rPr lang="en-US" sz="1200" b="0" kern="1200" dirty="0">
                <a:effectLst/>
              </a:rPr>
              <a:t> FNR </a:t>
            </a:r>
            <a:r>
              <a:rPr lang="en-US" sz="1200" b="0" kern="1200" dirty="0" err="1">
                <a:effectLst/>
              </a:rPr>
              <a:t>thấp</a:t>
            </a:r>
            <a:r>
              <a:rPr lang="en-US" sz="1200" b="0" kern="1200" dirty="0">
                <a:effectLst/>
              </a:rPr>
              <a:t> </a:t>
            </a:r>
            <a:r>
              <a:rPr lang="en-US" sz="1200" b="0" kern="1200" dirty="0" err="1">
                <a:effectLst/>
              </a:rPr>
              <a:t>nhất</a:t>
            </a:r>
            <a:r>
              <a:rPr lang="en-US" sz="1200" b="0" kern="1200" dirty="0">
                <a:effectLst/>
              </a:rPr>
              <a:t>, </a:t>
            </a:r>
            <a:r>
              <a:rPr lang="en-US" sz="1200" b="0" kern="1200" dirty="0" err="1">
                <a:effectLst/>
              </a:rPr>
              <a:t>khoảng</a:t>
            </a:r>
            <a:r>
              <a:rPr lang="en-US" sz="1200" b="0" kern="1200" dirty="0">
                <a:effectLst/>
              </a:rPr>
              <a:t> 3,47%, </a:t>
            </a:r>
            <a:r>
              <a:rPr lang="en-US" sz="1200" b="0" kern="1200" dirty="0" err="1">
                <a:effectLst/>
              </a:rPr>
              <a:t>nên</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chọn</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sử</a:t>
            </a:r>
            <a:r>
              <a:rPr lang="en-US" sz="1200" b="0" kern="1200" dirty="0">
                <a:effectLst/>
              </a:rPr>
              <a:t> </a:t>
            </a:r>
            <a:r>
              <a:rPr lang="en-US" sz="1200" b="0" kern="1200" dirty="0" err="1">
                <a:effectLst/>
              </a:rPr>
              <a:t>dụng</a:t>
            </a:r>
            <a:r>
              <a:rPr lang="en-US" sz="1200" b="0" kern="1200" dirty="0">
                <a:effectLst/>
              </a:rPr>
              <a:t>. Random Forest </a:t>
            </a:r>
            <a:r>
              <a:rPr lang="en-US" sz="1200" b="0" kern="1200" dirty="0" err="1">
                <a:effectLst/>
              </a:rPr>
              <a:t>đứng</a:t>
            </a:r>
            <a:r>
              <a:rPr lang="en-US" sz="1200" b="0" kern="1200" dirty="0">
                <a:effectLst/>
              </a:rPr>
              <a:t> </a:t>
            </a:r>
            <a:r>
              <a:rPr lang="en-US" sz="1200" b="0" kern="1200" dirty="0" err="1">
                <a:effectLst/>
              </a:rPr>
              <a:t>khá</a:t>
            </a:r>
            <a:r>
              <a:rPr lang="en-US" sz="1200" b="0" kern="1200" dirty="0">
                <a:effectLst/>
              </a:rPr>
              <a:t> </a:t>
            </a:r>
            <a:r>
              <a:rPr lang="en-US" sz="1200" b="0" kern="1200" dirty="0" err="1">
                <a:effectLst/>
              </a:rPr>
              <a:t>gần</a:t>
            </a:r>
            <a:r>
              <a:rPr lang="en-US" sz="1200" b="0" kern="1200" dirty="0">
                <a:effectLst/>
              </a:rPr>
              <a:t>, </a:t>
            </a:r>
            <a:r>
              <a:rPr lang="en-US" sz="1200" b="0" kern="1200" dirty="0" err="1">
                <a:effectLst/>
              </a:rPr>
              <a:t>khoảng</a:t>
            </a:r>
            <a:r>
              <a:rPr lang="en-US" sz="1200" b="0" kern="1200" dirty="0">
                <a:effectLst/>
              </a:rPr>
              <a:t> 3,56%.</a:t>
            </a:r>
          </a:p>
          <a:p>
            <a:br>
              <a:rPr lang="en-US" sz="1200" b="0" kern="1200" dirty="0">
                <a:effectLst/>
              </a:rPr>
            </a:br>
            <a:endParaRPr lang="en-US" sz="1200" b="0" kern="1200" dirty="0">
              <a:effectLst/>
            </a:endParaRPr>
          </a:p>
          <a:p>
            <a:r>
              <a:rPr lang="en-US" sz="1200" b="0" kern="1200" dirty="0">
                <a:effectLst/>
              </a:rPr>
              <a:t>Em </a:t>
            </a:r>
            <a:r>
              <a:rPr lang="en-US" sz="1200" b="0" kern="1200" dirty="0" err="1">
                <a:effectLst/>
              </a:rPr>
              <a:t>lưu</a:t>
            </a:r>
            <a:r>
              <a:rPr lang="en-US" sz="1200" b="0" kern="1200" dirty="0">
                <a:effectLst/>
              </a:rPr>
              <a:t> ý </a:t>
            </a:r>
            <a:r>
              <a:rPr lang="en-US" sz="1200" b="0" kern="1200" dirty="0" err="1">
                <a:effectLst/>
              </a:rPr>
              <a:t>là</a:t>
            </a:r>
            <a:r>
              <a:rPr lang="en-US" sz="1200" b="0" kern="1200" dirty="0">
                <a:effectLst/>
              </a:rPr>
              <a:t> </a:t>
            </a:r>
            <a:r>
              <a:rPr lang="en-US" sz="1200" b="0" kern="1200" dirty="0" err="1">
                <a:effectLst/>
              </a:rPr>
              <a:t>chênh</a:t>
            </a:r>
            <a:r>
              <a:rPr lang="en-US" sz="1200" b="0" kern="1200" dirty="0">
                <a:effectLst/>
              </a:rPr>
              <a:t> </a:t>
            </a:r>
            <a:r>
              <a:rPr lang="en-US" sz="1200" b="0" kern="1200" dirty="0" err="1">
                <a:effectLst/>
              </a:rPr>
              <a:t>lệch</a:t>
            </a:r>
            <a:r>
              <a:rPr lang="en-US" sz="1200" b="0" kern="1200" dirty="0">
                <a:effectLst/>
              </a:rPr>
              <a:t> </a:t>
            </a:r>
            <a:r>
              <a:rPr lang="en-US" sz="1200" b="0" kern="1200" dirty="0" err="1">
                <a:effectLst/>
              </a:rPr>
              <a:t>giữa</a:t>
            </a:r>
            <a:r>
              <a:rPr lang="en-US" sz="1200" b="0" kern="1200" dirty="0">
                <a:effectLst/>
              </a:rPr>
              <a:t> </a:t>
            </a:r>
            <a:r>
              <a:rPr lang="en-US" sz="1200" b="0" kern="1200" dirty="0" err="1">
                <a:effectLst/>
              </a:rPr>
              <a:t>hai</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khá</a:t>
            </a:r>
            <a:r>
              <a:rPr lang="en-US" sz="1200" b="0" kern="1200" dirty="0">
                <a:effectLst/>
              </a:rPr>
              <a:t> </a:t>
            </a:r>
            <a:r>
              <a:rPr lang="en-US" sz="1200" b="0" kern="1200" dirty="0" err="1">
                <a:effectLst/>
              </a:rPr>
              <a:t>nhỏ</a:t>
            </a:r>
            <a:r>
              <a:rPr lang="en-US" sz="1200" b="0" kern="1200" dirty="0">
                <a:effectLst/>
              </a:rPr>
              <a:t>, </a:t>
            </a:r>
            <a:r>
              <a:rPr lang="en-US" sz="1200" b="0" kern="1200" dirty="0" err="1">
                <a:effectLst/>
              </a:rPr>
              <a:t>tương</a:t>
            </a:r>
            <a:r>
              <a:rPr lang="en-US" sz="1200" b="0" kern="1200" dirty="0">
                <a:effectLst/>
              </a:rPr>
              <a:t> </a:t>
            </a:r>
            <a:r>
              <a:rPr lang="en-US" sz="1200" b="0" kern="1200" dirty="0" err="1">
                <a:effectLst/>
              </a:rPr>
              <a:t>ứng</a:t>
            </a:r>
            <a:r>
              <a:rPr lang="en-US" sz="1200" b="0" kern="1200" dirty="0">
                <a:effectLst/>
              </a:rPr>
              <a:t> 19 URL </a:t>
            </a:r>
            <a:r>
              <a:rPr lang="en-US" sz="1200" b="0" kern="1200" dirty="0" err="1">
                <a:effectLst/>
              </a:rPr>
              <a:t>bị</a:t>
            </a:r>
            <a:r>
              <a:rPr lang="en-US" sz="1200" b="0" kern="1200" dirty="0">
                <a:effectLst/>
              </a:rPr>
              <a:t> </a:t>
            </a:r>
            <a:r>
              <a:rPr lang="en-US" sz="1200" b="0" kern="1200" dirty="0" err="1">
                <a:effectLst/>
              </a:rPr>
              <a:t>bỏ</a:t>
            </a:r>
            <a:r>
              <a:rPr lang="en-US" sz="1200" b="0" kern="1200" dirty="0">
                <a:effectLst/>
              </a:rPr>
              <a:t> </a:t>
            </a:r>
            <a:r>
              <a:rPr lang="en-US" sz="1200" b="0" kern="1200" dirty="0" err="1">
                <a:effectLst/>
              </a:rPr>
              <a:t>sót</a:t>
            </a:r>
            <a:r>
              <a:rPr lang="en-US" sz="1200" b="0" kern="1200" dirty="0">
                <a:effectLst/>
              </a:rPr>
              <a:t>. Do </a:t>
            </a:r>
            <a:r>
              <a:rPr lang="en-US" sz="1200" b="0" kern="1200" dirty="0" err="1">
                <a:effectLst/>
              </a:rPr>
              <a:t>đó</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cho</a:t>
            </a:r>
            <a:r>
              <a:rPr lang="en-US" sz="1200" b="0" kern="1200" dirty="0">
                <a:effectLst/>
              </a:rPr>
              <a:t> </a:t>
            </a:r>
            <a:r>
              <a:rPr lang="en-US" sz="1200" b="0" kern="1200" dirty="0" err="1">
                <a:effectLst/>
              </a:rPr>
              <a:t>thấy</a:t>
            </a:r>
            <a:r>
              <a:rPr lang="en-US" sz="1200" b="0" kern="1200" dirty="0">
                <a:effectLst/>
              </a:rPr>
              <a:t> </a:t>
            </a:r>
            <a:r>
              <a:rPr lang="en-US" sz="1200" b="0" kern="1200" dirty="0" err="1">
                <a:effectLst/>
              </a:rPr>
              <a:t>XGBoost</a:t>
            </a:r>
            <a:r>
              <a:rPr lang="en-US" sz="1200" b="0" kern="1200" dirty="0">
                <a:effectLst/>
              </a:rPr>
              <a:t> </a:t>
            </a:r>
            <a:r>
              <a:rPr lang="en-US" sz="1200" b="0" kern="1200" dirty="0" err="1">
                <a:effectLst/>
              </a:rPr>
              <a:t>tốt</a:t>
            </a:r>
            <a:r>
              <a:rPr lang="en-US" sz="1200" b="0" kern="1200" dirty="0">
                <a:effectLst/>
              </a:rPr>
              <a:t> </a:t>
            </a:r>
            <a:r>
              <a:rPr lang="en-US" sz="1200" b="0" kern="1200" dirty="0" err="1">
                <a:effectLst/>
              </a:rPr>
              <a:t>hơn</a:t>
            </a:r>
            <a:r>
              <a:rPr lang="en-US" sz="1200" b="0" kern="1200" dirty="0">
                <a:effectLst/>
              </a:rPr>
              <a:t> </a:t>
            </a:r>
            <a:r>
              <a:rPr lang="en-US" sz="1200" b="0" kern="1200" dirty="0" err="1">
                <a:effectLst/>
              </a:rPr>
              <a:t>theo</a:t>
            </a:r>
            <a:r>
              <a:rPr lang="en-US" sz="1200" b="0" kern="1200" dirty="0">
                <a:effectLst/>
              </a:rPr>
              <a:t> </a:t>
            </a:r>
            <a:r>
              <a:rPr lang="en-US" sz="1200" b="0" kern="1200" dirty="0" err="1">
                <a:effectLst/>
              </a:rPr>
              <a:t>tiêu</a:t>
            </a:r>
            <a:r>
              <a:rPr lang="en-US" sz="1200" b="0" kern="1200" dirty="0">
                <a:effectLst/>
              </a:rPr>
              <a:t> </a:t>
            </a:r>
            <a:r>
              <a:rPr lang="en-US" sz="1200" b="0" kern="1200" dirty="0" err="1">
                <a:effectLst/>
              </a:rPr>
              <a:t>chí</a:t>
            </a:r>
            <a:r>
              <a:rPr lang="en-US" sz="1200" b="0" kern="1200" dirty="0">
                <a:effectLst/>
              </a:rPr>
              <a:t> </a:t>
            </a:r>
            <a:r>
              <a:rPr lang="en-US" sz="1200" b="0" kern="1200" dirty="0" err="1">
                <a:effectLst/>
              </a:rPr>
              <a:t>lựa</a:t>
            </a:r>
            <a:r>
              <a:rPr lang="en-US" sz="1200" b="0" kern="1200" dirty="0">
                <a:effectLst/>
              </a:rPr>
              <a:t> </a:t>
            </a:r>
            <a:r>
              <a:rPr lang="en-US" sz="1200" b="0" kern="1200" dirty="0" err="1">
                <a:effectLst/>
              </a:rPr>
              <a:t>chọn</a:t>
            </a:r>
            <a:r>
              <a:rPr lang="en-US" sz="1200" b="0" kern="1200" dirty="0">
                <a:effectLst/>
              </a:rPr>
              <a:t> </a:t>
            </a:r>
            <a:r>
              <a:rPr lang="en-US" sz="1200" b="0" kern="1200" dirty="0" err="1">
                <a:effectLst/>
              </a:rPr>
              <a:t>trong</a:t>
            </a:r>
            <a:r>
              <a:rPr lang="en-US" sz="1200" b="0" kern="1200" dirty="0">
                <a:effectLst/>
              </a:rPr>
              <a:t> </a:t>
            </a:r>
            <a:r>
              <a:rPr lang="en-US" sz="1200" b="0" kern="1200" dirty="0" err="1">
                <a:effectLst/>
              </a:rPr>
              <a:t>lần</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chứ</a:t>
            </a:r>
            <a:r>
              <a:rPr lang="en-US" sz="1200" b="0" kern="1200" dirty="0">
                <a:effectLst/>
              </a:rPr>
              <a:t> </a:t>
            </a:r>
            <a:r>
              <a:rPr lang="en-US" sz="1200" b="0" kern="1200" dirty="0" err="1">
                <a:effectLst/>
              </a:rPr>
              <a:t>chưa</a:t>
            </a:r>
            <a:r>
              <a:rPr lang="en-US" sz="1200" b="0" kern="1200" dirty="0">
                <a:effectLst/>
              </a:rPr>
              <a:t> </a:t>
            </a:r>
            <a:r>
              <a:rPr lang="en-US" sz="1200" b="0" kern="1200" dirty="0" err="1">
                <a:effectLst/>
              </a:rPr>
              <a:t>đủ</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nói</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luôn</a:t>
            </a:r>
            <a:r>
              <a:rPr lang="en-US" sz="1200" b="0" kern="1200" dirty="0">
                <a:effectLst/>
              </a:rPr>
              <a:t> </a:t>
            </a:r>
            <a:r>
              <a:rPr lang="en-US" sz="1200" b="0" kern="1200" dirty="0" err="1">
                <a:effectLst/>
              </a:rPr>
              <a:t>vượt</a:t>
            </a:r>
            <a:r>
              <a:rPr lang="en-US" sz="1200" b="0" kern="1200" dirty="0">
                <a:effectLst/>
              </a:rPr>
              <a:t> </a:t>
            </a:r>
            <a:r>
              <a:rPr lang="en-US" sz="1200" b="0" kern="1200" dirty="0" err="1">
                <a:effectLst/>
              </a:rPr>
              <a:t>trội</a:t>
            </a:r>
            <a:r>
              <a:rPr lang="en-US" sz="1200" b="0" kern="1200" dirty="0">
                <a:effectLst/>
              </a:rPr>
              <a:t> </a:t>
            </a:r>
            <a:r>
              <a:rPr lang="en-US" sz="1200" b="0" kern="1200" dirty="0" err="1">
                <a:effectLst/>
              </a:rPr>
              <a:t>trong</a:t>
            </a:r>
            <a:r>
              <a:rPr lang="en-US" sz="1200" b="0" kern="1200" dirty="0">
                <a:effectLst/>
              </a:rPr>
              <a:t> </a:t>
            </a:r>
            <a:r>
              <a:rPr lang="en-US" sz="1200" b="0" kern="1200" dirty="0" err="1">
                <a:effectLst/>
              </a:rPr>
              <a:t>mọi</a:t>
            </a:r>
            <a:r>
              <a:rPr lang="en-US" sz="1200" b="0" kern="1200" dirty="0">
                <a:effectLst/>
              </a:rPr>
              <a:t> </a:t>
            </a:r>
            <a:r>
              <a:rPr lang="en-US" sz="1200" b="0" kern="1200" dirty="0" err="1">
                <a:effectLst/>
              </a:rPr>
              <a:t>trường</a:t>
            </a:r>
            <a:r>
              <a:rPr lang="en-US" sz="1200" b="0" kern="1200" dirty="0">
                <a:effectLst/>
              </a:rPr>
              <a:t> </a:t>
            </a:r>
            <a:r>
              <a:rPr lang="en-US" sz="1200" b="0" kern="1200" dirty="0" err="1">
                <a:effectLst/>
              </a:rPr>
              <a:t>hợp</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Để</a:t>
            </a:r>
            <a:r>
              <a:rPr lang="en-US" sz="1200" b="0" kern="1200" dirty="0">
                <a:effectLst/>
              </a:rPr>
              <a:t> </a:t>
            </a:r>
            <a:r>
              <a:rPr lang="en-US" sz="1200" b="0" kern="1200" dirty="0" err="1">
                <a:effectLst/>
              </a:rPr>
              <a:t>hiểu</a:t>
            </a:r>
            <a:r>
              <a:rPr lang="en-US" sz="1200" b="0" kern="1200" dirty="0">
                <a:effectLst/>
              </a:rPr>
              <a:t> </a:t>
            </a:r>
            <a:r>
              <a:rPr lang="en-US" sz="1200" b="0" kern="1200" dirty="0" err="1">
                <a:effectLst/>
              </a:rPr>
              <a:t>rõ</a:t>
            </a:r>
            <a:r>
              <a:rPr lang="en-US" sz="1200" b="0" kern="1200" dirty="0">
                <a:effectLst/>
              </a:rPr>
              <a:t> </a:t>
            </a:r>
            <a:r>
              <a:rPr lang="en-US" sz="1200" b="0" kern="1200" dirty="0" err="1">
                <a:effectLst/>
              </a:rPr>
              <a:t>hơn</a:t>
            </a:r>
            <a:r>
              <a:rPr lang="en-US" sz="1200" b="0" kern="1200" dirty="0">
                <a:effectLst/>
              </a:rPr>
              <a:t> </a:t>
            </a:r>
            <a:r>
              <a:rPr lang="en-US" sz="1200" b="0" kern="1200" dirty="0" err="1">
                <a:effectLst/>
              </a:rPr>
              <a:t>các</a:t>
            </a:r>
            <a:r>
              <a:rPr lang="en-US" sz="1200" b="0" kern="1200" dirty="0">
                <a:effectLst/>
              </a:rPr>
              <a:t> </a:t>
            </a:r>
            <a:r>
              <a:rPr lang="en-US" sz="1200" b="0" kern="1200" dirty="0" err="1">
                <a:effectLst/>
              </a:rPr>
              <a:t>lỗi</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đoán</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trình</a:t>
            </a:r>
            <a:r>
              <a:rPr lang="en-US" sz="1200" b="0" kern="1200" dirty="0">
                <a:effectLst/>
              </a:rPr>
              <a:t> </a:t>
            </a:r>
            <a:r>
              <a:rPr lang="en-US" sz="1200" b="0" kern="1200" dirty="0" err="1">
                <a:effectLst/>
              </a:rPr>
              <a:t>bày</a:t>
            </a:r>
            <a:r>
              <a:rPr lang="en-US" sz="1200" b="0" kern="1200" dirty="0">
                <a:effectLst/>
              </a:rPr>
              <a:t> ma </a:t>
            </a:r>
            <a:r>
              <a:rPr lang="en-US" sz="1200" b="0" kern="1200" dirty="0" err="1">
                <a:effectLst/>
              </a:rPr>
              <a:t>trận</a:t>
            </a:r>
            <a:r>
              <a:rPr lang="en-US" sz="1200" b="0" kern="1200" dirty="0">
                <a:effectLst/>
              </a:rPr>
              <a:t> </a:t>
            </a:r>
            <a:r>
              <a:rPr lang="en-US" sz="1200" b="0" kern="1200" dirty="0" err="1">
                <a:effectLst/>
              </a:rPr>
              <a:t>nhầm</a:t>
            </a:r>
            <a:r>
              <a:rPr lang="en-US" sz="1200" b="0" kern="1200" dirty="0">
                <a:effectLst/>
              </a:rPr>
              <a:t> </a:t>
            </a:r>
            <a:r>
              <a:rPr lang="en-US" sz="1200" b="0" kern="1200" dirty="0" err="1">
                <a:effectLst/>
              </a:rPr>
              <a:t>lẫn</a:t>
            </a:r>
            <a:r>
              <a:rPr lang="en-US" sz="1200" b="0" kern="1200" dirty="0">
                <a:effectLst/>
              </a:rPr>
              <a:t> ở </a:t>
            </a:r>
            <a:r>
              <a:rPr lang="en-US" sz="1200" b="0" kern="1200" dirty="0" err="1">
                <a:effectLst/>
              </a:rPr>
              <a:t>trang</a:t>
            </a:r>
            <a:r>
              <a:rPr lang="en-US" sz="1200" b="0" kern="1200" dirty="0">
                <a:effectLst/>
              </a:rPr>
              <a:t> </a:t>
            </a:r>
            <a:r>
              <a:rPr lang="en-US" sz="1200" b="0" kern="1200" dirty="0" err="1">
                <a:effectLst/>
              </a:rPr>
              <a:t>tiếp</a:t>
            </a:r>
            <a:r>
              <a:rPr lang="en-US" sz="1200" b="0" kern="1200" dirty="0">
                <a:effectLst/>
              </a:rPr>
              <a:t> </a:t>
            </a:r>
            <a:r>
              <a:rPr lang="en-US" sz="1200" b="0" kern="1200" dirty="0" err="1">
                <a:effectLst/>
              </a:rPr>
              <a:t>theo.</a:t>
            </a:r>
            <a:endParaRPr lang="en-US" sz="1200" b="0" kern="1200" dirty="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effectLst/>
              </a:rPr>
              <a:t>## Slide 10 — Ma </a:t>
            </a:r>
            <a:r>
              <a:rPr lang="en-US" sz="1200" b="1" kern="1200" dirty="0" err="1">
                <a:effectLst/>
              </a:rPr>
              <a:t>trận</a:t>
            </a:r>
            <a:r>
              <a:rPr lang="en-US" sz="1200" b="1" kern="1200" dirty="0">
                <a:effectLst/>
              </a:rPr>
              <a:t> </a:t>
            </a:r>
            <a:r>
              <a:rPr lang="en-US" sz="1200" b="1" kern="1200" dirty="0" err="1">
                <a:effectLst/>
              </a:rPr>
              <a:t>nhầm</a:t>
            </a:r>
            <a:r>
              <a:rPr lang="en-US" sz="1200" b="1" kern="1200" dirty="0">
                <a:effectLst/>
              </a:rPr>
              <a:t> </a:t>
            </a:r>
            <a:r>
              <a:rPr lang="en-US" sz="1200" b="1" kern="1200" dirty="0" err="1">
                <a:effectLst/>
              </a:rPr>
              <a:t>lẫn</a:t>
            </a:r>
            <a:r>
              <a:rPr lang="en-US" sz="1200" b="1" kern="1200" dirty="0">
                <a:effectLst/>
              </a:rPr>
              <a:t> </a:t>
            </a:r>
            <a:r>
              <a:rPr lang="en-US" sz="1200" b="1" kern="1200" dirty="0" err="1">
                <a:effectLst/>
              </a:rPr>
              <a:t>của</a:t>
            </a:r>
            <a:r>
              <a:rPr lang="en-US" sz="1200" b="1" kern="1200" dirty="0">
                <a:effectLst/>
              </a:rPr>
              <a:t> </a:t>
            </a:r>
            <a:r>
              <a:rPr lang="en-US" sz="1200" b="1" kern="1200" dirty="0" err="1">
                <a:effectLst/>
              </a:rPr>
              <a:t>XGBoost</a:t>
            </a:r>
            <a:endParaRPr lang="en-US" sz="1200" b="0" kern="1200" dirty="0">
              <a:effectLst/>
            </a:endParaRPr>
          </a:p>
          <a:p>
            <a:br>
              <a:rPr lang="en-US" sz="1200" b="0" kern="1200" dirty="0">
                <a:effectLst/>
              </a:rPr>
            </a:br>
            <a:endParaRPr lang="en-US" sz="1200" b="0" kern="1200" dirty="0">
              <a:effectLst/>
            </a:endParaRPr>
          </a:p>
          <a:p>
            <a:r>
              <a:rPr lang="en-US" sz="1200" b="0" i="1" kern="1200" dirty="0">
                <a:effectLst/>
              </a:rPr>
              <a:t>[</a:t>
            </a:r>
            <a:r>
              <a:rPr lang="en-US" sz="1200" b="0" i="1" kern="1200" dirty="0" err="1">
                <a:effectLst/>
              </a:rPr>
              <a:t>Chỉ</a:t>
            </a:r>
            <a:r>
              <a:rPr lang="en-US" sz="1200" b="0" i="1" kern="1200" dirty="0">
                <a:effectLst/>
              </a:rPr>
              <a:t> </a:t>
            </a:r>
            <a:r>
              <a:rPr lang="en-US" sz="1200" b="0" i="1" kern="1200" dirty="0" err="1">
                <a:effectLst/>
              </a:rPr>
              <a:t>vào</a:t>
            </a:r>
            <a:r>
              <a:rPr lang="en-US" sz="1200" b="0" i="1" kern="1200" dirty="0">
                <a:effectLst/>
              </a:rPr>
              <a:t> </a:t>
            </a:r>
            <a:r>
              <a:rPr lang="en-US" sz="1200" b="0" i="1" kern="1200" dirty="0" err="1">
                <a:effectLst/>
              </a:rPr>
              <a:t>hàng</a:t>
            </a:r>
            <a:r>
              <a:rPr lang="en-US" sz="1200" b="0" i="1" kern="1200" dirty="0">
                <a:effectLst/>
              </a:rPr>
              <a:t> Phishing, </a:t>
            </a:r>
            <a:r>
              <a:rPr lang="en-US" sz="1200" b="0" i="1" kern="1200" dirty="0" err="1">
                <a:effectLst/>
              </a:rPr>
              <a:t>sau</a:t>
            </a:r>
            <a:r>
              <a:rPr lang="en-US" sz="1200" b="0" i="1" kern="1200" dirty="0">
                <a:effectLst/>
              </a:rPr>
              <a:t> </a:t>
            </a:r>
            <a:r>
              <a:rPr lang="en-US" sz="1200" b="0" i="1" kern="1200" dirty="0" err="1">
                <a:effectLst/>
              </a:rPr>
              <a:t>đó</a:t>
            </a:r>
            <a:r>
              <a:rPr lang="en-US" sz="1200" b="0" i="1" kern="1200" dirty="0">
                <a:effectLst/>
              </a:rPr>
              <a:t> </a:t>
            </a:r>
            <a:r>
              <a:rPr lang="en-US" sz="1200" b="0" i="1" kern="1200" dirty="0" err="1">
                <a:effectLst/>
              </a:rPr>
              <a:t>chỉ</a:t>
            </a:r>
            <a:r>
              <a:rPr lang="en-US" sz="1200" b="0" i="1" kern="1200" dirty="0">
                <a:effectLst/>
              </a:rPr>
              <a:t> ô 772 </a:t>
            </a:r>
            <a:r>
              <a:rPr lang="en-US" sz="1200" b="0" i="1" kern="1200" dirty="0" err="1">
                <a:effectLst/>
              </a:rPr>
              <a:t>và</a:t>
            </a:r>
            <a:r>
              <a:rPr lang="en-US" sz="1200" b="0" i="1" kern="1200" dirty="0">
                <a:effectLst/>
              </a:rPr>
              <a:t> ô 292. </a:t>
            </a:r>
            <a:r>
              <a:rPr lang="en-US" sz="1200" b="0" i="1" kern="1200" dirty="0" err="1">
                <a:effectLst/>
              </a:rPr>
              <a:t>Không</a:t>
            </a:r>
            <a:r>
              <a:rPr lang="en-US" sz="1200" b="0" i="1" kern="1200" dirty="0">
                <a:effectLst/>
              </a:rPr>
              <a:t> </a:t>
            </a:r>
            <a:r>
              <a:rPr lang="en-US" sz="1200" b="0" i="1" kern="1200" dirty="0" err="1">
                <a:effectLst/>
              </a:rPr>
              <a:t>cần</a:t>
            </a:r>
            <a:r>
              <a:rPr lang="en-US" sz="1200" b="0" i="1" kern="1200" dirty="0">
                <a:effectLst/>
              </a:rPr>
              <a:t> </a:t>
            </a:r>
            <a:r>
              <a:rPr lang="en-US" sz="1200" b="0" i="1" kern="1200" dirty="0" err="1">
                <a:effectLst/>
              </a:rPr>
              <a:t>đọc</a:t>
            </a:r>
            <a:r>
              <a:rPr lang="en-US" sz="1200" b="0" i="1" kern="1200" dirty="0">
                <a:effectLst/>
              </a:rPr>
              <a:t> </a:t>
            </a:r>
            <a:r>
              <a:rPr lang="en-US" sz="1200" b="0" i="1" kern="1200" dirty="0" err="1">
                <a:effectLst/>
              </a:rPr>
              <a:t>toàn</a:t>
            </a:r>
            <a:r>
              <a:rPr lang="en-US" sz="1200" b="0" i="1" kern="1200" dirty="0">
                <a:effectLst/>
              </a:rPr>
              <a:t> </a:t>
            </a:r>
            <a:r>
              <a:rPr lang="en-US" sz="1200" b="0" i="1" kern="1200" dirty="0" err="1">
                <a:effectLst/>
              </a:rPr>
              <a:t>bộ</a:t>
            </a:r>
            <a:r>
              <a:rPr lang="en-US" sz="1200" b="0" i="1" kern="1200" dirty="0">
                <a:effectLst/>
              </a:rPr>
              <a:t> </a:t>
            </a:r>
            <a:r>
              <a:rPr lang="en-US" sz="1200" b="0" i="1" kern="1200" dirty="0" err="1">
                <a:effectLst/>
              </a:rPr>
              <a:t>bảng</a:t>
            </a:r>
            <a:r>
              <a:rPr lang="en-US" sz="1200" b="0" i="1" kern="1200" dirty="0">
                <a:effectLst/>
              </a:rPr>
              <a:t>.]</a:t>
            </a:r>
          </a:p>
          <a:p>
            <a:br>
              <a:rPr lang="en-US" sz="1200" b="0" kern="1200" dirty="0">
                <a:effectLst/>
              </a:rPr>
            </a:br>
            <a:endParaRPr lang="en-US" sz="1200" b="0" kern="1200" dirty="0">
              <a:effectLst/>
            </a:endParaRPr>
          </a:p>
          <a:p>
            <a:r>
              <a:rPr lang="en-US" sz="1200" b="0" kern="1200" dirty="0">
                <a:effectLst/>
              </a:rPr>
              <a:t>Trong </a:t>
            </a:r>
            <a:r>
              <a:rPr lang="en-US" sz="1200" b="0" kern="1200" dirty="0" err="1">
                <a:effectLst/>
              </a:rPr>
              <a:t>bảng</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hàng</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nhãn</a:t>
            </a:r>
            <a:r>
              <a:rPr lang="en-US" sz="1200" b="0" kern="1200" dirty="0">
                <a:effectLst/>
              </a:rPr>
              <a:t> </a:t>
            </a:r>
            <a:r>
              <a:rPr lang="en-US" sz="1200" b="0" kern="1200" dirty="0" err="1">
                <a:effectLst/>
              </a:rPr>
              <a:t>thực</a:t>
            </a:r>
            <a:r>
              <a:rPr lang="en-US" sz="1200" b="0" kern="1200" dirty="0">
                <a:effectLst/>
              </a:rPr>
              <a:t> </a:t>
            </a:r>
            <a:r>
              <a:rPr lang="en-US" sz="1200" b="0" kern="1200" dirty="0" err="1">
                <a:effectLst/>
              </a:rPr>
              <a:t>tế</a:t>
            </a:r>
            <a:r>
              <a:rPr lang="en-US" sz="1200" b="0" kern="1200" dirty="0">
                <a:effectLst/>
              </a:rPr>
              <a:t>, </a:t>
            </a:r>
            <a:r>
              <a:rPr lang="en-US" sz="1200" b="0" kern="1200" dirty="0" err="1">
                <a:effectLst/>
              </a:rPr>
              <a:t>còn</a:t>
            </a:r>
            <a:r>
              <a:rPr lang="en-US" sz="1200" b="0" kern="1200" dirty="0">
                <a:effectLst/>
              </a:rPr>
              <a:t> </a:t>
            </a:r>
            <a:r>
              <a:rPr lang="en-US" sz="1200" b="0" kern="1200" dirty="0" err="1">
                <a:effectLst/>
              </a:rPr>
              <a:t>cột</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dự</a:t>
            </a:r>
            <a:r>
              <a:rPr lang="en-US" sz="1200" b="0" kern="1200" dirty="0">
                <a:effectLst/>
              </a:rPr>
              <a:t> </a:t>
            </a:r>
            <a:r>
              <a:rPr lang="en-US" sz="1200" b="0" kern="1200" dirty="0" err="1">
                <a:effectLst/>
              </a:rPr>
              <a:t>đoán</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Ở </a:t>
            </a:r>
            <a:r>
              <a:rPr lang="en-US" sz="1200" b="0" kern="1200" dirty="0" err="1">
                <a:effectLst/>
              </a:rPr>
              <a:t>nhóm</a:t>
            </a:r>
            <a:r>
              <a:rPr lang="en-US" sz="1200" b="0" kern="1200" dirty="0">
                <a:effectLst/>
              </a:rPr>
              <a:t> phishing,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nhận</a:t>
            </a:r>
            <a:r>
              <a:rPr lang="en-US" sz="1200" b="0" kern="1200" dirty="0">
                <a:effectLst/>
              </a:rPr>
              <a:t> </a:t>
            </a:r>
            <a:r>
              <a:rPr lang="en-US" sz="1200" b="0" kern="1200" dirty="0" err="1">
                <a:effectLst/>
              </a:rPr>
              <a:t>đúng</a:t>
            </a:r>
            <a:r>
              <a:rPr lang="en-US" sz="1200" b="0" kern="1200" dirty="0">
                <a:effectLst/>
              </a:rPr>
              <a:t> 21.466 URL, </a:t>
            </a:r>
            <a:r>
              <a:rPr lang="en-US" sz="1200" b="0" kern="1200" dirty="0" err="1">
                <a:effectLst/>
              </a:rPr>
              <a:t>nhưng</a:t>
            </a:r>
            <a:r>
              <a:rPr lang="en-US" sz="1200" b="0" kern="1200" dirty="0">
                <a:effectLst/>
              </a:rPr>
              <a:t> </a:t>
            </a:r>
            <a:r>
              <a:rPr lang="en-US" sz="1200" b="0" kern="1200" dirty="0" err="1">
                <a:effectLst/>
              </a:rPr>
              <a:t>vẫn</a:t>
            </a:r>
            <a:r>
              <a:rPr lang="en-US" sz="1200" b="0" kern="1200" dirty="0">
                <a:effectLst/>
              </a:rPr>
              <a:t> </a:t>
            </a:r>
            <a:r>
              <a:rPr lang="en-US" sz="1200" b="0" kern="1200" dirty="0" err="1">
                <a:effectLst/>
              </a:rPr>
              <a:t>bỏ</a:t>
            </a:r>
            <a:r>
              <a:rPr lang="en-US" sz="1200" b="0" kern="1200" dirty="0">
                <a:effectLst/>
              </a:rPr>
              <a:t> </a:t>
            </a:r>
            <a:r>
              <a:rPr lang="en-US" sz="1200" b="0" kern="1200" dirty="0" err="1">
                <a:effectLst/>
              </a:rPr>
              <a:t>sót</a:t>
            </a:r>
            <a:r>
              <a:rPr lang="en-US" sz="1200" b="0" kern="1200" dirty="0">
                <a:effectLst/>
              </a:rPr>
              <a:t> 772 URL. </a:t>
            </a:r>
            <a:r>
              <a:rPr lang="en-US" sz="1200" b="0" kern="1200" dirty="0" err="1">
                <a:effectLst/>
              </a:rPr>
              <a:t>Đây</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nhóm</a:t>
            </a:r>
            <a:r>
              <a:rPr lang="en-US" sz="1200" b="0" kern="1200" dirty="0">
                <a:effectLst/>
              </a:rPr>
              <a:t> </a:t>
            </a:r>
            <a:r>
              <a:rPr lang="en-US" sz="1200" b="0" kern="1200" dirty="0" err="1">
                <a:effectLst/>
              </a:rPr>
              <a:t>lỗi</a:t>
            </a:r>
            <a:r>
              <a:rPr lang="en-US" sz="1200" b="0" kern="1200" dirty="0">
                <a:effectLst/>
              </a:rPr>
              <a:t> </a:t>
            </a:r>
            <a:r>
              <a:rPr lang="en-US" sz="1200" b="0" kern="1200" dirty="0" err="1">
                <a:effectLst/>
              </a:rPr>
              <a:t>mà</a:t>
            </a:r>
            <a:r>
              <a:rPr lang="en-US" sz="1200" b="0" kern="1200" dirty="0">
                <a:effectLst/>
              </a:rPr>
              <a:t> </a:t>
            </a:r>
            <a:r>
              <a:rPr lang="en-US" sz="1200" b="0" kern="1200" dirty="0" err="1">
                <a:effectLst/>
              </a:rPr>
              <a:t>đồ</a:t>
            </a:r>
            <a:r>
              <a:rPr lang="en-US" sz="1200" b="0" kern="1200" dirty="0">
                <a:effectLst/>
              </a:rPr>
              <a:t> </a:t>
            </a:r>
            <a:r>
              <a:rPr lang="en-US" sz="1200" b="0" kern="1200" dirty="0" err="1">
                <a:effectLst/>
              </a:rPr>
              <a:t>án</a:t>
            </a:r>
            <a:r>
              <a:rPr lang="en-US" sz="1200" b="0" kern="1200" dirty="0">
                <a:effectLst/>
              </a:rPr>
              <a:t> </a:t>
            </a:r>
            <a:r>
              <a:rPr lang="en-US" sz="1200" b="0" kern="1200" dirty="0" err="1">
                <a:effectLst/>
              </a:rPr>
              <a:t>muốn</a:t>
            </a:r>
            <a:r>
              <a:rPr lang="en-US" sz="1200" b="0" kern="1200" dirty="0">
                <a:effectLst/>
              </a:rPr>
              <a:t> </a:t>
            </a:r>
            <a:r>
              <a:rPr lang="en-US" sz="1200" b="0" kern="1200" dirty="0" err="1">
                <a:effectLst/>
              </a:rPr>
              <a:t>theo</a:t>
            </a:r>
            <a:r>
              <a:rPr lang="en-US" sz="1200" b="0" kern="1200" dirty="0">
                <a:effectLst/>
              </a:rPr>
              <a:t> </a:t>
            </a:r>
            <a:r>
              <a:rPr lang="en-US" sz="1200" b="0" kern="1200" dirty="0" err="1">
                <a:effectLst/>
              </a:rPr>
              <a:t>dõi</a:t>
            </a:r>
            <a:r>
              <a:rPr lang="en-US" sz="1200" b="0" kern="1200" dirty="0">
                <a:effectLst/>
              </a:rPr>
              <a:t> </a:t>
            </a:r>
            <a:r>
              <a:rPr lang="en-US" sz="1200" b="0" kern="1200" dirty="0" err="1">
                <a:effectLst/>
              </a:rPr>
              <a:t>bằng</a:t>
            </a:r>
            <a:r>
              <a:rPr lang="en-US" sz="1200" b="0" kern="1200" dirty="0">
                <a:effectLst/>
              </a:rPr>
              <a:t> </a:t>
            </a:r>
            <a:r>
              <a:rPr lang="en-US" sz="1200" b="0" kern="1200" dirty="0" err="1">
                <a:effectLst/>
              </a:rPr>
              <a:t>chỉ</a:t>
            </a:r>
            <a:r>
              <a:rPr lang="en-US" sz="1200" b="0" kern="1200" dirty="0">
                <a:effectLst/>
              </a:rPr>
              <a:t> </a:t>
            </a:r>
            <a:r>
              <a:rPr lang="en-US" sz="1200" b="0" kern="1200" dirty="0" err="1">
                <a:effectLst/>
              </a:rPr>
              <a:t>số</a:t>
            </a:r>
            <a:r>
              <a:rPr lang="en-US" sz="1200" b="0" kern="1200" dirty="0">
                <a:effectLst/>
              </a:rPr>
              <a:t> FNR.</a:t>
            </a:r>
          </a:p>
          <a:p>
            <a:br>
              <a:rPr lang="en-US" sz="1200" b="0" kern="1200" dirty="0">
                <a:effectLst/>
              </a:rPr>
            </a:br>
            <a:endParaRPr lang="en-US" sz="1200" b="0" kern="1200" dirty="0">
              <a:effectLst/>
            </a:endParaRPr>
          </a:p>
          <a:p>
            <a:r>
              <a:rPr lang="en-US" sz="1200" b="0" kern="1200" dirty="0">
                <a:effectLst/>
              </a:rPr>
              <a:t>Ở </a:t>
            </a:r>
            <a:r>
              <a:rPr lang="en-US" sz="1200" b="0" kern="1200" dirty="0" err="1">
                <a:effectLst/>
              </a:rPr>
              <a:t>chiều</a:t>
            </a:r>
            <a:r>
              <a:rPr lang="en-US" sz="1200" b="0" kern="1200" dirty="0">
                <a:effectLst/>
              </a:rPr>
              <a:t> </a:t>
            </a:r>
            <a:r>
              <a:rPr lang="en-US" sz="1200" b="0" kern="1200" dirty="0" err="1">
                <a:effectLst/>
              </a:rPr>
              <a:t>ngược</a:t>
            </a:r>
            <a:r>
              <a:rPr lang="en-US" sz="1200" b="0" kern="1200" dirty="0">
                <a:effectLst/>
              </a:rPr>
              <a:t> </a:t>
            </a:r>
            <a:r>
              <a:rPr lang="en-US" sz="1200" b="0" kern="1200" dirty="0" err="1">
                <a:effectLst/>
              </a:rPr>
              <a:t>lại</a:t>
            </a:r>
            <a:r>
              <a:rPr lang="en-US" sz="1200" b="0" kern="1200" dirty="0">
                <a:effectLst/>
              </a:rPr>
              <a:t>, </a:t>
            </a:r>
            <a:r>
              <a:rPr lang="en-US" sz="1200" b="0" kern="1200" dirty="0" err="1">
                <a:effectLst/>
              </a:rPr>
              <a:t>có</a:t>
            </a:r>
            <a:r>
              <a:rPr lang="en-US" sz="1200" b="0" kern="1200" dirty="0">
                <a:effectLst/>
              </a:rPr>
              <a:t> 292 URL </a:t>
            </a:r>
            <a:r>
              <a:rPr lang="en-US" sz="1200" b="0" kern="1200" dirty="0" err="1">
                <a:effectLst/>
              </a:rPr>
              <a:t>hợp</a:t>
            </a:r>
            <a:r>
              <a:rPr lang="en-US" sz="1200" b="0" kern="1200" dirty="0">
                <a:effectLst/>
              </a:rPr>
              <a:t> </a:t>
            </a:r>
            <a:r>
              <a:rPr lang="en-US" sz="1200" b="0" kern="1200" dirty="0" err="1">
                <a:effectLst/>
              </a:rPr>
              <a:t>lệ</a:t>
            </a:r>
            <a:r>
              <a:rPr lang="en-US" sz="1200" b="0" kern="1200" dirty="0">
                <a:effectLst/>
              </a:rPr>
              <a:t> </a:t>
            </a:r>
            <a:r>
              <a:rPr lang="en-US" sz="1200" b="0" kern="1200" dirty="0" err="1">
                <a:effectLst/>
              </a:rPr>
              <a:t>bị</a:t>
            </a:r>
            <a:r>
              <a:rPr lang="en-US" sz="1200" b="0" kern="1200" dirty="0">
                <a:effectLst/>
              </a:rPr>
              <a:t> </a:t>
            </a:r>
            <a:r>
              <a:rPr lang="en-US" sz="1200" b="0" kern="1200" dirty="0" err="1">
                <a:effectLst/>
              </a:rPr>
              <a:t>cảnh</a:t>
            </a:r>
            <a:r>
              <a:rPr lang="en-US" sz="1200" b="0" kern="1200" dirty="0">
                <a:effectLst/>
              </a:rPr>
              <a:t> </a:t>
            </a:r>
            <a:r>
              <a:rPr lang="en-US" sz="1200" b="0" kern="1200" dirty="0" err="1">
                <a:effectLst/>
              </a:rPr>
              <a:t>báo</a:t>
            </a:r>
            <a:r>
              <a:rPr lang="en-US" sz="1200" b="0" kern="1200" dirty="0">
                <a:effectLst/>
              </a:rPr>
              <a:t> </a:t>
            </a:r>
            <a:r>
              <a:rPr lang="en-US" sz="1200" b="0" kern="1200" dirty="0" err="1">
                <a:effectLst/>
              </a:rPr>
              <a:t>nhầm</a:t>
            </a:r>
            <a:r>
              <a:rPr lang="en-US" sz="1200" b="0" kern="1200" dirty="0">
                <a:effectLst/>
              </a:rPr>
              <a:t> </a:t>
            </a:r>
            <a:r>
              <a:rPr lang="en-US" sz="1200" b="0" kern="1200" dirty="0" err="1">
                <a:effectLst/>
              </a:rPr>
              <a:t>là</a:t>
            </a:r>
            <a:r>
              <a:rPr lang="en-US" sz="1200" b="0" kern="1200" dirty="0">
                <a:effectLst/>
              </a:rPr>
              <a:t> phishing. Như </a:t>
            </a:r>
            <a:r>
              <a:rPr lang="en-US" sz="1200" b="0" kern="1200" dirty="0" err="1">
                <a:effectLst/>
              </a:rPr>
              <a:t>vậy</a:t>
            </a:r>
            <a:r>
              <a:rPr lang="en-US" sz="1200" b="0" kern="1200" dirty="0">
                <a:effectLst/>
              </a:rPr>
              <a:t>, </a:t>
            </a:r>
            <a:r>
              <a:rPr lang="en-US" sz="1200" b="0" kern="1200" dirty="0" err="1">
                <a:effectLst/>
              </a:rPr>
              <a:t>ngoài</a:t>
            </a:r>
            <a:r>
              <a:rPr lang="en-US" sz="1200" b="0" kern="1200" dirty="0">
                <a:effectLst/>
              </a:rPr>
              <a:t> </a:t>
            </a:r>
            <a:r>
              <a:rPr lang="en-US" sz="1200" b="0" kern="1200" dirty="0" err="1">
                <a:effectLst/>
              </a:rPr>
              <a:t>việc</a:t>
            </a:r>
            <a:r>
              <a:rPr lang="en-US" sz="1200" b="0" kern="1200" dirty="0">
                <a:effectLst/>
              </a:rPr>
              <a:t> </a:t>
            </a:r>
            <a:r>
              <a:rPr lang="en-US" sz="1200" b="0" kern="1200" dirty="0" err="1">
                <a:effectLst/>
              </a:rPr>
              <a:t>giảm</a:t>
            </a:r>
            <a:r>
              <a:rPr lang="en-US" sz="1200" b="0" kern="1200" dirty="0">
                <a:effectLst/>
              </a:rPr>
              <a:t> </a:t>
            </a:r>
            <a:r>
              <a:rPr lang="en-US" sz="1200" b="0" kern="1200" dirty="0" err="1">
                <a:effectLst/>
              </a:rPr>
              <a:t>bỏ</a:t>
            </a:r>
            <a:r>
              <a:rPr lang="en-US" sz="1200" b="0" kern="1200" dirty="0">
                <a:effectLst/>
              </a:rPr>
              <a:t> </a:t>
            </a:r>
            <a:r>
              <a:rPr lang="en-US" sz="1200" b="0" kern="1200" dirty="0" err="1">
                <a:effectLst/>
              </a:rPr>
              <a:t>sót</a:t>
            </a:r>
            <a:r>
              <a:rPr lang="en-US" sz="1200" b="0" kern="1200" dirty="0">
                <a:effectLst/>
              </a:rPr>
              <a:t>, </a:t>
            </a:r>
            <a:r>
              <a:rPr lang="en-US" sz="1200" b="0" kern="1200" dirty="0" err="1">
                <a:effectLst/>
              </a:rPr>
              <a:t>hệ</a:t>
            </a:r>
            <a:r>
              <a:rPr lang="en-US" sz="1200" b="0" kern="1200" dirty="0">
                <a:effectLst/>
              </a:rPr>
              <a:t> </a:t>
            </a:r>
            <a:r>
              <a:rPr lang="en-US" sz="1200" b="0" kern="1200" dirty="0" err="1">
                <a:effectLst/>
              </a:rPr>
              <a:t>thống</a:t>
            </a:r>
            <a:r>
              <a:rPr lang="en-US" sz="1200" b="0" kern="1200" dirty="0">
                <a:effectLst/>
              </a:rPr>
              <a:t> </a:t>
            </a:r>
            <a:r>
              <a:rPr lang="en-US" sz="1200" b="0" kern="1200" dirty="0" err="1">
                <a:effectLst/>
              </a:rPr>
              <a:t>vẫn</a:t>
            </a:r>
            <a:r>
              <a:rPr lang="en-US" sz="1200" b="0" kern="1200" dirty="0">
                <a:effectLst/>
              </a:rPr>
              <a:t> </a:t>
            </a:r>
            <a:r>
              <a:rPr lang="en-US" sz="1200" b="0" kern="1200" dirty="0" err="1">
                <a:effectLst/>
              </a:rPr>
              <a:t>cần</a:t>
            </a:r>
            <a:r>
              <a:rPr lang="en-US" sz="1200" b="0" kern="1200" dirty="0">
                <a:effectLst/>
              </a:rPr>
              <a:t> </a:t>
            </a:r>
            <a:r>
              <a:rPr lang="en-US" sz="1200" b="0" kern="1200" dirty="0" err="1">
                <a:effectLst/>
              </a:rPr>
              <a:t>chú</a:t>
            </a:r>
            <a:r>
              <a:rPr lang="en-US" sz="1200" b="0" kern="1200" dirty="0">
                <a:effectLst/>
              </a:rPr>
              <a:t> ý </a:t>
            </a:r>
            <a:r>
              <a:rPr lang="en-US" sz="1200" b="0" kern="1200" dirty="0" err="1">
                <a:effectLst/>
              </a:rPr>
              <a:t>đến</a:t>
            </a:r>
            <a:r>
              <a:rPr lang="en-US" sz="1200" b="0" kern="1200" dirty="0">
                <a:effectLst/>
              </a:rPr>
              <a:t> </a:t>
            </a:r>
            <a:r>
              <a:rPr lang="en-US" sz="1200" b="0" kern="1200" dirty="0" err="1">
                <a:effectLst/>
              </a:rPr>
              <a:t>trải</a:t>
            </a:r>
            <a:r>
              <a:rPr lang="en-US" sz="1200" b="0" kern="1200" dirty="0">
                <a:effectLst/>
              </a:rPr>
              <a:t> </a:t>
            </a:r>
            <a:r>
              <a:rPr lang="en-US" sz="1200" b="0" kern="1200" dirty="0" err="1">
                <a:effectLst/>
              </a:rPr>
              <a:t>nghiệm</a:t>
            </a:r>
            <a:r>
              <a:rPr lang="en-US" sz="1200" b="0" kern="1200" dirty="0">
                <a:effectLst/>
              </a:rPr>
              <a:t> </a:t>
            </a:r>
            <a:r>
              <a:rPr lang="en-US" sz="1200" b="0" kern="1200" dirty="0" err="1">
                <a:effectLst/>
              </a:rPr>
              <a:t>người</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khi</a:t>
            </a:r>
            <a:r>
              <a:rPr lang="en-US" sz="1200" b="0" kern="1200" dirty="0">
                <a:effectLst/>
              </a:rPr>
              <a:t> </a:t>
            </a:r>
            <a:r>
              <a:rPr lang="en-US" sz="1200" b="0" kern="1200" dirty="0" err="1">
                <a:effectLst/>
              </a:rPr>
              <a:t>cảnh</a:t>
            </a:r>
            <a:r>
              <a:rPr lang="en-US" sz="1200" b="0" kern="1200" dirty="0">
                <a:effectLst/>
              </a:rPr>
              <a:t> </a:t>
            </a:r>
            <a:r>
              <a:rPr lang="en-US" sz="1200" b="0" kern="1200" dirty="0" err="1">
                <a:effectLst/>
              </a:rPr>
              <a:t>báo</a:t>
            </a:r>
            <a:r>
              <a:rPr lang="en-US" sz="1200" b="0" kern="1200" dirty="0">
                <a:effectLst/>
              </a:rPr>
              <a:t> </a:t>
            </a:r>
            <a:r>
              <a:rPr lang="en-US" sz="1200" b="0" kern="1200" dirty="0" err="1">
                <a:effectLst/>
              </a:rPr>
              <a:t>nhầm</a:t>
            </a:r>
            <a:r>
              <a:rPr lang="en-US" sz="1200" b="0" kern="1200" dirty="0">
                <a:effectLst/>
              </a:rPr>
              <a:t>.</a:t>
            </a:r>
          </a:p>
          <a:p>
            <a:br>
              <a:rPr lang="en-US" sz="1200" b="0" kern="1200" dirty="0">
                <a:effectLst/>
              </a:rPr>
            </a:br>
            <a:endParaRPr lang="en-US" sz="1200" b="0" kern="1200" dirty="0">
              <a:effectLst/>
            </a:endParaRPr>
          </a:p>
          <a:p>
            <a:r>
              <a:rPr lang="en-US" sz="1200" b="0" kern="1200" dirty="0">
                <a:effectLst/>
              </a:rPr>
              <a:t>Các </a:t>
            </a:r>
            <a:r>
              <a:rPr lang="en-US" sz="1200" b="0" kern="1200" dirty="0" err="1">
                <a:effectLst/>
              </a:rPr>
              <a:t>chỉ</a:t>
            </a:r>
            <a:r>
              <a:rPr lang="en-US" sz="1200" b="0" kern="1200" dirty="0">
                <a:effectLst/>
              </a:rPr>
              <a:t> </a:t>
            </a:r>
            <a:r>
              <a:rPr lang="en-US" sz="1200" b="0" kern="1200" dirty="0" err="1">
                <a:effectLst/>
              </a:rPr>
              <a:t>số</a:t>
            </a:r>
            <a:r>
              <a:rPr lang="en-US" sz="1200" b="0" kern="1200" dirty="0">
                <a:effectLst/>
              </a:rPr>
              <a:t> </a:t>
            </a:r>
            <a:r>
              <a:rPr lang="en-US" sz="1200" b="0" kern="1200" dirty="0" err="1">
                <a:effectLst/>
              </a:rPr>
              <a:t>tổng</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gồm</a:t>
            </a:r>
            <a:r>
              <a:rPr lang="en-US" sz="1200" b="0" kern="1200" dirty="0">
                <a:effectLst/>
              </a:rPr>
              <a:t> recall phishing </a:t>
            </a:r>
            <a:r>
              <a:rPr lang="en-US" sz="1200" b="0" kern="1200" dirty="0" err="1">
                <a:effectLst/>
              </a:rPr>
              <a:t>khoảng</a:t>
            </a:r>
            <a:r>
              <a:rPr lang="en-US" sz="1200" b="0" kern="1200" dirty="0">
                <a:effectLst/>
              </a:rPr>
              <a:t> 96,53%, F1 </a:t>
            </a:r>
            <a:r>
              <a:rPr lang="en-US" sz="1200" b="0" kern="1200" dirty="0" err="1">
                <a:effectLst/>
              </a:rPr>
              <a:t>khoảng</a:t>
            </a:r>
            <a:r>
              <a:rPr lang="en-US" sz="1200" b="0" kern="1200" dirty="0">
                <a:effectLst/>
              </a:rPr>
              <a:t> 97,58% </a:t>
            </a:r>
            <a:r>
              <a:rPr lang="en-US" sz="1200" b="0" kern="1200" dirty="0" err="1">
                <a:effectLst/>
              </a:rPr>
              <a:t>và</a:t>
            </a:r>
            <a:r>
              <a:rPr lang="en-US" sz="1200" b="0" kern="1200" dirty="0">
                <a:effectLst/>
              </a:rPr>
              <a:t> accuracy </a:t>
            </a:r>
            <a:r>
              <a:rPr lang="en-US" sz="1200" b="0" kern="1200" dirty="0" err="1">
                <a:effectLst/>
              </a:rPr>
              <a:t>khoảng</a:t>
            </a:r>
            <a:r>
              <a:rPr lang="en-US" sz="1200" b="0" kern="1200" dirty="0">
                <a:effectLst/>
              </a:rPr>
              <a:t> 97,85%.</a:t>
            </a:r>
          </a:p>
          <a:p>
            <a:br>
              <a:rPr lang="en-US" sz="1200" b="0" kern="1200" dirty="0">
                <a:effectLst/>
              </a:rPr>
            </a:br>
            <a:endParaRPr lang="en-US" sz="1200" b="0" kern="1200" dirty="0">
              <a:effectLst/>
            </a:endParaRPr>
          </a:p>
          <a:p>
            <a:r>
              <a:rPr lang="en-US" sz="1200" b="0" kern="1200" dirty="0" err="1">
                <a:effectLst/>
              </a:rPr>
              <a:t>Những</a:t>
            </a:r>
            <a:r>
              <a:rPr lang="en-US" sz="1200" b="0" kern="1200" dirty="0">
                <a:effectLst/>
              </a:rPr>
              <a:t> </a:t>
            </a:r>
            <a:r>
              <a:rPr lang="en-US" sz="1200" b="0" kern="1200" dirty="0" err="1">
                <a:effectLst/>
              </a:rPr>
              <a:t>kết</a:t>
            </a:r>
            <a:r>
              <a:rPr lang="en-US" sz="1200" b="0" kern="1200" dirty="0">
                <a:effectLst/>
              </a:rPr>
              <a:t> </a:t>
            </a:r>
            <a:r>
              <a:rPr lang="en-US" sz="1200" b="0" kern="1200" dirty="0" err="1">
                <a:effectLst/>
              </a:rPr>
              <a:t>quả</a:t>
            </a:r>
            <a:r>
              <a:rPr lang="en-US" sz="1200" b="0" kern="1200" dirty="0">
                <a:effectLst/>
              </a:rPr>
              <a:t> </a:t>
            </a:r>
            <a:r>
              <a:rPr lang="en-US" sz="1200" b="0" kern="1200" dirty="0" err="1">
                <a:effectLst/>
              </a:rPr>
              <a:t>này</a:t>
            </a:r>
            <a:r>
              <a:rPr lang="en-US" sz="1200" b="0" kern="1200" dirty="0">
                <a:effectLst/>
              </a:rPr>
              <a:t> </a:t>
            </a:r>
            <a:r>
              <a:rPr lang="en-US" sz="1200" b="0" kern="1200" dirty="0" err="1">
                <a:effectLst/>
              </a:rPr>
              <a:t>được</a:t>
            </a:r>
            <a:r>
              <a:rPr lang="en-US" sz="1200" b="0" kern="1200" dirty="0">
                <a:effectLst/>
              </a:rPr>
              <a:t> </a:t>
            </a:r>
            <a:r>
              <a:rPr lang="en-US" sz="1200" b="0" kern="1200" dirty="0" err="1">
                <a:effectLst/>
              </a:rPr>
              <a:t>đo</a:t>
            </a:r>
            <a:r>
              <a:rPr lang="en-US" sz="1200" b="0" kern="1200" dirty="0">
                <a:effectLst/>
              </a:rPr>
              <a:t> </a:t>
            </a:r>
            <a:r>
              <a:rPr lang="en-US" sz="1200" b="0" kern="1200" dirty="0" err="1">
                <a:effectLst/>
              </a:rPr>
              <a:t>trên</a:t>
            </a:r>
            <a:r>
              <a:rPr lang="en-US" sz="1200" b="0" kern="1200" dirty="0">
                <a:effectLst/>
              </a:rPr>
              <a:t> </a:t>
            </a:r>
            <a:r>
              <a:rPr lang="en-US" sz="1200" b="0" kern="1200" dirty="0" err="1">
                <a:effectLst/>
              </a:rPr>
              <a:t>tập</a:t>
            </a:r>
            <a:r>
              <a:rPr lang="en-US" sz="1200" b="0" kern="1200" dirty="0">
                <a:effectLst/>
              </a:rPr>
              <a:t> </a:t>
            </a:r>
            <a:r>
              <a:rPr lang="en-US" sz="1200" b="0" kern="1200" dirty="0" err="1">
                <a:effectLst/>
              </a:rPr>
              <a:t>dữ</a:t>
            </a:r>
            <a:r>
              <a:rPr lang="en-US" sz="1200" b="0" kern="1200" dirty="0">
                <a:effectLst/>
              </a:rPr>
              <a:t> </a:t>
            </a:r>
            <a:r>
              <a:rPr lang="en-US" sz="1200" b="0" kern="1200" dirty="0" err="1">
                <a:effectLst/>
              </a:rPr>
              <a:t>liệu</a:t>
            </a:r>
            <a:r>
              <a:rPr lang="en-US" sz="1200" b="0" kern="1200" dirty="0">
                <a:effectLst/>
              </a:rPr>
              <a:t> </a:t>
            </a:r>
            <a:r>
              <a:rPr lang="en-US" sz="1200" b="0" kern="1200" dirty="0" err="1">
                <a:effectLst/>
              </a:rPr>
              <a:t>đang</a:t>
            </a:r>
            <a:r>
              <a:rPr lang="en-US" sz="1200" b="0" kern="1200" dirty="0">
                <a:effectLst/>
              </a:rPr>
              <a:t> </a:t>
            </a:r>
            <a:r>
              <a:rPr lang="en-US" sz="1200" b="0" kern="1200" dirty="0" err="1">
                <a:effectLst/>
              </a:rPr>
              <a:t>dùng</a:t>
            </a:r>
            <a:r>
              <a:rPr lang="en-US" sz="1200" b="0" kern="1200" dirty="0">
                <a:effectLst/>
              </a:rPr>
              <a:t>. </a:t>
            </a:r>
            <a:r>
              <a:rPr lang="en-US" sz="1200" b="0" kern="1200" dirty="0" err="1">
                <a:effectLst/>
              </a:rPr>
              <a:t>Để</a:t>
            </a:r>
            <a:r>
              <a:rPr lang="en-US" sz="1200" b="0" kern="1200" dirty="0">
                <a:effectLst/>
              </a:rPr>
              <a:t> </a:t>
            </a:r>
            <a:r>
              <a:rPr lang="en-US" sz="1200" b="0" kern="1200" dirty="0" err="1">
                <a:effectLst/>
              </a:rPr>
              <a:t>biết</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có</a:t>
            </a:r>
            <a:r>
              <a:rPr lang="en-US" sz="1200" b="0" kern="1200" dirty="0">
                <a:effectLst/>
              </a:rPr>
              <a:t> </a:t>
            </a:r>
            <a:r>
              <a:rPr lang="en-US" sz="1200" b="0" kern="1200" dirty="0" err="1">
                <a:effectLst/>
              </a:rPr>
              <a:t>phù</a:t>
            </a:r>
            <a:r>
              <a:rPr lang="en-US" sz="1200" b="0" kern="1200" dirty="0">
                <a:effectLst/>
              </a:rPr>
              <a:t> </a:t>
            </a:r>
            <a:r>
              <a:rPr lang="en-US" sz="1200" b="0" kern="1200" dirty="0" err="1">
                <a:effectLst/>
              </a:rPr>
              <a:t>hợp</a:t>
            </a:r>
            <a:r>
              <a:rPr lang="en-US" sz="1200" b="0" kern="1200" dirty="0">
                <a:effectLst/>
              </a:rPr>
              <a:t> </a:t>
            </a:r>
            <a:r>
              <a:rPr lang="en-US" sz="1200" b="0" kern="1200" dirty="0" err="1">
                <a:effectLst/>
              </a:rPr>
              <a:t>với</a:t>
            </a:r>
            <a:r>
              <a:rPr lang="en-US" sz="1200" b="0" kern="1200" dirty="0">
                <a:effectLst/>
              </a:rPr>
              <a:t> URL </a:t>
            </a:r>
            <a:r>
              <a:rPr lang="en-US" sz="1200" b="0" kern="1200" dirty="0" err="1">
                <a:effectLst/>
              </a:rPr>
              <a:t>mới</a:t>
            </a:r>
            <a:r>
              <a:rPr lang="en-US" sz="1200" b="0" kern="1200" dirty="0">
                <a:effectLst/>
              </a:rPr>
              <a:t> </a:t>
            </a:r>
            <a:r>
              <a:rPr lang="en-US" sz="1200" b="0" kern="1200" dirty="0" err="1">
                <a:effectLst/>
              </a:rPr>
              <a:t>ngoài</a:t>
            </a:r>
            <a:r>
              <a:rPr lang="en-US" sz="1200" b="0" kern="1200" dirty="0">
                <a:effectLst/>
              </a:rPr>
              <a:t> </a:t>
            </a:r>
            <a:r>
              <a:rPr lang="en-US" sz="1200" b="0" kern="1200" dirty="0" err="1">
                <a:effectLst/>
              </a:rPr>
              <a:t>thực</a:t>
            </a:r>
            <a:r>
              <a:rPr lang="en-US" sz="1200" b="0" kern="1200" dirty="0">
                <a:effectLst/>
              </a:rPr>
              <a:t> </a:t>
            </a:r>
            <a:r>
              <a:rPr lang="en-US" sz="1200" b="0" kern="1200" dirty="0" err="1">
                <a:effectLst/>
              </a:rPr>
              <a:t>tế</a:t>
            </a:r>
            <a:r>
              <a:rPr lang="en-US" sz="1200" b="0" kern="1200" dirty="0">
                <a:effectLst/>
              </a:rPr>
              <a:t> hay </a:t>
            </a:r>
            <a:r>
              <a:rPr lang="en-US" sz="1200" b="0" kern="1200" dirty="0" err="1">
                <a:effectLst/>
              </a:rPr>
              <a:t>không</a:t>
            </a:r>
            <a:r>
              <a:rPr lang="en-US" sz="1200" b="0" kern="1200" dirty="0">
                <a:effectLst/>
              </a:rPr>
              <a:t>, </a:t>
            </a:r>
            <a:r>
              <a:rPr lang="en-US" sz="1200" b="0" kern="1200" dirty="0" err="1">
                <a:effectLst/>
              </a:rPr>
              <a:t>em</a:t>
            </a:r>
            <a:r>
              <a:rPr lang="en-US" sz="1200" b="0" kern="1200" dirty="0">
                <a:effectLst/>
              </a:rPr>
              <a:t> </a:t>
            </a:r>
            <a:r>
              <a:rPr lang="en-US" sz="1200" b="0" kern="1200" dirty="0" err="1">
                <a:effectLst/>
              </a:rPr>
              <a:t>vẫn</a:t>
            </a:r>
            <a:r>
              <a:rPr lang="en-US" sz="1200" b="0" kern="1200" dirty="0">
                <a:effectLst/>
              </a:rPr>
              <a:t> </a:t>
            </a:r>
            <a:r>
              <a:rPr lang="en-US" sz="1200" b="0" kern="1200" dirty="0" err="1">
                <a:effectLst/>
              </a:rPr>
              <a:t>cần</a:t>
            </a:r>
            <a:r>
              <a:rPr lang="en-US" sz="1200" b="0" kern="1200" dirty="0">
                <a:effectLst/>
              </a:rPr>
              <a:t> </a:t>
            </a:r>
            <a:r>
              <a:rPr lang="en-US" sz="1200" b="0" kern="1200" dirty="0" err="1">
                <a:effectLst/>
              </a:rPr>
              <a:t>một</a:t>
            </a:r>
            <a:r>
              <a:rPr lang="en-US" sz="1200" b="0" kern="1200" dirty="0">
                <a:effectLst/>
              </a:rPr>
              <a:t> </a:t>
            </a:r>
            <a:r>
              <a:rPr lang="en-US" sz="1200" b="0" kern="1200" dirty="0" err="1">
                <a:effectLst/>
              </a:rPr>
              <a:t>bước</a:t>
            </a:r>
            <a:r>
              <a:rPr lang="en-US" sz="1200" b="0" kern="1200" dirty="0">
                <a:effectLst/>
              </a:rPr>
              <a:t> </a:t>
            </a:r>
            <a:r>
              <a:rPr lang="en-US" sz="1200" b="0" kern="1200" dirty="0" err="1">
                <a:effectLst/>
              </a:rPr>
              <a:t>đánh</a:t>
            </a:r>
            <a:r>
              <a:rPr lang="en-US" sz="1200" b="0" kern="1200" dirty="0">
                <a:effectLst/>
              </a:rPr>
              <a:t> </a:t>
            </a:r>
            <a:r>
              <a:rPr lang="en-US" sz="1200" b="0" kern="1200" dirty="0" err="1">
                <a:effectLst/>
              </a:rPr>
              <a:t>giá</a:t>
            </a:r>
            <a:r>
              <a:rPr lang="en-US" sz="1200" b="0" kern="1200" dirty="0">
                <a:effectLst/>
              </a:rPr>
              <a:t> </a:t>
            </a:r>
            <a:r>
              <a:rPr lang="en-US" sz="1200" b="0" kern="1200" dirty="0" err="1">
                <a:effectLst/>
              </a:rPr>
              <a:t>độc</a:t>
            </a:r>
            <a:r>
              <a:rPr lang="en-US" sz="1200" b="0" kern="1200" dirty="0">
                <a:effectLst/>
              </a:rPr>
              <a:t> </a:t>
            </a:r>
            <a:r>
              <a:rPr lang="en-US" sz="1200" b="0" kern="1200" dirty="0" err="1">
                <a:effectLst/>
              </a:rPr>
              <a:t>lập</a:t>
            </a:r>
            <a:r>
              <a:rPr lang="en-US" sz="1200" b="0" kern="1200" dirty="0">
                <a:effectLst/>
              </a:rPr>
              <a:t> </a:t>
            </a:r>
            <a:r>
              <a:rPr lang="en-US" sz="1200" b="0" kern="1200" dirty="0" err="1">
                <a:effectLst/>
              </a:rPr>
              <a:t>hơn</a:t>
            </a:r>
            <a:r>
              <a:rPr lang="en-US" sz="1200" b="0" kern="1200" dirty="0">
                <a:effectLst/>
              </a:rPr>
              <a:t>.</a:t>
            </a:r>
          </a:p>
          <a:p>
            <a:br>
              <a:rPr lang="en-US" sz="1200" b="0" kern="1200" dirty="0">
                <a:effectLst/>
              </a:rPr>
            </a:br>
            <a:endParaRPr lang="en-US" sz="1200" b="0" kern="1200" dirty="0">
              <a:effectLst/>
            </a:endParaRPr>
          </a:p>
          <a:p>
            <a:r>
              <a:rPr lang="en-US" sz="1200" b="0" kern="1200" dirty="0" err="1">
                <a:effectLst/>
              </a:rPr>
              <a:t>Một</a:t>
            </a:r>
            <a:r>
              <a:rPr lang="en-US" sz="1200" b="0" kern="1200" dirty="0">
                <a:effectLst/>
              </a:rPr>
              <a:t> </a:t>
            </a:r>
            <a:r>
              <a:rPr lang="en-US" sz="1200" b="0" kern="1200" dirty="0" err="1">
                <a:effectLst/>
              </a:rPr>
              <a:t>cách</a:t>
            </a:r>
            <a:r>
              <a:rPr lang="en-US" sz="1200" b="0" kern="1200" dirty="0">
                <a:effectLst/>
              </a:rPr>
              <a:t> </a:t>
            </a:r>
            <a:r>
              <a:rPr lang="en-US" sz="1200" b="0" kern="1200" dirty="0" err="1">
                <a:effectLst/>
              </a:rPr>
              <a:t>kiểm</a:t>
            </a:r>
            <a:r>
              <a:rPr lang="en-US" sz="1200" b="0" kern="1200" dirty="0">
                <a:effectLst/>
              </a:rPr>
              <a:t> </a:t>
            </a:r>
            <a:r>
              <a:rPr lang="en-US" sz="1200" b="0" kern="1200" dirty="0" err="1">
                <a:effectLst/>
              </a:rPr>
              <a:t>tra</a:t>
            </a:r>
            <a:r>
              <a:rPr lang="en-US" sz="1200" b="0" kern="1200" dirty="0">
                <a:effectLst/>
              </a:rPr>
              <a:t> </a:t>
            </a:r>
            <a:r>
              <a:rPr lang="en-US" sz="1200" b="0" kern="1200" dirty="0" err="1">
                <a:effectLst/>
              </a:rPr>
              <a:t>thêm</a:t>
            </a:r>
            <a:r>
              <a:rPr lang="en-US" sz="1200" b="0" kern="1200" dirty="0">
                <a:effectLst/>
              </a:rPr>
              <a:t> </a:t>
            </a:r>
            <a:r>
              <a:rPr lang="en-US" sz="1200" b="0" kern="1200" dirty="0" err="1">
                <a:effectLst/>
              </a:rPr>
              <a:t>là</a:t>
            </a:r>
            <a:r>
              <a:rPr lang="en-US" sz="1200" b="0" kern="1200" dirty="0">
                <a:effectLst/>
              </a:rPr>
              <a:t> </a:t>
            </a:r>
            <a:r>
              <a:rPr lang="en-US" sz="1200" b="0" kern="1200" dirty="0" err="1">
                <a:effectLst/>
              </a:rPr>
              <a:t>xem</a:t>
            </a:r>
            <a:r>
              <a:rPr lang="en-US" sz="1200" b="0" kern="1200" dirty="0">
                <a:effectLst/>
              </a:rPr>
              <a:t> </a:t>
            </a:r>
            <a:r>
              <a:rPr lang="en-US" sz="1200" b="0" kern="1200" dirty="0" err="1">
                <a:effectLst/>
              </a:rPr>
              <a:t>mô</a:t>
            </a:r>
            <a:r>
              <a:rPr lang="en-US" sz="1200" b="0" kern="1200" dirty="0">
                <a:effectLst/>
              </a:rPr>
              <a:t> </a:t>
            </a:r>
            <a:r>
              <a:rPr lang="en-US" sz="1200" b="0" kern="1200" dirty="0" err="1">
                <a:effectLst/>
              </a:rPr>
              <a:t>hình</a:t>
            </a:r>
            <a:r>
              <a:rPr lang="en-US" sz="1200" b="0" kern="1200" dirty="0">
                <a:effectLst/>
              </a:rPr>
              <a:t> </a:t>
            </a:r>
            <a:r>
              <a:rPr lang="en-US" sz="1200" b="0" kern="1200" dirty="0" err="1">
                <a:effectLst/>
              </a:rPr>
              <a:t>đang</a:t>
            </a:r>
            <a:r>
              <a:rPr lang="en-US" sz="1200" b="0" kern="1200" dirty="0">
                <a:effectLst/>
              </a:rPr>
              <a:t> </a:t>
            </a:r>
            <a:r>
              <a:rPr lang="en-US" sz="1200" b="0" kern="1200" dirty="0" err="1">
                <a:effectLst/>
              </a:rPr>
              <a:t>dựa</a:t>
            </a:r>
            <a:r>
              <a:rPr lang="en-US" sz="1200" b="0" kern="1200" dirty="0">
                <a:effectLst/>
              </a:rPr>
              <a:t> </a:t>
            </a:r>
            <a:r>
              <a:rPr lang="en-US" sz="1200" b="0" kern="1200" dirty="0" err="1">
                <a:effectLst/>
              </a:rPr>
              <a:t>nhiều</a:t>
            </a:r>
            <a:r>
              <a:rPr lang="en-US" sz="1200" b="0" kern="1200" dirty="0">
                <a:effectLst/>
              </a:rPr>
              <a:t> </a:t>
            </a:r>
            <a:r>
              <a:rPr lang="en-US" sz="1200" b="0" kern="1200" dirty="0" err="1">
                <a:effectLst/>
              </a:rPr>
              <a:t>vào</a:t>
            </a:r>
            <a:r>
              <a:rPr lang="en-US" sz="1200" b="0" kern="1200" dirty="0">
                <a:effectLst/>
              </a:rPr>
              <a:t> </a:t>
            </a:r>
            <a:r>
              <a:rPr lang="en-US" sz="1200" b="0" kern="1200" dirty="0" err="1">
                <a:effectLst/>
              </a:rPr>
              <a:t>thuộc</a:t>
            </a:r>
            <a:r>
              <a:rPr lang="en-US" sz="1200" b="0" kern="1200" dirty="0">
                <a:effectLst/>
              </a:rPr>
              <a:t> </a:t>
            </a:r>
            <a:r>
              <a:rPr lang="en-US" sz="1200" b="0" kern="1200" dirty="0" err="1">
                <a:effectLst/>
              </a:rPr>
              <a:t>tính</a:t>
            </a:r>
            <a:r>
              <a:rPr lang="en-US" sz="1200" b="0" kern="1200" dirty="0">
                <a:effectLst/>
              </a:rPr>
              <a:t> </a:t>
            </a:r>
            <a:r>
              <a:rPr lang="en-US" sz="1200" b="0" kern="1200" dirty="0" err="1">
                <a:effectLst/>
              </a:rPr>
              <a:t>nào</a:t>
            </a:r>
            <a:r>
              <a:rPr lang="en-US" sz="1200" b="0" kern="1200" dirty="0">
                <a:effectLst/>
              </a:rP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Gain là mức cải thiện khi tách cây, đã chuẩn hóa trong feature_importances_. has_https chiếm 43,15% và hostname_match 30,96%, tổng 74,11%. PhiUSIIL không có kiểm tra SAN/hostname thật. Dù metadata nói không sao chép IsHTTPS trực tiếp, extract_url_only vẫn dùng scheme URL làm giá trị mặc định cho hostname_match. Vì vậy không diễn giải 31% này là mô hình đã học chất lượng chứng chỉ thật.</a:t>
            </a:r>
          </a:p>
          <a:p>
            <a:endParaRPr/>
          </a:p>
          <a:p>
            <a:r>
              <a:t>Nguồn trong đồ án:</a:t>
            </a:r>
          </a:p>
          <a:p>
            <a:r>
              <a:t>D:\NguyenThanhLoc\UIT\Kỹ thuật lập trình Python\Code\Final_project\artifacts\phishing_model_v1\model.joblib</a:t>
            </a:r>
          </a:p>
          <a:p>
            <a:r>
              <a:t>D:\NguyenThanhLoc\UIT\Kỹ thuật lập trình Python\Code\Final_project\app\features\extractor.py</a:t>
            </a:r>
          </a:p>
          <a:p>
            <a:r>
              <a:t>D:\NguyenThanhLoc\UIT\Kỹ thuật lập trình Python\Code\Final_project\scripts\train_model.py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Số liệu là snapshot feed_meta.json ngày 28/09/2026, không phải số lượng cố định theo thời gian. OpenPhish và URLhaus cung cấp URL. Phishing.Database cung cấp domain. Tổng domain được hợp nhất và loại trùng, nên không lấy phép cộng thô từng nguồn làm tổng. Local seed là nguồn nhập tay riêng. Tự đồng bộ khi khởi động nếu dữ liệu cũ hơn 24 giờ.</a:t>
            </a:r>
          </a:p>
          <a:p>
            <a:endParaRPr/>
          </a:p>
          <a:p>
            <a:r>
              <a:t>Nguồn trong đồ án:</a:t>
            </a:r>
          </a:p>
          <a:p>
            <a:r>
              <a:t>D:\NguyenThanhLoc\UIT\Kỹ thuật lập trình Python\Code\Final_project\data\blacklist\feed_meta.json</a:t>
            </a:r>
          </a:p>
          <a:p>
            <a:r>
              <a:t>D:\NguyenThanhLoc\UIT\Kỹ thuật lập trình Python\Code\Final_project\app\scanners\blacklist_checker.py</a:t>
            </a:r>
          </a:p>
          <a:p>
            <a:r>
              <a:t>D:\NguyenThanhLoc\UIT\Kỹ thuật lập trình Python\Code\Final_project\app\scanners\blacklist_feeds.py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Khi không có blacklist và có ML, công thức thường dùng trọng số luật 0,55 và ML 0,45. Nếu điểm luật ít nhất 50 và p ít nhất 0,5, wML giảm thành 0,3825 và wRule tăng thành 0,6175. Có blacklist thì điểm ít nhất 85, có thể tăng theo luật và ML. Không có mô hình thì dùng luật. Kết quả làm tròn số nguyên và giới hạn 0–100.</a:t>
            </a:r>
          </a:p>
          <a:p>
            <a:endParaRPr/>
          </a:p>
          <a:p>
            <a:r>
              <a:t>Nguồn trong đồ án:</a:t>
            </a:r>
          </a:p>
          <a:p>
            <a:r>
              <a:t>D:\NguyenThanhLoc\UIT\Kỹ thuật lập trình Python\Code\Final_project\app\risk\engine.py</a:t>
            </a:r>
          </a:p>
          <a:p>
            <a:r>
              <a:t>D:\NguyenThanhLoc\UIT\Kỹ thuật lập trình Python\Code\Final_project\app\config.py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SSRF là trường hợp server bị lợi dụng để gửi yêu cầu vào mạng nội bộ. Hệ thống kiểm tra URL, DNS và IP, chặn mạng private/loopback/link-local và kiểm tra lại mỗi redirect. Chỉ http/https, không URL chứa thông tin đăng nhập. Giới hạn timeout và HTML giảm nguy cơ treo/tải quá lớn. Đây là các biện pháp giảm rủi ro, không phải chứng nhận an toàn tuyệt đối. Bộ kiểm thử pytest chạy ngày 28/09/2026: 16 passed in 3.73s.</a:t>
            </a:r>
          </a:p>
          <a:p>
            <a:endParaRPr/>
          </a:p>
          <a:p>
            <a:r>
              <a:t>Nguồn trong đồ án:</a:t>
            </a:r>
          </a:p>
          <a:p>
            <a:r>
              <a:t>D:\NguyenThanhLoc\UIT\Kỹ thuật lập trình Python\Code\Final_project\app\core\ssrf.py</a:t>
            </a:r>
          </a:p>
          <a:p>
            <a:r>
              <a:t>D:\NguyenThanhLoc\UIT\Kỹ thuật lập trình Python\Code\Final_project\app\core\http_client.py</a:t>
            </a:r>
          </a:p>
          <a:p>
            <a:r>
              <a:t>D:\NguyenThanhLoc\UIT\Kỹ thuật lập trình Python\Code\Final_project\app\config.py</a:t>
            </a:r>
          </a:p>
          <a:p>
            <a:r>
              <a:t>D:\NguyenThanhLoc\UIT\Kỹ thuật lập trình Python\Code\Final_project\tests\test_core.py</a:t>
            </a:r>
          </a:p>
          <a:p>
            <a:r>
              <a:t>D:\NguyenThanhLoc\UIT\Kỹ thuật lập trình Python\Code\Final_project\tests\test_blacklist.py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Ảnh chụp trang chủ của ứng dụng đang chạy tại localhost:8000. Người dùng nhập domain hoặc URL và nhấn Phân tích. Ứng dụng chuyển sang trang tiến trình rồi trang kết quả. Danh sách vừa kiểm tra cho phép mở lại kết quả đã lưu. Khi demo trực tiếp có thể dùng https://github.com hoặc một kết quả đã có sẵn. Không mở trực tiếp trang đáng ngờ để trình bày.</a:t>
            </a:r>
          </a:p>
          <a:p>
            <a:endParaRPr/>
          </a:p>
          <a:p>
            <a:r>
              <a:t>Nguồn trong đồ án:</a:t>
            </a:r>
          </a:p>
          <a:p>
            <a:r>
              <a:t>D:\NguyenThanhLoc\UIT\Kỹ thuật lập trình Python\Code\Final_project\app\templates\index.html</a:t>
            </a:r>
          </a:p>
          <a:p>
            <a:r>
              <a:t>D:\NguyenThanhLoc\UIT\Kỹ thuật lập trình Python\Code\Final_project\app\templates\analyze.html</a:t>
            </a:r>
          </a:p>
          <a:p>
            <a:r>
              <a:t>D:\NguyenThanhLoc\UIT\Kỹ thuật lập trình Python\Code\Final_project\app\web\routes\pages.py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Ảnh chụp thật của lượt quét #63 đã lưu, phiên bản mô hình 1.2. Điểm luật 28, ML 99,9%, không blacklist, điểm tổng hợp 60. 0,55 × 28 + 0,45 × 99,9 ≈ 60. Trạng thái partial vì thiếu dữ liệu ssrf_or_dns. Kết quả này minh họa cách hiển thị, không chứng minh website chắc chắn phishing. Checklist còn có những mục thể hiện không phát hiện dù dữ liệu thiếu, nên cần đọc cùng trạng thái partial.</a:t>
            </a:r>
          </a:p>
          <a:p>
            <a:endParaRPr/>
          </a:p>
          <a:p>
            <a:r>
              <a:t>Nguồn trong đồ án:</a:t>
            </a:r>
          </a:p>
          <a:p>
            <a:r>
              <a:t>D:\NguyenThanhLoc\UIT\Kỹ thuật lập trình Python\Code\Final_project\app\templates\result.html</a:t>
            </a:r>
          </a:p>
          <a:p>
            <a:r>
              <a:t>D:\NguyenThanhLoc\UIT\Kỹ thuật lập trình Python\Code\Final_project\data\scans.db</a:t>
            </a:r>
          </a:p>
          <a:p>
            <a:r>
              <a:t>D:\NguyenThanhLoc\UIT\Kỹ thuật lập trình Python\Code\Final_project\app\risk\checklist.py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Kết</a:t>
            </a:r>
            <a:r>
              <a:rPr dirty="0"/>
              <a:t> </a:t>
            </a:r>
            <a:r>
              <a:rPr dirty="0" err="1"/>
              <a:t>quả</a:t>
            </a:r>
            <a:r>
              <a:rPr dirty="0"/>
              <a:t> </a:t>
            </a:r>
            <a:r>
              <a:rPr dirty="0" err="1"/>
              <a:t>đo</a:t>
            </a:r>
            <a:r>
              <a:rPr dirty="0"/>
              <a:t> </a:t>
            </a:r>
            <a:r>
              <a:rPr dirty="0" err="1"/>
              <a:t>trên</a:t>
            </a:r>
            <a:r>
              <a:rPr dirty="0"/>
              <a:t> </a:t>
            </a:r>
            <a:r>
              <a:rPr dirty="0" err="1"/>
              <a:t>một</a:t>
            </a:r>
            <a:r>
              <a:rPr dirty="0"/>
              <a:t> </a:t>
            </a:r>
            <a:r>
              <a:rPr dirty="0" err="1"/>
              <a:t>tập</a:t>
            </a:r>
            <a:r>
              <a:rPr dirty="0"/>
              <a:t> </a:t>
            </a:r>
            <a:r>
              <a:rPr dirty="0" err="1"/>
              <a:t>PhiUSIIL</a:t>
            </a:r>
            <a:r>
              <a:rPr dirty="0"/>
              <a:t> </a:t>
            </a:r>
            <a:r>
              <a:rPr dirty="0" err="1"/>
              <a:t>đã</a:t>
            </a:r>
            <a:r>
              <a:rPr dirty="0"/>
              <a:t> </a:t>
            </a:r>
            <a:r>
              <a:rPr dirty="0" err="1"/>
              <a:t>dùng</a:t>
            </a:r>
            <a:r>
              <a:rPr dirty="0"/>
              <a:t> </a:t>
            </a:r>
            <a:r>
              <a:rPr dirty="0" err="1"/>
              <a:t>để</a:t>
            </a:r>
            <a:r>
              <a:rPr dirty="0"/>
              <a:t> </a:t>
            </a:r>
            <a:r>
              <a:rPr dirty="0" err="1"/>
              <a:t>chọn</a:t>
            </a:r>
            <a:r>
              <a:rPr dirty="0"/>
              <a:t> </a:t>
            </a:r>
            <a:r>
              <a:rPr dirty="0" err="1"/>
              <a:t>mô</a:t>
            </a:r>
            <a:r>
              <a:rPr dirty="0"/>
              <a:t> </a:t>
            </a:r>
            <a:r>
              <a:rPr dirty="0" err="1"/>
              <a:t>hình</a:t>
            </a:r>
            <a:r>
              <a:rPr dirty="0"/>
              <a:t>, </a:t>
            </a:r>
            <a:r>
              <a:rPr dirty="0" err="1"/>
              <a:t>chưa</a:t>
            </a:r>
            <a:r>
              <a:rPr dirty="0"/>
              <a:t> </a:t>
            </a:r>
            <a:r>
              <a:rPr dirty="0" err="1"/>
              <a:t>phải</a:t>
            </a:r>
            <a:r>
              <a:rPr dirty="0"/>
              <a:t> </a:t>
            </a:r>
            <a:r>
              <a:rPr dirty="0" err="1"/>
              <a:t>đánh</a:t>
            </a:r>
            <a:r>
              <a:rPr dirty="0"/>
              <a:t> </a:t>
            </a:r>
            <a:r>
              <a:rPr dirty="0" err="1"/>
              <a:t>giá</a:t>
            </a:r>
            <a:r>
              <a:rPr dirty="0"/>
              <a:t> </a:t>
            </a:r>
            <a:r>
              <a:rPr dirty="0" err="1"/>
              <a:t>độc</a:t>
            </a:r>
            <a:r>
              <a:rPr dirty="0"/>
              <a:t> </a:t>
            </a:r>
            <a:r>
              <a:rPr dirty="0" err="1"/>
              <a:t>lập</a:t>
            </a:r>
            <a:r>
              <a:rPr dirty="0"/>
              <a:t> </a:t>
            </a:r>
            <a:r>
              <a:rPr dirty="0" err="1"/>
              <a:t>ngoài</a:t>
            </a:r>
            <a:r>
              <a:rPr dirty="0"/>
              <a:t> </a:t>
            </a:r>
            <a:r>
              <a:rPr dirty="0" err="1"/>
              <a:t>mẫu</a:t>
            </a:r>
            <a:r>
              <a:rPr dirty="0"/>
              <a:t>. </a:t>
            </a:r>
            <a:r>
              <a:rPr dirty="0" err="1"/>
              <a:t>Cần</a:t>
            </a:r>
            <a:r>
              <a:rPr dirty="0"/>
              <a:t> </a:t>
            </a:r>
            <a:r>
              <a:rPr dirty="0" err="1"/>
              <a:t>tách</a:t>
            </a:r>
            <a:r>
              <a:rPr dirty="0"/>
              <a:t> validation </a:t>
            </a:r>
            <a:r>
              <a:rPr dirty="0" err="1"/>
              <a:t>để</a:t>
            </a:r>
            <a:r>
              <a:rPr dirty="0"/>
              <a:t> </a:t>
            </a:r>
            <a:r>
              <a:rPr dirty="0" err="1"/>
              <a:t>chọn</a:t>
            </a:r>
            <a:r>
              <a:rPr dirty="0"/>
              <a:t> </a:t>
            </a:r>
            <a:r>
              <a:rPr dirty="0" err="1"/>
              <a:t>mô</a:t>
            </a:r>
            <a:r>
              <a:rPr dirty="0"/>
              <a:t> </a:t>
            </a:r>
            <a:r>
              <a:rPr dirty="0" err="1"/>
              <a:t>hình</a:t>
            </a:r>
            <a:r>
              <a:rPr dirty="0"/>
              <a:t> </a:t>
            </a:r>
            <a:r>
              <a:rPr dirty="0" err="1"/>
              <a:t>và</a:t>
            </a:r>
            <a:r>
              <a:rPr dirty="0"/>
              <a:t> </a:t>
            </a:r>
            <a:r>
              <a:rPr dirty="0" err="1"/>
              <a:t>giữ</a:t>
            </a:r>
            <a:r>
              <a:rPr dirty="0"/>
              <a:t> test </a:t>
            </a:r>
            <a:r>
              <a:rPr dirty="0" err="1"/>
              <a:t>độc</a:t>
            </a:r>
            <a:r>
              <a:rPr dirty="0"/>
              <a:t> </a:t>
            </a:r>
            <a:r>
              <a:rPr dirty="0" err="1"/>
              <a:t>lập</a:t>
            </a:r>
            <a:r>
              <a:rPr dirty="0"/>
              <a:t>. </a:t>
            </a:r>
            <a:r>
              <a:rPr dirty="0" err="1"/>
              <a:t>Dữ</a:t>
            </a:r>
            <a:r>
              <a:rPr dirty="0"/>
              <a:t> </a:t>
            </a:r>
            <a:r>
              <a:rPr dirty="0" err="1"/>
              <a:t>liệu</a:t>
            </a:r>
            <a:r>
              <a:rPr dirty="0"/>
              <a:t> offline </a:t>
            </a:r>
            <a:r>
              <a:rPr dirty="0" err="1"/>
              <a:t>không</a:t>
            </a:r>
            <a:r>
              <a:rPr dirty="0"/>
              <a:t> </a:t>
            </a:r>
            <a:r>
              <a:rPr dirty="0" err="1"/>
              <a:t>có</a:t>
            </a:r>
            <a:r>
              <a:rPr dirty="0"/>
              <a:t> </a:t>
            </a:r>
            <a:r>
              <a:rPr dirty="0" err="1"/>
              <a:t>tuổi</a:t>
            </a:r>
            <a:r>
              <a:rPr dirty="0"/>
              <a:t> domain </a:t>
            </a:r>
            <a:r>
              <a:rPr dirty="0" err="1"/>
              <a:t>hoặc</a:t>
            </a:r>
            <a:r>
              <a:rPr dirty="0"/>
              <a:t> </a:t>
            </a:r>
            <a:r>
              <a:rPr dirty="0" err="1"/>
              <a:t>kiểm</a:t>
            </a:r>
            <a:r>
              <a:rPr dirty="0"/>
              <a:t> </a:t>
            </a:r>
            <a:r>
              <a:rPr dirty="0" err="1"/>
              <a:t>tra</a:t>
            </a:r>
            <a:r>
              <a:rPr dirty="0"/>
              <a:t> </a:t>
            </a:r>
            <a:r>
              <a:rPr dirty="0" err="1"/>
              <a:t>chứng</a:t>
            </a:r>
            <a:r>
              <a:rPr dirty="0"/>
              <a:t> </a:t>
            </a:r>
            <a:r>
              <a:rPr dirty="0" err="1"/>
              <a:t>chỉ</a:t>
            </a:r>
            <a:r>
              <a:rPr dirty="0"/>
              <a:t> </a:t>
            </a:r>
            <a:r>
              <a:rPr dirty="0" err="1"/>
              <a:t>thật</a:t>
            </a:r>
            <a:r>
              <a:rPr dirty="0"/>
              <a:t>, </a:t>
            </a:r>
            <a:r>
              <a:rPr dirty="0" err="1"/>
              <a:t>hostname_match</a:t>
            </a:r>
            <a:r>
              <a:rPr dirty="0"/>
              <a:t> </a:t>
            </a:r>
            <a:r>
              <a:rPr dirty="0" err="1"/>
              <a:t>dùng</a:t>
            </a:r>
            <a:r>
              <a:rPr dirty="0"/>
              <a:t> </a:t>
            </a:r>
            <a:r>
              <a:rPr dirty="0" err="1"/>
              <a:t>mặc</a:t>
            </a:r>
            <a:r>
              <a:rPr dirty="0"/>
              <a:t> </a:t>
            </a:r>
            <a:r>
              <a:rPr dirty="0" err="1"/>
              <a:t>định</a:t>
            </a:r>
            <a:r>
              <a:rPr dirty="0"/>
              <a:t> </a:t>
            </a:r>
            <a:r>
              <a:rPr dirty="0" err="1"/>
              <a:t>theo</a:t>
            </a:r>
            <a:r>
              <a:rPr dirty="0"/>
              <a:t> scheme. </a:t>
            </a:r>
            <a:r>
              <a:rPr dirty="0" err="1"/>
              <a:t>Bộ</a:t>
            </a:r>
            <a:r>
              <a:rPr dirty="0"/>
              <a:t> </a:t>
            </a:r>
            <a:r>
              <a:rPr dirty="0" err="1"/>
              <a:t>quét</a:t>
            </a:r>
            <a:r>
              <a:rPr dirty="0"/>
              <a:t> </a:t>
            </a:r>
            <a:r>
              <a:rPr dirty="0" err="1"/>
              <a:t>chỉ</a:t>
            </a:r>
            <a:r>
              <a:rPr dirty="0"/>
              <a:t> </a:t>
            </a:r>
            <a:r>
              <a:rPr dirty="0" err="1"/>
              <a:t>đọc</a:t>
            </a:r>
            <a:r>
              <a:rPr dirty="0"/>
              <a:t> HTML </a:t>
            </a:r>
            <a:r>
              <a:rPr dirty="0" err="1"/>
              <a:t>tĩnh</a:t>
            </a:r>
            <a:r>
              <a:rPr dirty="0"/>
              <a:t>, </a:t>
            </a:r>
            <a:r>
              <a:rPr dirty="0" err="1"/>
              <a:t>chưa</a:t>
            </a:r>
            <a:r>
              <a:rPr dirty="0"/>
              <a:t> </a:t>
            </a:r>
            <a:r>
              <a:rPr dirty="0" err="1"/>
              <a:t>quan</a:t>
            </a:r>
            <a:r>
              <a:rPr dirty="0"/>
              <a:t> </a:t>
            </a:r>
            <a:r>
              <a:rPr dirty="0" err="1"/>
              <a:t>sát</a:t>
            </a:r>
            <a:r>
              <a:rPr dirty="0"/>
              <a:t> DOM do JavaScript </a:t>
            </a:r>
            <a:r>
              <a:rPr dirty="0" err="1"/>
              <a:t>tạo</a:t>
            </a:r>
            <a:r>
              <a:rPr dirty="0"/>
              <a:t>. RDAP/WHOIS </a:t>
            </a:r>
            <a:r>
              <a:rPr dirty="0" err="1"/>
              <a:t>hoặc</a:t>
            </a:r>
            <a:r>
              <a:rPr dirty="0"/>
              <a:t> DNS </a:t>
            </a:r>
            <a:r>
              <a:rPr dirty="0" err="1"/>
              <a:t>lỗi</a:t>
            </a:r>
            <a:r>
              <a:rPr dirty="0"/>
              <a:t> </a:t>
            </a:r>
            <a:r>
              <a:rPr dirty="0" err="1"/>
              <a:t>làm</a:t>
            </a:r>
            <a:r>
              <a:rPr dirty="0"/>
              <a:t> </a:t>
            </a:r>
            <a:r>
              <a:rPr dirty="0" err="1"/>
              <a:t>thiếu</a:t>
            </a:r>
            <a:r>
              <a:rPr dirty="0"/>
              <a:t> </a:t>
            </a:r>
            <a:r>
              <a:rPr dirty="0" err="1"/>
              <a:t>bằng</a:t>
            </a:r>
            <a:r>
              <a:rPr dirty="0"/>
              <a:t> </a:t>
            </a:r>
            <a:r>
              <a:rPr dirty="0" err="1"/>
              <a:t>chứng</a:t>
            </a:r>
            <a:r>
              <a:rPr dirty="0"/>
              <a:t>. Checklist </a:t>
            </a:r>
            <a:r>
              <a:rPr dirty="0" err="1"/>
              <a:t>cần</a:t>
            </a:r>
            <a:r>
              <a:rPr dirty="0"/>
              <a:t> </a:t>
            </a:r>
            <a:r>
              <a:rPr dirty="0" err="1"/>
              <a:t>phân</a:t>
            </a:r>
            <a:r>
              <a:rPr dirty="0"/>
              <a:t> </a:t>
            </a:r>
            <a:r>
              <a:rPr dirty="0" err="1"/>
              <a:t>biệt</a:t>
            </a:r>
            <a:r>
              <a:rPr dirty="0"/>
              <a:t> </a:t>
            </a:r>
            <a:r>
              <a:rPr dirty="0" err="1"/>
              <a:t>rõ</a:t>
            </a:r>
            <a:r>
              <a:rPr dirty="0"/>
              <a:t> </a:t>
            </a:r>
            <a:r>
              <a:rPr dirty="0" err="1"/>
              <a:t>chưa</a:t>
            </a:r>
            <a:r>
              <a:rPr dirty="0"/>
              <a:t> </a:t>
            </a:r>
            <a:r>
              <a:rPr dirty="0" err="1"/>
              <a:t>biết</a:t>
            </a:r>
            <a:r>
              <a:rPr dirty="0"/>
              <a:t> </a:t>
            </a:r>
            <a:r>
              <a:rPr dirty="0" err="1"/>
              <a:t>và</a:t>
            </a:r>
            <a:r>
              <a:rPr dirty="0"/>
              <a:t> </a:t>
            </a:r>
            <a:r>
              <a:rPr dirty="0" err="1"/>
              <a:t>đạt</a:t>
            </a:r>
            <a:r>
              <a:rPr dirty="0"/>
              <a:t>.</a:t>
            </a:r>
          </a:p>
          <a:p>
            <a:endParaRPr dirty="0"/>
          </a:p>
          <a:p>
            <a:r>
              <a:rPr dirty="0" err="1"/>
              <a:t>Nguồn</a:t>
            </a:r>
            <a:r>
              <a:rPr dirty="0"/>
              <a:t> </a:t>
            </a:r>
            <a:r>
              <a:rPr dirty="0" err="1"/>
              <a:t>trong</a:t>
            </a:r>
            <a:r>
              <a:rPr dirty="0"/>
              <a:t> </a:t>
            </a:r>
            <a:r>
              <a:rPr dirty="0" err="1"/>
              <a:t>đồ</a:t>
            </a:r>
            <a:r>
              <a:rPr dirty="0"/>
              <a:t> </a:t>
            </a:r>
            <a:r>
              <a:rPr dirty="0" err="1"/>
              <a:t>án</a:t>
            </a:r>
            <a:r>
              <a:rPr dirty="0"/>
              <a:t>:</a:t>
            </a:r>
          </a:p>
          <a:p>
            <a:r>
              <a:rPr dirty="0"/>
              <a:t>D:\NguyenThanhLoc\UIT\Kỹ </a:t>
            </a:r>
            <a:r>
              <a:rPr dirty="0" err="1"/>
              <a:t>thuật</a:t>
            </a:r>
            <a:r>
              <a:rPr dirty="0"/>
              <a:t> </a:t>
            </a:r>
            <a:r>
              <a:rPr dirty="0" err="1"/>
              <a:t>lập</a:t>
            </a:r>
            <a:r>
              <a:rPr dirty="0"/>
              <a:t> </a:t>
            </a:r>
            <a:r>
              <a:rPr dirty="0" err="1"/>
              <a:t>trình</a:t>
            </a:r>
            <a:r>
              <a:rPr dirty="0"/>
              <a:t> Python\Code\Final_project\scripts\train_model.py</a:t>
            </a:r>
          </a:p>
          <a:p>
            <a:r>
              <a:rPr dirty="0"/>
              <a:t>D:\NguyenThanhLoc\UIT\Kỹ </a:t>
            </a:r>
            <a:r>
              <a:rPr dirty="0" err="1"/>
              <a:t>thuật</a:t>
            </a:r>
            <a:r>
              <a:rPr dirty="0"/>
              <a:t> </a:t>
            </a:r>
            <a:r>
              <a:rPr dirty="0" err="1"/>
              <a:t>lập</a:t>
            </a:r>
            <a:r>
              <a:rPr dirty="0"/>
              <a:t> </a:t>
            </a:r>
            <a:r>
              <a:rPr dirty="0" err="1"/>
              <a:t>trình</a:t>
            </a:r>
            <a:r>
              <a:rPr dirty="0"/>
              <a:t> Python\Code\Final_project\app\features\extractor.py</a:t>
            </a:r>
          </a:p>
          <a:p>
            <a:r>
              <a:rPr dirty="0"/>
              <a:t>D:\NguyenThanhLoc\UIT\Kỹ </a:t>
            </a:r>
            <a:r>
              <a:rPr dirty="0" err="1"/>
              <a:t>thuật</a:t>
            </a:r>
            <a:r>
              <a:rPr dirty="0"/>
              <a:t> </a:t>
            </a:r>
            <a:r>
              <a:rPr dirty="0" err="1"/>
              <a:t>lập</a:t>
            </a:r>
            <a:r>
              <a:rPr dirty="0"/>
              <a:t> </a:t>
            </a:r>
            <a:r>
              <a:rPr dirty="0" err="1"/>
              <a:t>trình</a:t>
            </a:r>
            <a:r>
              <a:rPr dirty="0"/>
              <a:t> Python\Code\Final_project\app\core\http_client.py</a:t>
            </a:r>
          </a:p>
          <a:p>
            <a:r>
              <a:rPr dirty="0"/>
              <a:t>D:\NguyenThanhLoc\UIT\Kỹ </a:t>
            </a:r>
            <a:r>
              <a:rPr dirty="0" err="1"/>
              <a:t>thuật</a:t>
            </a:r>
            <a:r>
              <a:rPr dirty="0"/>
              <a:t> </a:t>
            </a:r>
            <a:r>
              <a:rPr dirty="0" err="1"/>
              <a:t>lập</a:t>
            </a:r>
            <a:r>
              <a:rPr dirty="0"/>
              <a:t> </a:t>
            </a:r>
            <a:r>
              <a:rPr dirty="0" err="1"/>
              <a:t>trình</a:t>
            </a:r>
            <a:r>
              <a:rPr dirty="0"/>
              <a:t> Python\Code\Final_project\app\risk\checklist.py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Ưu tiên tiếp theo là cải thiện đánh giá trước khi mở rộng giao diện. Tách train/validation/test theo domain và bổ sung kiểm tra theo thời gian. Thu thập tuổi domain, TLS thật, thử ablation bỏ nhóm HTTPS để đo phụ thuộc. Hiệu chỉnh xác suất trên tập riêng. Trong vận hành, phân biệt unknown với đạt trong checklist, bổ sung headless có kiểm soát khi quét JavaScript. Cuối cùng mở rộng thương hiệu và tiện ích trình duyệt. Các mục này là kế hoạch, chưa triển khai.</a:t>
            </a:r>
          </a:p>
          <a:p>
            <a:endParaRPr/>
          </a:p>
          <a:p>
            <a:r>
              <a:t>Nguồn trong đồ án:</a:t>
            </a:r>
          </a:p>
          <a:p>
            <a:r>
              <a:t>D:\NguyenThanhLoc\UIT\Kỹ thuật lập trình Python\Code\Final_project\docs\slide_report.md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Đồ án triển khai một luồng Python hoàn chỉnh từ URL, phân tích bằng chứng, tính điểm đến lưu trữ và giao diện. XGBoost có FNR 3,47% và F1 97,58% trên tập đánh giá hiện tại. Thành quả chính là kết hợp các nguồn bằng chứng và giải thích cho người dùng. Chất lượng ngoài thực tế còn cần kiểm chứng bằng dữ liệu độc lập và cập nhật hơn. Em xin cảm ơn thầy cô và sẵn sàng trao đổi.</a:t>
            </a:r>
          </a:p>
          <a:p>
            <a:endParaRPr/>
          </a:p>
          <a:p>
            <a:r>
              <a:t>Nguồn trong đồ án:</a:t>
            </a:r>
          </a:p>
          <a:p>
            <a:r>
              <a:t>D:\NguyenThanhLoc\UIT\Kỹ thuật lập trình Python\Code\Final_project\README.md</a:t>
            </a:r>
          </a:p>
          <a:p>
            <a:r>
              <a:t>D:\NguyenThanhLoc\UIT\Kỹ thuật lập trình Python\Code\Final_project\artifacts\phishing_model_v1\metrics.json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Toàn bộ chỉ số trong bảng lấy từ metrics.json, phần test. Cột bỏ sót là FN. Tổng mẫu test 49.416, phishing 22.238. Script lựa chọn bằng FNR và phá hòa bằng F1. Chênh lệch train/test accuracy của XGBoost khoảng 0,029 điểm phần trăm không đủ để loại trừ overfitting hoặc dịch chuyển phân phối.</a:t>
            </a:r>
          </a:p>
          <a:p>
            <a:endParaRPr/>
          </a:p>
          <a:p>
            <a:r>
              <a:t>Nguồn trong đồ án:</a:t>
            </a:r>
          </a:p>
          <a:p>
            <a:r>
              <a:t>D:\NguyenThanhLoc\UIT\Kỹ thuật lập trình Python\Code\Final_project\artifacts\phishing_model_v1\metrics.json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số câu trả lời ngắn: ưu tiên FNR để theo dõi bỏ sót phishing. Điểm risk 80 không có nghĩa 80% khả năng lừa đảo, vì đây là điểm tổng hợp. Không có blacklist không đảm bảo an toàn. Unknown không phải tuổi 0 ngày. Nếu được hỏi model dùng tuổi domain hay chưa: thuộc tính có trong schema nhưng gain bằng 0 do PhiUSIIL không có dữ liệu thật. Model hiện tại dùng hostname_match như proxy HTTPS ở offline, cần cải thiện dữ liệu.</a:t>
            </a:r>
          </a:p>
          <a:p>
            <a:endParaRPr/>
          </a:p>
          <a:p>
            <a:r>
              <a:t>Nguồn trong đồ án:</a:t>
            </a:r>
          </a:p>
          <a:p>
            <a:r>
              <a:t>D:\NguyenThanhLoc\UIT\Kỹ thuật lập trình Python\Code\Final_project\app\risk\engine.py</a:t>
            </a:r>
          </a:p>
          <a:p>
            <a:r>
              <a:t>D:\NguyenThanhLoc\UIT\Kỹ thuật lập trình Python\Code\Final_project\app\features\extractor.py</a:t>
            </a:r>
          </a:p>
          <a:p>
            <a:r>
              <a:t>D:\NguyenThanhLoc\UIT\Kỹ thuật lập trình Python\Code\Final_project\artifacts\phishing_model_v1\metadata.json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A56BDBAC-1659-40DE-AFFA-4E6DACF06271}"/>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EA126A3-7BB4-4075-B99E-90323936BDAE}"/>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B61B96C3-0F71-4C89-8137-70B81EE9D8D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8948DDA2-0642-4CD9-827E-EF2A57CD3689}"/>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850B141F-9A96-4F6A-BE98-931C04EEDBA0}"/>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4D54373C-2D6D-4AF2-9275-CE2B41EAC06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3B490026-D355-4E92-9C25-16EA3ED676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BA0BA491-D200-4466-9D24-586C76FFD22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A6D41632-80FB-4824-89AD-7B46948528E7}"/>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C759461A-0E42-4B97-89DE-D7D9EEAD195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734BE5FC-E025-4A14-B5D9-C645D0CC5CA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4BA94806-E5D0-4420-AA0B-382D09D92F7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9EAA0494-016E-4F96-8E4E-63835C4A0EFE}"/>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4BA3074F-9C71-461B-B838-DED0B2C01C2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9B174E80-8E39-45F8-9BEC-B5563AF30801}"/>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A14B0D74-BD70-4E55-B163-354719766070}"/>
              </a:ext>
            </a:extLst>
          </p:cNvPr>
          <p:cNvSpPr>
            <a:spLocks noGrp="1"/>
          </p:cNvSpPr>
          <p:nvPr/>
        </p:nvSpPr>
        <p:spPr>
          <a:xfrm>
            <a:off x="609600" y="523875"/>
            <a:ext cx="10668000" cy="428625"/>
          </a:xfrm>
          <a:prstGeom prst="rect">
            <a:avLst/>
          </a:prstGeom>
          <a:noFill/>
          <a:ln w="0">
            <a:noFill/>
          </a:ln>
        </p:spPr>
        <p:txBody>
          <a:bodyPr>
            <a:noAutofit/>
          </a:bodyPr>
          <a:lstStyle/>
          <a:p>
            <a:pPr algn="l">
              <a:defRPr sz="1725" b="1">
                <a:solidFill>
                  <a:srgbClr val="9DBACB"/>
                </a:solidFill>
                <a:latin typeface="Arial"/>
                <a:ea typeface="Arial"/>
                <a:cs typeface="Arial"/>
              </a:defRPr>
            </a:pPr>
            <a:r>
              <a:rPr sz="1725" b="1">
                <a:solidFill>
                  <a:srgbClr val="9DBACB"/>
                </a:solidFill>
                <a:latin typeface="Arial"/>
                <a:ea typeface="Arial"/>
                <a:cs typeface="Arial"/>
              </a:rPr>
              <a:t>BÁO CÁO ĐỒ ÁN MÔN KỸ THUẬT LẬP TRÌNH PYTHON</a:t>
            </a:r>
          </a:p>
        </p:txBody>
      </p:sp>
      <p:sp>
        <p:nvSpPr>
          <p:cNvPr id="2" name="text-1">
            <a:extLst>
              <a:ext uri="{FF2B5EF4-FFF2-40B4-BE49-F238E27FC236}">
                <a16:creationId xmlns:a16="http://schemas.microsoft.com/office/drawing/2014/main" id="{E1E30B7A-7815-4F61-A21F-E06EE8CE35C0}"/>
              </a:ext>
            </a:extLst>
          </p:cNvPr>
          <p:cNvSpPr>
            <a:spLocks noGrp="1"/>
          </p:cNvSpPr>
          <p:nvPr/>
        </p:nvSpPr>
        <p:spPr>
          <a:xfrm>
            <a:off x="609600" y="1647825"/>
            <a:ext cx="10763250" cy="1952625"/>
          </a:xfrm>
          <a:prstGeom prst="rect">
            <a:avLst/>
          </a:prstGeom>
          <a:noFill/>
          <a:ln w="0">
            <a:noFill/>
          </a:ln>
        </p:spPr>
        <p:txBody>
          <a:bodyPr>
            <a:noAutofit/>
          </a:bodyPr>
          <a:lstStyle/>
          <a:p>
            <a:pPr algn="l">
              <a:defRPr sz="5400" b="1">
                <a:solidFill>
                  <a:srgbClr val="FFFFFF"/>
                </a:solidFill>
                <a:latin typeface="Arial"/>
                <a:ea typeface="Arial"/>
                <a:cs typeface="Arial"/>
              </a:defRPr>
            </a:pPr>
            <a:r>
              <a:rPr sz="5400" b="1">
                <a:solidFill>
                  <a:srgbClr val="FFFFFF"/>
                </a:solidFill>
                <a:latin typeface="Arial"/>
                <a:ea typeface="Arial"/>
                <a:cs typeface="Arial"/>
              </a:rPr>
              <a:t>Website Scam /</a:t>
            </a:r>
          </a:p>
          <a:p>
            <a:pPr algn="l">
              <a:defRPr sz="5400" b="1">
                <a:solidFill>
                  <a:srgbClr val="FFFFFF"/>
                </a:solidFill>
                <a:latin typeface="Arial"/>
                <a:ea typeface="Arial"/>
                <a:cs typeface="Arial"/>
              </a:defRPr>
            </a:pPr>
            <a:r>
              <a:rPr sz="5400" b="1">
                <a:solidFill>
                  <a:srgbClr val="FFFFFF"/>
                </a:solidFill>
                <a:latin typeface="Arial"/>
                <a:ea typeface="Arial"/>
                <a:cs typeface="Arial"/>
              </a:rPr>
              <a:t>Phishing Detector</a:t>
            </a:r>
          </a:p>
        </p:txBody>
      </p:sp>
      <p:sp>
        <p:nvSpPr>
          <p:cNvPr id="3" name="text-2">
            <a:extLst>
              <a:ext uri="{FF2B5EF4-FFF2-40B4-BE49-F238E27FC236}">
                <a16:creationId xmlns:a16="http://schemas.microsoft.com/office/drawing/2014/main" id="{566828B7-403C-45BC-A705-8012E4C76C94}"/>
              </a:ext>
            </a:extLst>
          </p:cNvPr>
          <p:cNvSpPr>
            <a:spLocks noGrp="1"/>
          </p:cNvSpPr>
          <p:nvPr/>
        </p:nvSpPr>
        <p:spPr>
          <a:xfrm>
            <a:off x="609600" y="3905250"/>
            <a:ext cx="10287000" cy="1047750"/>
          </a:xfrm>
          <a:prstGeom prst="rect">
            <a:avLst/>
          </a:prstGeom>
          <a:noFill/>
          <a:ln w="0">
            <a:noFill/>
          </a:ln>
        </p:spPr>
        <p:txBody>
          <a:bodyPr>
            <a:noAutofit/>
          </a:bodyPr>
          <a:lstStyle/>
          <a:p>
            <a:pPr algn="l">
              <a:defRPr sz="2550" b="0">
                <a:solidFill>
                  <a:srgbClr val="9DE0DD"/>
                </a:solidFill>
                <a:latin typeface="Arial"/>
                <a:ea typeface="Arial"/>
                <a:cs typeface="Arial"/>
              </a:defRPr>
            </a:pPr>
            <a:r>
              <a:rPr sz="2550" b="0">
                <a:solidFill>
                  <a:srgbClr val="9DE0DD"/>
                </a:solidFill>
                <a:latin typeface="Arial"/>
                <a:ea typeface="Arial"/>
                <a:cs typeface="Arial"/>
              </a:rPr>
              <a:t>Phân tích và phát hiện dấu hiệu</a:t>
            </a:r>
          </a:p>
          <a:p>
            <a:pPr algn="l">
              <a:defRPr sz="2550" b="0">
                <a:solidFill>
                  <a:srgbClr val="9DE0DD"/>
                </a:solidFill>
                <a:latin typeface="Arial"/>
                <a:ea typeface="Arial"/>
                <a:cs typeface="Arial"/>
              </a:defRPr>
            </a:pPr>
            <a:r>
              <a:rPr sz="2550" b="0">
                <a:solidFill>
                  <a:srgbClr val="9DE0DD"/>
                </a:solidFill>
                <a:latin typeface="Arial"/>
                <a:ea typeface="Arial"/>
                <a:cs typeface="Arial"/>
              </a:rPr>
              <a:t>website lừa đảo bằng Python</a:t>
            </a:r>
          </a:p>
        </p:txBody>
      </p:sp>
      <p:sp>
        <p:nvSpPr>
          <p:cNvPr id="4" name="text-3">
            <a:extLst>
              <a:ext uri="{FF2B5EF4-FFF2-40B4-BE49-F238E27FC236}">
                <a16:creationId xmlns:a16="http://schemas.microsoft.com/office/drawing/2014/main" id="{7FD4A65D-94A5-4EF9-A805-EAFA0CD90877}"/>
              </a:ext>
            </a:extLst>
          </p:cNvPr>
          <p:cNvSpPr>
            <a:spLocks noGrp="1"/>
          </p:cNvSpPr>
          <p:nvPr/>
        </p:nvSpPr>
        <p:spPr>
          <a:xfrm>
            <a:off x="609600" y="5610225"/>
            <a:ext cx="7334250" cy="742950"/>
          </a:xfrm>
          <a:prstGeom prst="rect">
            <a:avLst/>
          </a:prstGeom>
          <a:noFill/>
          <a:ln w="0">
            <a:noFill/>
          </a:ln>
        </p:spPr>
        <p:txBody>
          <a:bodyPr>
            <a:noAutofit/>
          </a:bodyPr>
          <a:lstStyle/>
          <a:p>
            <a:pPr algn="l">
              <a:defRPr sz="1950" b="0">
                <a:solidFill>
                  <a:srgbClr val="FFFFFF"/>
                </a:solidFill>
                <a:latin typeface="Arial"/>
                <a:ea typeface="Arial"/>
                <a:cs typeface="Arial"/>
              </a:defRPr>
            </a:pPr>
            <a:r>
              <a:rPr sz="1950" b="0">
                <a:solidFill>
                  <a:srgbClr val="FFFFFF"/>
                </a:solidFill>
                <a:latin typeface="Arial"/>
                <a:ea typeface="Arial"/>
                <a:cs typeface="Arial"/>
              </a:rPr>
              <a:t>Nguyễn Thành Lộc</a:t>
            </a:r>
          </a:p>
          <a:p>
            <a:pPr algn="l">
              <a:defRPr sz="1950" b="0">
                <a:solidFill>
                  <a:srgbClr val="FFFFFF"/>
                </a:solidFill>
                <a:latin typeface="Arial"/>
                <a:ea typeface="Arial"/>
                <a:cs typeface="Arial"/>
              </a:defRPr>
            </a:pPr>
            <a:r>
              <a:rPr sz="1950" b="0">
                <a:solidFill>
                  <a:srgbClr val="FFFFFF"/>
                </a:solidFill>
                <a:latin typeface="Arial"/>
                <a:ea typeface="Arial"/>
                <a:cs typeface="Arial"/>
              </a:rPr>
              <a:t>MSSV: 25410244</a:t>
            </a:r>
          </a:p>
        </p:txBody>
      </p:sp>
      <p:sp>
        <p:nvSpPr>
          <p:cNvPr id="5" name="text-4">
            <a:extLst>
              <a:ext uri="{FF2B5EF4-FFF2-40B4-BE49-F238E27FC236}">
                <a16:creationId xmlns:a16="http://schemas.microsoft.com/office/drawing/2014/main" id="{C95338E8-A67B-40C5-ADA2-17D3C0C7EEAA}"/>
              </a:ext>
            </a:extLst>
          </p:cNvPr>
          <p:cNvSpPr>
            <a:spLocks noGrp="1"/>
          </p:cNvSpPr>
          <p:nvPr/>
        </p:nvSpPr>
        <p:spPr>
          <a:xfrm>
            <a:off x="10477500" y="5838825"/>
            <a:ext cx="1047750" cy="476250"/>
          </a:xfrm>
          <a:prstGeom prst="rect">
            <a:avLst/>
          </a:prstGeom>
          <a:noFill/>
          <a:ln w="0">
            <a:noFill/>
          </a:ln>
        </p:spPr>
        <p:txBody>
          <a:bodyPr>
            <a:noAutofit/>
          </a:bodyPr>
          <a:lstStyle/>
          <a:p>
            <a:pPr algn="r">
              <a:defRPr sz="2100" b="1">
                <a:solidFill>
                  <a:srgbClr val="9DBACB"/>
                </a:solidFill>
                <a:latin typeface="Arial"/>
                <a:ea typeface="Arial"/>
                <a:cs typeface="Arial"/>
              </a:defRPr>
            </a:pPr>
            <a:r>
              <a:rPr sz="2100" b="1">
                <a:solidFill>
                  <a:srgbClr val="9DBACB"/>
                </a:solidFill>
                <a:latin typeface="Arial"/>
                <a:ea typeface="Arial"/>
                <a:cs typeface="Arial"/>
              </a:rPr>
              <a:t>UIT</a:t>
            </a:r>
          </a:p>
        </p:txBody>
      </p:sp>
    </p:spTree>
    <p:extLst>
      <p:ext uri="{BB962C8B-B14F-4D97-AF65-F5344CB8AC3E}">
        <p14:creationId xmlns:p14="http://schemas.microsoft.com/office/powerpoint/2010/main" val="707691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70D27E8C-3E6E-4902-843A-A2BB5B1078FD}"/>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Bài toán và mục tiêu</a:t>
            </a:r>
          </a:p>
        </p:txBody>
      </p:sp>
      <p:sp>
        <p:nvSpPr>
          <p:cNvPr id="2" name="text-1">
            <a:extLst>
              <a:ext uri="{FF2B5EF4-FFF2-40B4-BE49-F238E27FC236}">
                <a16:creationId xmlns:a16="http://schemas.microsoft.com/office/drawing/2014/main" id="{F86F4284-87C5-4DEE-902B-D7C606481DD3}"/>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02</a:t>
            </a:r>
          </a:p>
        </p:txBody>
      </p:sp>
      <p:sp>
        <p:nvSpPr>
          <p:cNvPr id="3" name="text-2">
            <a:extLst>
              <a:ext uri="{FF2B5EF4-FFF2-40B4-BE49-F238E27FC236}">
                <a16:creationId xmlns:a16="http://schemas.microsoft.com/office/drawing/2014/main" id="{22D512E3-EEE0-4056-B9E7-5B2F7F7E39E4}"/>
              </a:ext>
            </a:extLst>
          </p:cNvPr>
          <p:cNvSpPr>
            <a:spLocks noGrp="1"/>
          </p:cNvSpPr>
          <p:nvPr/>
        </p:nvSpPr>
        <p:spPr>
          <a:xfrm>
            <a:off x="609600" y="1666875"/>
            <a:ext cx="4953000" cy="523875"/>
          </a:xfrm>
          <a:prstGeom prst="rect">
            <a:avLst/>
          </a:prstGeom>
          <a:noFill/>
          <a:ln w="0">
            <a:noFill/>
          </a:ln>
        </p:spPr>
        <p:txBody>
          <a:bodyPr>
            <a:noAutofit/>
          </a:bodyPr>
          <a:lstStyle/>
          <a:p>
            <a:pPr algn="l">
              <a:defRPr sz="2550" b="1">
                <a:solidFill>
                  <a:srgbClr val="007F86"/>
                </a:solidFill>
                <a:latin typeface="Arial"/>
                <a:ea typeface="Arial"/>
                <a:cs typeface="Arial"/>
              </a:defRPr>
            </a:pPr>
            <a:r>
              <a:rPr sz="2550" b="1">
                <a:solidFill>
                  <a:srgbClr val="007F86"/>
                </a:solidFill>
                <a:latin typeface="Arial"/>
                <a:ea typeface="Arial"/>
                <a:cs typeface="Arial"/>
              </a:rPr>
              <a:t>Một URL đáng ngờ</a:t>
            </a:r>
          </a:p>
        </p:txBody>
      </p:sp>
      <p:sp>
        <p:nvSpPr>
          <p:cNvPr id="4" name="text-3">
            <a:extLst>
              <a:ext uri="{FF2B5EF4-FFF2-40B4-BE49-F238E27FC236}">
                <a16:creationId xmlns:a16="http://schemas.microsoft.com/office/drawing/2014/main" id="{3004E64F-0C3B-413B-AE1F-C81A96469C43}"/>
              </a:ext>
            </a:extLst>
          </p:cNvPr>
          <p:cNvSpPr>
            <a:spLocks noGrp="1"/>
          </p:cNvSpPr>
          <p:nvPr/>
        </p:nvSpPr>
        <p:spPr>
          <a:xfrm>
            <a:off x="609600" y="2390775"/>
            <a:ext cx="4857750" cy="1428750"/>
          </a:xfrm>
          <a:prstGeom prst="rect">
            <a:avLst/>
          </a:prstGeom>
          <a:noFill/>
          <a:ln w="0">
            <a:noFill/>
          </a:ln>
        </p:spPr>
        <p:txBody>
          <a:bodyPr>
            <a:noAutofit/>
          </a:bodyPr>
          <a:lstStyle/>
          <a:p>
            <a:pPr algn="l">
              <a:defRPr sz="2250" b="0">
                <a:solidFill>
                  <a:srgbClr val="102A43"/>
                </a:solidFill>
                <a:latin typeface="Arial"/>
                <a:ea typeface="Arial"/>
                <a:cs typeface="Arial"/>
              </a:defRPr>
            </a:pPr>
            <a:r>
              <a:rPr sz="2250" b="0">
                <a:solidFill>
                  <a:srgbClr val="102A43"/>
                </a:solidFill>
                <a:latin typeface="Arial"/>
                <a:ea typeface="Arial"/>
                <a:cs typeface="Arial"/>
              </a:rPr>
              <a:t>Người dùng khó đánh giá chỉ từ</a:t>
            </a:r>
          </a:p>
          <a:p>
            <a:pPr algn="l">
              <a:defRPr sz="2250" b="0">
                <a:solidFill>
                  <a:srgbClr val="102A43"/>
                </a:solidFill>
                <a:latin typeface="Arial"/>
                <a:ea typeface="Arial"/>
                <a:cs typeface="Arial"/>
              </a:defRPr>
            </a:pPr>
            <a:r>
              <a:rPr sz="2250" b="0">
                <a:solidFill>
                  <a:srgbClr val="102A43"/>
                </a:solidFill>
                <a:latin typeface="Arial"/>
                <a:ea typeface="Arial"/>
                <a:cs typeface="Arial"/>
              </a:rPr>
              <a:t>tên miền, HTTPS hoặc giao diện.</a:t>
            </a:r>
          </a:p>
        </p:txBody>
      </p:sp>
      <p:sp>
        <p:nvSpPr>
          <p:cNvPr id="5" name="text-4">
            <a:extLst>
              <a:ext uri="{FF2B5EF4-FFF2-40B4-BE49-F238E27FC236}">
                <a16:creationId xmlns:a16="http://schemas.microsoft.com/office/drawing/2014/main" id="{52AFCFC4-EE26-45C6-BBCF-6A2CE3E3F112}"/>
              </a:ext>
            </a:extLst>
          </p:cNvPr>
          <p:cNvSpPr>
            <a:spLocks noGrp="1"/>
          </p:cNvSpPr>
          <p:nvPr/>
        </p:nvSpPr>
        <p:spPr>
          <a:xfrm>
            <a:off x="6362700" y="1666875"/>
            <a:ext cx="5143500" cy="523875"/>
          </a:xfrm>
          <a:prstGeom prst="rect">
            <a:avLst/>
          </a:prstGeom>
          <a:noFill/>
          <a:ln w="0">
            <a:noFill/>
          </a:ln>
        </p:spPr>
        <p:txBody>
          <a:bodyPr>
            <a:noAutofit/>
          </a:bodyPr>
          <a:lstStyle/>
          <a:p>
            <a:pPr algn="l">
              <a:defRPr sz="2550" b="1">
                <a:solidFill>
                  <a:srgbClr val="007F86"/>
                </a:solidFill>
                <a:latin typeface="Arial"/>
                <a:ea typeface="Arial"/>
                <a:cs typeface="Arial"/>
              </a:defRPr>
            </a:pPr>
            <a:r>
              <a:rPr sz="2550" b="1">
                <a:solidFill>
                  <a:srgbClr val="007F86"/>
                </a:solidFill>
                <a:latin typeface="Arial"/>
                <a:ea typeface="Arial"/>
                <a:cs typeface="Arial"/>
              </a:rPr>
              <a:t>Đầu ra của hệ thống</a:t>
            </a:r>
          </a:p>
        </p:txBody>
      </p:sp>
      <p:sp>
        <p:nvSpPr>
          <p:cNvPr id="6" name="text-5">
            <a:extLst>
              <a:ext uri="{FF2B5EF4-FFF2-40B4-BE49-F238E27FC236}">
                <a16:creationId xmlns:a16="http://schemas.microsoft.com/office/drawing/2014/main" id="{114453A3-A86E-4B8F-936B-3827FC98D1B2}"/>
              </a:ext>
            </a:extLst>
          </p:cNvPr>
          <p:cNvSpPr>
            <a:spLocks noGrp="1"/>
          </p:cNvSpPr>
          <p:nvPr/>
        </p:nvSpPr>
        <p:spPr>
          <a:xfrm>
            <a:off x="6362700" y="2390775"/>
            <a:ext cx="5143500" cy="1857375"/>
          </a:xfrm>
          <a:prstGeom prst="rect">
            <a:avLst/>
          </a:prstGeom>
          <a:noFill/>
          <a:ln w="0">
            <a:noFill/>
          </a:ln>
        </p:spPr>
        <p:txBody>
          <a:bodyPr>
            <a:noAutofit/>
          </a:bodyPr>
          <a:lstStyle/>
          <a:p>
            <a:pPr algn="l">
              <a:defRPr sz="2250" b="0">
                <a:solidFill>
                  <a:srgbClr val="102A43"/>
                </a:solidFill>
                <a:latin typeface="Arial"/>
                <a:ea typeface="Arial"/>
                <a:cs typeface="Arial"/>
              </a:defRPr>
            </a:pPr>
            <a:r>
              <a:rPr sz="2250" b="0">
                <a:solidFill>
                  <a:srgbClr val="102A43"/>
                </a:solidFill>
                <a:latin typeface="Arial"/>
                <a:ea typeface="Arial"/>
                <a:cs typeface="Arial"/>
              </a:rPr>
              <a:t>Điểm rủi ro 0–100</a:t>
            </a:r>
          </a:p>
          <a:p>
            <a:pPr algn="l">
              <a:defRPr sz="2250" b="0">
                <a:solidFill>
                  <a:srgbClr val="102A43"/>
                </a:solidFill>
                <a:latin typeface="Arial"/>
                <a:ea typeface="Arial"/>
                <a:cs typeface="Arial"/>
              </a:defRPr>
            </a:pPr>
            <a:r>
              <a:rPr sz="2250" b="0">
                <a:solidFill>
                  <a:srgbClr val="102A43"/>
                </a:solidFill>
                <a:latin typeface="Arial"/>
                <a:ea typeface="Arial"/>
                <a:cs typeface="Arial"/>
              </a:rPr>
              <a:t>Mức rủi ro và từng dấu hiệu</a:t>
            </a:r>
          </a:p>
          <a:p>
            <a:pPr algn="l">
              <a:defRPr sz="2250" b="0">
                <a:solidFill>
                  <a:srgbClr val="102A43"/>
                </a:solidFill>
                <a:latin typeface="Arial"/>
                <a:ea typeface="Arial"/>
                <a:cs typeface="Arial"/>
              </a:defRPr>
            </a:pPr>
            <a:r>
              <a:rPr sz="2250" b="0">
                <a:solidFill>
                  <a:srgbClr val="102A43"/>
                </a:solidFill>
                <a:latin typeface="Arial"/>
                <a:ea typeface="Arial"/>
                <a:cs typeface="Arial"/>
              </a:rPr>
              <a:t>Lịch sử quét trên web / API</a:t>
            </a:r>
          </a:p>
        </p:txBody>
      </p:sp>
      <p:sp>
        <p:nvSpPr>
          <p:cNvPr id="7" name="text-6">
            <a:extLst>
              <a:ext uri="{FF2B5EF4-FFF2-40B4-BE49-F238E27FC236}">
                <a16:creationId xmlns:a16="http://schemas.microsoft.com/office/drawing/2014/main" id="{7C7B7BE4-36D8-479A-A9D7-1ED7B5524E00}"/>
              </a:ext>
            </a:extLst>
          </p:cNvPr>
          <p:cNvSpPr>
            <a:spLocks noGrp="1"/>
          </p:cNvSpPr>
          <p:nvPr/>
        </p:nvSpPr>
        <p:spPr>
          <a:xfrm>
            <a:off x="609600" y="4810125"/>
            <a:ext cx="10906125" cy="619125"/>
          </a:xfrm>
          <a:prstGeom prst="rect">
            <a:avLst/>
          </a:prstGeom>
          <a:noFill/>
          <a:ln w="0">
            <a:noFill/>
          </a:ln>
        </p:spPr>
        <p:txBody>
          <a:bodyPr>
            <a:noAutofit/>
          </a:bodyPr>
          <a:lstStyle/>
          <a:p>
            <a:pPr algn="l">
              <a:defRPr sz="2400" b="1">
                <a:solidFill>
                  <a:srgbClr val="102A43"/>
                </a:solidFill>
                <a:latin typeface="Arial"/>
                <a:ea typeface="Arial"/>
                <a:cs typeface="Arial"/>
              </a:defRPr>
            </a:pPr>
            <a:r>
              <a:rPr sz="2400" b="1">
                <a:solidFill>
                  <a:srgbClr val="102A43"/>
                </a:solidFill>
                <a:latin typeface="Arial"/>
                <a:ea typeface="Arial"/>
                <a:cs typeface="Arial"/>
              </a:rPr>
              <a:t>Luật heuristic  +  Machine Learning  +  Danh sách đen</a:t>
            </a:r>
          </a:p>
        </p:txBody>
      </p:sp>
      <p:sp>
        <p:nvSpPr>
          <p:cNvPr id="8" name="text-7">
            <a:extLst>
              <a:ext uri="{FF2B5EF4-FFF2-40B4-BE49-F238E27FC236}">
                <a16:creationId xmlns:a16="http://schemas.microsoft.com/office/drawing/2014/main" id="{DB4166D1-9EF2-4E02-87A2-95F40ABBB2D7}"/>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Điểm rủi ro là chỉ số tổng hợp. Xác suất do ML ước tính được hiển thị riêng.</a:t>
            </a:r>
          </a:p>
        </p:txBody>
      </p:sp>
    </p:spTree>
    <p:extLst>
      <p:ext uri="{BB962C8B-B14F-4D97-AF65-F5344CB8AC3E}">
        <p14:creationId xmlns:p14="http://schemas.microsoft.com/office/powerpoint/2010/main" val="2018317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DABBAC02-A37D-42BA-9843-9EC346DED3A9}"/>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Công nghệ và tổ chức mã nguồn</a:t>
            </a:r>
          </a:p>
        </p:txBody>
      </p:sp>
      <p:sp>
        <p:nvSpPr>
          <p:cNvPr id="2" name="text-1">
            <a:extLst>
              <a:ext uri="{FF2B5EF4-FFF2-40B4-BE49-F238E27FC236}">
                <a16:creationId xmlns:a16="http://schemas.microsoft.com/office/drawing/2014/main" id="{FCF79861-D8B7-4A9F-9EBD-73684C6CBC50}"/>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03</a:t>
            </a:r>
          </a:p>
        </p:txBody>
      </p:sp>
      <p:graphicFrame>
        <p:nvGraphicFramePr>
          <p:cNvPr id="7" name="Table 6"/>
          <p:cNvGraphicFramePr/>
          <p:nvPr/>
        </p:nvGraphicFramePr>
        <p:xfrm>
          <a:off x="609600" y="1571625"/>
          <a:ext cx="10972800" cy="3886200"/>
        </p:xfrm>
        <a:graphic>
          <a:graphicData uri="http://schemas.openxmlformats.org/drawingml/2006/table">
            <a:tbl>
              <a:tblPr/>
              <a:tblGrid>
                <a:gridCol w="219075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591050">
                  <a:extLst>
                    <a:ext uri="{9D8B030D-6E8A-4147-A177-3AD203B41FA5}">
                      <a16:colId xmlns:a16="http://schemas.microsoft.com/office/drawing/2014/main" val="20002"/>
                    </a:ext>
                  </a:extLst>
                </a:gridCol>
              </a:tblGrid>
              <a:tr h="647700">
                <a:tc>
                  <a:txBody>
                    <a:bodyPr/>
                    <a:lstStyle/>
                    <a:p>
                      <a:r>
                        <a:rPr sz="1800" b="1">
                          <a:solidFill>
                            <a:srgbClr val="FFFFFF"/>
                          </a:solidFill>
                          <a:latin typeface="Arial"/>
                          <a:ea typeface="Arial"/>
                          <a:cs typeface="Arial"/>
                        </a:rPr>
                        <a:t>Thành phần</a:t>
                      </a:r>
                    </a:p>
                  </a:txBody>
                  <a:tcPr marL="152400" marR="133350" marT="95250" marB="95250">
                    <a:solidFill>
                      <a:srgbClr val="102A43"/>
                    </a:solidFill>
                  </a:tcPr>
                </a:tc>
                <a:tc>
                  <a:txBody>
                    <a:bodyPr/>
                    <a:lstStyle/>
                    <a:p>
                      <a:r>
                        <a:rPr sz="1800" b="1">
                          <a:solidFill>
                            <a:srgbClr val="FFFFFF"/>
                          </a:solidFill>
                          <a:latin typeface="Arial"/>
                          <a:ea typeface="Arial"/>
                          <a:cs typeface="Arial"/>
                        </a:rPr>
                        <a:t>Công nghệ</a:t>
                      </a:r>
                    </a:p>
                  </a:txBody>
                  <a:tcPr marL="152400" marR="133350" marT="95250" marB="95250">
                    <a:solidFill>
                      <a:srgbClr val="102A43"/>
                    </a:solidFill>
                  </a:tcPr>
                </a:tc>
                <a:tc>
                  <a:txBody>
                    <a:bodyPr/>
                    <a:lstStyle/>
                    <a:p>
                      <a:r>
                        <a:rPr sz="1800" b="1">
                          <a:solidFill>
                            <a:srgbClr val="FFFFFF"/>
                          </a:solidFill>
                          <a:latin typeface="Arial"/>
                          <a:ea typeface="Arial"/>
                          <a:cs typeface="Arial"/>
                        </a:rPr>
                        <a:t>Vai trò</a:t>
                      </a:r>
                    </a:p>
                  </a:txBody>
                  <a:tcPr marL="152400" marR="133350" marT="95250" marB="95250">
                    <a:solidFill>
                      <a:srgbClr val="102A43"/>
                    </a:solidFill>
                  </a:tcPr>
                </a:tc>
                <a:extLst>
                  <a:ext uri="{0D108BD9-81ED-4DB2-BD59-A6C34878D82A}">
                    <a16:rowId xmlns:a16="http://schemas.microsoft.com/office/drawing/2014/main" val="10000"/>
                  </a:ext>
                </a:extLst>
              </a:tr>
              <a:tr h="647700">
                <a:tc>
                  <a:txBody>
                    <a:bodyPr/>
                    <a:lstStyle/>
                    <a:p>
                      <a:r>
                        <a:rPr sz="1800">
                          <a:solidFill>
                            <a:srgbClr val="102A43"/>
                          </a:solidFill>
                          <a:latin typeface="Arial"/>
                          <a:ea typeface="Arial"/>
                          <a:cs typeface="Arial"/>
                        </a:rPr>
                        <a:t>Web / API</a:t>
                      </a:r>
                    </a:p>
                  </a:txBody>
                  <a:tcPr marL="152400" marR="133350" marT="95250" marB="95250">
                    <a:solidFill>
                      <a:srgbClr val="FFFFFF"/>
                    </a:solidFill>
                  </a:tcPr>
                </a:tc>
                <a:tc>
                  <a:txBody>
                    <a:bodyPr/>
                    <a:lstStyle/>
                    <a:p>
                      <a:r>
                        <a:rPr sz="1800">
                          <a:solidFill>
                            <a:srgbClr val="102A43"/>
                          </a:solidFill>
                          <a:latin typeface="Arial"/>
                          <a:ea typeface="Arial"/>
                          <a:cs typeface="Arial"/>
                        </a:rPr>
                        <a:t>FastAPI, Uvicorn, Jinja2</a:t>
                      </a:r>
                    </a:p>
                  </a:txBody>
                  <a:tcPr marL="152400" marR="133350" marT="95250" marB="95250">
                    <a:solidFill>
                      <a:srgbClr val="FFFFFF"/>
                    </a:solidFill>
                  </a:tcPr>
                </a:tc>
                <a:tc>
                  <a:txBody>
                    <a:bodyPr/>
                    <a:lstStyle/>
                    <a:p>
                      <a:r>
                        <a:rPr sz="1800">
                          <a:solidFill>
                            <a:srgbClr val="102A43"/>
                          </a:solidFill>
                          <a:latin typeface="Arial"/>
                          <a:ea typeface="Arial"/>
                          <a:cs typeface="Arial"/>
                        </a:rPr>
                        <a:t>Nhập URL, trả kết quả, lịch sử</a:t>
                      </a:r>
                    </a:p>
                  </a:txBody>
                  <a:tcPr marL="152400" marR="133350" marT="95250" marB="95250">
                    <a:solidFill>
                      <a:srgbClr val="FFFFFF"/>
                    </a:solidFill>
                  </a:tcPr>
                </a:tc>
                <a:extLst>
                  <a:ext uri="{0D108BD9-81ED-4DB2-BD59-A6C34878D82A}">
                    <a16:rowId xmlns:a16="http://schemas.microsoft.com/office/drawing/2014/main" val="10001"/>
                  </a:ext>
                </a:extLst>
              </a:tr>
              <a:tr h="647700">
                <a:tc>
                  <a:txBody>
                    <a:bodyPr/>
                    <a:lstStyle/>
                    <a:p>
                      <a:r>
                        <a:rPr sz="1800">
                          <a:solidFill>
                            <a:srgbClr val="102A43"/>
                          </a:solidFill>
                          <a:latin typeface="Arial"/>
                          <a:ea typeface="Arial"/>
                          <a:cs typeface="Arial"/>
                        </a:rPr>
                        <a:t>Dữ liệu</a:t>
                      </a:r>
                    </a:p>
                  </a:txBody>
                  <a:tcPr marL="152400" marR="133350" marT="95250" marB="95250">
                    <a:solidFill>
                      <a:srgbClr val="FFFFFF"/>
                    </a:solidFill>
                  </a:tcPr>
                </a:tc>
                <a:tc>
                  <a:txBody>
                    <a:bodyPr/>
                    <a:lstStyle/>
                    <a:p>
                      <a:r>
                        <a:rPr sz="1800">
                          <a:solidFill>
                            <a:srgbClr val="102A43"/>
                          </a:solidFill>
                          <a:latin typeface="Arial"/>
                          <a:ea typeface="Arial"/>
                          <a:cs typeface="Arial"/>
                        </a:rPr>
                        <a:t>SQLAlchemy, SQLite / PostgreSQL</a:t>
                      </a:r>
                    </a:p>
                  </a:txBody>
                  <a:tcPr marL="152400" marR="133350" marT="95250" marB="95250">
                    <a:solidFill>
                      <a:srgbClr val="FFFFFF"/>
                    </a:solidFill>
                  </a:tcPr>
                </a:tc>
                <a:tc>
                  <a:txBody>
                    <a:bodyPr/>
                    <a:lstStyle/>
                    <a:p>
                      <a:r>
                        <a:rPr sz="1800">
                          <a:solidFill>
                            <a:srgbClr val="102A43"/>
                          </a:solidFill>
                          <a:latin typeface="Arial"/>
                          <a:ea typeface="Arial"/>
                          <a:cs typeface="Arial"/>
                        </a:rPr>
                        <a:t>Lưu lượt quét và dấu hiệu</a:t>
                      </a:r>
                    </a:p>
                  </a:txBody>
                  <a:tcPr marL="152400" marR="133350" marT="95250" marB="95250">
                    <a:solidFill>
                      <a:srgbClr val="FFFFFF"/>
                    </a:solidFill>
                  </a:tcPr>
                </a:tc>
                <a:extLst>
                  <a:ext uri="{0D108BD9-81ED-4DB2-BD59-A6C34878D82A}">
                    <a16:rowId xmlns:a16="http://schemas.microsoft.com/office/drawing/2014/main" val="10002"/>
                  </a:ext>
                </a:extLst>
              </a:tr>
              <a:tr h="647700">
                <a:tc>
                  <a:txBody>
                    <a:bodyPr/>
                    <a:lstStyle/>
                    <a:p>
                      <a:r>
                        <a:rPr sz="1800">
                          <a:solidFill>
                            <a:srgbClr val="102A43"/>
                          </a:solidFill>
                          <a:latin typeface="Arial"/>
                          <a:ea typeface="Arial"/>
                          <a:cs typeface="Arial"/>
                        </a:rPr>
                        <a:t>Phân tích</a:t>
                      </a:r>
                    </a:p>
                  </a:txBody>
                  <a:tcPr marL="152400" marR="133350" marT="95250" marB="95250">
                    <a:solidFill>
                      <a:srgbClr val="FFFFFF"/>
                    </a:solidFill>
                  </a:tcPr>
                </a:tc>
                <a:tc>
                  <a:txBody>
                    <a:bodyPr/>
                    <a:lstStyle/>
                    <a:p>
                      <a:r>
                        <a:rPr sz="1800">
                          <a:solidFill>
                            <a:srgbClr val="102A43"/>
                          </a:solidFill>
                          <a:latin typeface="Arial"/>
                          <a:ea typeface="Arial"/>
                          <a:cs typeface="Arial"/>
                        </a:rPr>
                        <a:t>httpx, BeautifulSoup4, RDAP/WHOIS</a:t>
                      </a:r>
                    </a:p>
                  </a:txBody>
                  <a:tcPr marL="152400" marR="133350" marT="95250" marB="95250">
                    <a:solidFill>
                      <a:srgbClr val="FFFFFF"/>
                    </a:solidFill>
                  </a:tcPr>
                </a:tc>
                <a:tc>
                  <a:txBody>
                    <a:bodyPr/>
                    <a:lstStyle/>
                    <a:p>
                      <a:r>
                        <a:rPr sz="1800">
                          <a:solidFill>
                            <a:srgbClr val="102A43"/>
                          </a:solidFill>
                          <a:latin typeface="Arial"/>
                          <a:ea typeface="Arial"/>
                          <a:cs typeface="Arial"/>
                        </a:rPr>
                        <a:t>Thu thập URL, domain, TLS, HTML</a:t>
                      </a:r>
                    </a:p>
                  </a:txBody>
                  <a:tcPr marL="152400" marR="133350" marT="95250" marB="95250">
                    <a:solidFill>
                      <a:srgbClr val="FFFFFF"/>
                    </a:solidFill>
                  </a:tcPr>
                </a:tc>
                <a:extLst>
                  <a:ext uri="{0D108BD9-81ED-4DB2-BD59-A6C34878D82A}">
                    <a16:rowId xmlns:a16="http://schemas.microsoft.com/office/drawing/2014/main" val="10003"/>
                  </a:ext>
                </a:extLst>
              </a:tr>
              <a:tr h="647700">
                <a:tc>
                  <a:txBody>
                    <a:bodyPr/>
                    <a:lstStyle/>
                    <a:p>
                      <a:r>
                        <a:rPr sz="1800">
                          <a:solidFill>
                            <a:srgbClr val="102A43"/>
                          </a:solidFill>
                          <a:latin typeface="Arial"/>
                          <a:ea typeface="Arial"/>
                          <a:cs typeface="Arial"/>
                        </a:rPr>
                        <a:t>ML</a:t>
                      </a:r>
                    </a:p>
                  </a:txBody>
                  <a:tcPr marL="152400" marR="133350" marT="95250" marB="95250">
                    <a:solidFill>
                      <a:srgbClr val="FFFFFF"/>
                    </a:solidFill>
                  </a:tcPr>
                </a:tc>
                <a:tc>
                  <a:txBody>
                    <a:bodyPr/>
                    <a:lstStyle/>
                    <a:p>
                      <a:r>
                        <a:rPr sz="1800">
                          <a:solidFill>
                            <a:srgbClr val="102A43"/>
                          </a:solidFill>
                          <a:latin typeface="Arial"/>
                          <a:ea typeface="Arial"/>
                          <a:cs typeface="Arial"/>
                        </a:rPr>
                        <a:t>scikit-learn, XGBoost, pandas</a:t>
                      </a:r>
                    </a:p>
                  </a:txBody>
                  <a:tcPr marL="152400" marR="133350" marT="95250" marB="95250">
                    <a:solidFill>
                      <a:srgbClr val="FFFFFF"/>
                    </a:solidFill>
                  </a:tcPr>
                </a:tc>
                <a:tc>
                  <a:txBody>
                    <a:bodyPr/>
                    <a:lstStyle/>
                    <a:p>
                      <a:r>
                        <a:rPr sz="1800">
                          <a:solidFill>
                            <a:srgbClr val="102A43"/>
                          </a:solidFill>
                          <a:latin typeface="Arial"/>
                          <a:ea typeface="Arial"/>
                          <a:cs typeface="Arial"/>
                        </a:rPr>
                        <a:t>Huấn luyện và dự đoán</a:t>
                      </a:r>
                    </a:p>
                  </a:txBody>
                  <a:tcPr marL="152400" marR="133350" marT="95250" marB="95250">
                    <a:solidFill>
                      <a:srgbClr val="FFFFFF"/>
                    </a:solidFill>
                  </a:tcPr>
                </a:tc>
                <a:extLst>
                  <a:ext uri="{0D108BD9-81ED-4DB2-BD59-A6C34878D82A}">
                    <a16:rowId xmlns:a16="http://schemas.microsoft.com/office/drawing/2014/main" val="10004"/>
                  </a:ext>
                </a:extLst>
              </a:tr>
              <a:tr h="647700">
                <a:tc>
                  <a:txBody>
                    <a:bodyPr/>
                    <a:lstStyle/>
                    <a:p>
                      <a:r>
                        <a:rPr sz="1800">
                          <a:solidFill>
                            <a:srgbClr val="102A43"/>
                          </a:solidFill>
                          <a:latin typeface="Arial"/>
                          <a:ea typeface="Arial"/>
                          <a:cs typeface="Arial"/>
                        </a:rPr>
                        <a:t>Kiểm thử</a:t>
                      </a:r>
                    </a:p>
                  </a:txBody>
                  <a:tcPr marL="152400" marR="133350" marT="95250" marB="95250">
                    <a:solidFill>
                      <a:srgbClr val="FFFFFF"/>
                    </a:solidFill>
                  </a:tcPr>
                </a:tc>
                <a:tc>
                  <a:txBody>
                    <a:bodyPr/>
                    <a:lstStyle/>
                    <a:p>
                      <a:r>
                        <a:rPr sz="1800">
                          <a:solidFill>
                            <a:srgbClr val="102A43"/>
                          </a:solidFill>
                          <a:latin typeface="Arial"/>
                          <a:ea typeface="Arial"/>
                          <a:cs typeface="Arial"/>
                        </a:rPr>
                        <a:t>pytest</a:t>
                      </a:r>
                    </a:p>
                  </a:txBody>
                  <a:tcPr marL="152400" marR="133350" marT="95250" marB="95250">
                    <a:solidFill>
                      <a:srgbClr val="FFFFFF"/>
                    </a:solidFill>
                  </a:tcPr>
                </a:tc>
                <a:tc>
                  <a:txBody>
                    <a:bodyPr/>
                    <a:lstStyle/>
                    <a:p>
                      <a:r>
                        <a:rPr sz="1800">
                          <a:solidFill>
                            <a:srgbClr val="102A43"/>
                          </a:solidFill>
                          <a:latin typeface="Arial"/>
                          <a:ea typeface="Arial"/>
                          <a:cs typeface="Arial"/>
                        </a:rPr>
                        <a:t>16 test chạy thành công</a:t>
                      </a:r>
                    </a:p>
                  </a:txBody>
                  <a:tcPr marL="152400" marR="133350" marT="95250" marB="95250">
                    <a:solidFill>
                      <a:srgbClr val="FFFFFF"/>
                    </a:solidFill>
                  </a:tcPr>
                </a:tc>
                <a:extLst>
                  <a:ext uri="{0D108BD9-81ED-4DB2-BD59-A6C34878D82A}">
                    <a16:rowId xmlns:a16="http://schemas.microsoft.com/office/drawing/2014/main" val="10005"/>
                  </a:ext>
                </a:extLst>
              </a:tr>
            </a:tbl>
          </a:graphicData>
        </a:graphic>
      </p:graphicFrame>
      <p:sp>
        <p:nvSpPr>
          <p:cNvPr id="4" name="text-2">
            <a:extLst>
              <a:ext uri="{FF2B5EF4-FFF2-40B4-BE49-F238E27FC236}">
                <a16:creationId xmlns:a16="http://schemas.microsoft.com/office/drawing/2014/main" id="{2F1850D5-214D-4FA0-875E-DCF109C53A4E}"/>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Cấu trúc chính: scanners / features / ml / risk / services / api / web</a:t>
            </a:r>
          </a:p>
        </p:txBody>
      </p:sp>
    </p:spTree>
    <p:extLst>
      <p:ext uri="{BB962C8B-B14F-4D97-AF65-F5344CB8AC3E}">
        <p14:creationId xmlns:p14="http://schemas.microsoft.com/office/powerpoint/2010/main" val="1661655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cxnSp>
        <p:nvCxnSpPr>
          <p:cNvPr id="20" name="Straight Arrow Connector 19"/>
          <p:cNvCxnSpPr>
            <a:stCxn id="8" idx="3"/>
            <a:endCxn id="10" idx="1"/>
          </p:cNvCxnSpPr>
          <p:nvPr/>
        </p:nvCxnSpPr>
        <p:spPr>
          <a:xfrm>
            <a:off x="5810250" y="4972050"/>
            <a:ext cx="609600" cy="0"/>
          </a:xfrm>
          <a:prstGeom prst="straightConnector1">
            <a:avLst/>
          </a:prstGeom>
          <a:ln w="23813">
            <a:solidFill>
              <a:srgbClr val="007F86"/>
            </a:solidFill>
            <a:tailEnd type="arrow" w="med" len="med"/>
          </a:ln>
        </p:spPr>
      </p:cxnSp>
      <p:cxnSp>
        <p:nvCxnSpPr>
          <p:cNvPr id="21" name="Straight Arrow Connector 20"/>
          <p:cNvCxnSpPr>
            <a:stCxn id="9" idx="3"/>
            <a:endCxn id="8" idx="1"/>
          </p:cNvCxnSpPr>
          <p:nvPr/>
        </p:nvCxnSpPr>
        <p:spPr>
          <a:xfrm>
            <a:off x="2419350" y="4972050"/>
            <a:ext cx="609600" cy="0"/>
          </a:xfrm>
          <a:prstGeom prst="straightConnector1">
            <a:avLst/>
          </a:prstGeom>
          <a:ln w="23813">
            <a:solidFill>
              <a:srgbClr val="007F86"/>
            </a:solidFill>
            <a:tailEnd type="arrow" w="med" len="med"/>
          </a:ln>
        </p:spPr>
      </p:cxnSp>
      <p:cxnSp>
        <p:nvCxnSpPr>
          <p:cNvPr id="22" name="Straight Arrow Connector 21"/>
          <p:cNvCxnSpPr>
            <a:stCxn id="7" idx="2"/>
            <a:endCxn id="8" idx="0"/>
          </p:cNvCxnSpPr>
          <p:nvPr/>
        </p:nvCxnSpPr>
        <p:spPr>
          <a:xfrm>
            <a:off x="4419600" y="3752850"/>
            <a:ext cx="0" cy="857250"/>
          </a:xfrm>
          <a:prstGeom prst="straightConnector1">
            <a:avLst/>
          </a:prstGeom>
          <a:ln w="23813">
            <a:solidFill>
              <a:srgbClr val="007F86"/>
            </a:solidFill>
            <a:tailEnd type="arrow" w="med" len="med"/>
          </a:ln>
        </p:spPr>
      </p:cxnSp>
      <p:cxnSp>
        <p:nvCxnSpPr>
          <p:cNvPr id="23" name="Straight Arrow Connector 22"/>
          <p:cNvCxnSpPr>
            <a:stCxn id="6" idx="1"/>
            <a:endCxn id="7" idx="3"/>
          </p:cNvCxnSpPr>
          <p:nvPr/>
        </p:nvCxnSpPr>
        <p:spPr>
          <a:xfrm flipH="1">
            <a:off x="5810250" y="3390900"/>
            <a:ext cx="609600" cy="0"/>
          </a:xfrm>
          <a:prstGeom prst="straightConnector1">
            <a:avLst/>
          </a:prstGeom>
          <a:ln w="23813">
            <a:solidFill>
              <a:srgbClr val="007F86"/>
            </a:solidFill>
            <a:tailEnd type="arrow" w="med" len="med"/>
          </a:ln>
        </p:spPr>
      </p:cxnSp>
      <p:cxnSp>
        <p:nvCxnSpPr>
          <p:cNvPr id="24" name="Straight Arrow Connector 23"/>
          <p:cNvCxnSpPr>
            <a:stCxn id="5" idx="2"/>
            <a:endCxn id="6" idx="0"/>
          </p:cNvCxnSpPr>
          <p:nvPr/>
        </p:nvCxnSpPr>
        <p:spPr>
          <a:xfrm>
            <a:off x="7729538" y="2381250"/>
            <a:ext cx="0" cy="647700"/>
          </a:xfrm>
          <a:prstGeom prst="straightConnector1">
            <a:avLst/>
          </a:prstGeom>
          <a:ln w="23813">
            <a:solidFill>
              <a:srgbClr val="007F86"/>
            </a:solidFill>
            <a:tailEnd type="arrow" w="med" len="med"/>
          </a:ln>
        </p:spPr>
      </p:cxnSp>
      <p:cxnSp>
        <p:nvCxnSpPr>
          <p:cNvPr id="25" name="Straight Arrow Connector 24"/>
          <p:cNvCxnSpPr>
            <a:stCxn id="4" idx="3"/>
            <a:endCxn id="5" idx="1"/>
          </p:cNvCxnSpPr>
          <p:nvPr/>
        </p:nvCxnSpPr>
        <p:spPr>
          <a:xfrm>
            <a:off x="5810250" y="2019300"/>
            <a:ext cx="609600" cy="0"/>
          </a:xfrm>
          <a:prstGeom prst="straightConnector1">
            <a:avLst/>
          </a:prstGeom>
          <a:ln w="23813">
            <a:solidFill>
              <a:srgbClr val="007F86"/>
            </a:solidFill>
            <a:tailEnd type="arrow" w="med" len="med"/>
          </a:ln>
        </p:spPr>
      </p:cxnSp>
      <p:cxnSp>
        <p:nvCxnSpPr>
          <p:cNvPr id="26" name="Straight Arrow Connector 25"/>
          <p:cNvCxnSpPr>
            <a:stCxn id="3" idx="3"/>
            <a:endCxn id="4" idx="1"/>
          </p:cNvCxnSpPr>
          <p:nvPr/>
        </p:nvCxnSpPr>
        <p:spPr>
          <a:xfrm>
            <a:off x="2419350" y="2019300"/>
            <a:ext cx="609600" cy="0"/>
          </a:xfrm>
          <a:prstGeom prst="straightConnector1">
            <a:avLst/>
          </a:prstGeom>
          <a:ln w="23813">
            <a:solidFill>
              <a:srgbClr val="007F86"/>
            </a:solidFill>
            <a:tailEnd type="arrow" w="med" len="med"/>
          </a:ln>
        </p:spPr>
      </p:cxnSp>
      <p:sp>
        <p:nvSpPr>
          <p:cNvPr id="27" name="text-0">
            <a:extLst>
              <a:ext uri="{FF2B5EF4-FFF2-40B4-BE49-F238E27FC236}">
                <a16:creationId xmlns:a16="http://schemas.microsoft.com/office/drawing/2014/main" id="{8BB92DF3-9F88-40A4-8660-B20C2A2B27F0}"/>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Kiến trúc xử lý một URL</a:t>
            </a:r>
          </a:p>
        </p:txBody>
      </p:sp>
      <p:sp>
        <p:nvSpPr>
          <p:cNvPr id="2" name="text-1">
            <a:extLst>
              <a:ext uri="{FF2B5EF4-FFF2-40B4-BE49-F238E27FC236}">
                <a16:creationId xmlns:a16="http://schemas.microsoft.com/office/drawing/2014/main" id="{4C0A1AC6-60BC-4376-A0BD-53B9B3F19BE9}"/>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04</a:t>
            </a:r>
          </a:p>
        </p:txBody>
      </p:sp>
      <p:sp>
        <p:nvSpPr>
          <p:cNvPr id="3" name="Rectangle 2">
            <a:extLst>
              <a:ext uri="{FF2B5EF4-FFF2-40B4-BE49-F238E27FC236}">
                <a16:creationId xmlns:a16="http://schemas.microsoft.com/office/drawing/2014/main" id="{C3B08909-9D22-4A25-95FA-C5F859AE9705}"/>
              </a:ext>
            </a:extLst>
          </p:cNvPr>
          <p:cNvSpPr>
            <a:spLocks noGrp="1"/>
          </p:cNvSpPr>
          <p:nvPr/>
        </p:nvSpPr>
        <p:spPr>
          <a:xfrm>
            <a:off x="609600" y="1657350"/>
            <a:ext cx="1809750"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URL đầu vào</a:t>
            </a:r>
          </a:p>
        </p:txBody>
      </p:sp>
      <p:sp>
        <p:nvSpPr>
          <p:cNvPr id="4" name="Rectangle 3">
            <a:extLst>
              <a:ext uri="{FF2B5EF4-FFF2-40B4-BE49-F238E27FC236}">
                <a16:creationId xmlns:a16="http://schemas.microsoft.com/office/drawing/2014/main" id="{7ABA8133-FB39-4563-8671-41CA90AF0716}"/>
              </a:ext>
            </a:extLst>
          </p:cNvPr>
          <p:cNvSpPr>
            <a:spLocks noGrp="1"/>
          </p:cNvSpPr>
          <p:nvPr/>
        </p:nvSpPr>
        <p:spPr>
          <a:xfrm>
            <a:off x="3028950" y="1657350"/>
            <a:ext cx="2781300"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SSRF + tải trang</a:t>
            </a:r>
          </a:p>
        </p:txBody>
      </p:sp>
      <p:sp>
        <p:nvSpPr>
          <p:cNvPr id="5" name="Rectangle 4">
            <a:extLst>
              <a:ext uri="{FF2B5EF4-FFF2-40B4-BE49-F238E27FC236}">
                <a16:creationId xmlns:a16="http://schemas.microsoft.com/office/drawing/2014/main" id="{8A1CA092-BA29-4C83-B616-1BE72185CDE9}"/>
              </a:ext>
            </a:extLst>
          </p:cNvPr>
          <p:cNvSpPr>
            <a:spLocks noGrp="1"/>
          </p:cNvSpPr>
          <p:nvPr/>
        </p:nvSpPr>
        <p:spPr>
          <a:xfrm>
            <a:off x="6419850" y="1657350"/>
            <a:ext cx="2619375"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Các scanner</a:t>
            </a:r>
          </a:p>
        </p:txBody>
      </p:sp>
      <p:sp>
        <p:nvSpPr>
          <p:cNvPr id="6" name="Rectangle 5">
            <a:extLst>
              <a:ext uri="{FF2B5EF4-FFF2-40B4-BE49-F238E27FC236}">
                <a16:creationId xmlns:a16="http://schemas.microsoft.com/office/drawing/2014/main" id="{E5E48D89-EEF9-42BD-93E5-F37969F38756}"/>
              </a:ext>
            </a:extLst>
          </p:cNvPr>
          <p:cNvSpPr>
            <a:spLocks noGrp="1"/>
          </p:cNvSpPr>
          <p:nvPr/>
        </p:nvSpPr>
        <p:spPr>
          <a:xfrm>
            <a:off x="6419850" y="3028950"/>
            <a:ext cx="2619375"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30 thuộc tính</a:t>
            </a:r>
          </a:p>
        </p:txBody>
      </p:sp>
      <p:sp>
        <p:nvSpPr>
          <p:cNvPr id="7" name="Rectangle 6">
            <a:extLst>
              <a:ext uri="{FF2B5EF4-FFF2-40B4-BE49-F238E27FC236}">
                <a16:creationId xmlns:a16="http://schemas.microsoft.com/office/drawing/2014/main" id="{994F3FC4-52B0-424F-8595-EF0BAC5408A4}"/>
              </a:ext>
            </a:extLst>
          </p:cNvPr>
          <p:cNvSpPr>
            <a:spLocks noGrp="1"/>
          </p:cNvSpPr>
          <p:nvPr/>
        </p:nvSpPr>
        <p:spPr>
          <a:xfrm>
            <a:off x="3028950" y="3028950"/>
            <a:ext cx="2781300"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Luật + XGBoost</a:t>
            </a:r>
          </a:p>
        </p:txBody>
      </p:sp>
      <p:sp>
        <p:nvSpPr>
          <p:cNvPr id="8" name="Rectangle 7">
            <a:extLst>
              <a:ext uri="{FF2B5EF4-FFF2-40B4-BE49-F238E27FC236}">
                <a16:creationId xmlns:a16="http://schemas.microsoft.com/office/drawing/2014/main" id="{FA9DCFCE-ADFE-4EF0-9045-91C3187338B1}"/>
              </a:ext>
            </a:extLst>
          </p:cNvPr>
          <p:cNvSpPr>
            <a:spLocks noGrp="1"/>
          </p:cNvSpPr>
          <p:nvPr/>
        </p:nvSpPr>
        <p:spPr>
          <a:xfrm>
            <a:off x="3028950" y="4610100"/>
            <a:ext cx="2781300" cy="723900"/>
          </a:xfrm>
          <a:prstGeom prst="rect">
            <a:avLst/>
          </a:prstGeom>
          <a:solidFill>
            <a:srgbClr val="E5F2F1"/>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Risk Engine</a:t>
            </a:r>
          </a:p>
        </p:txBody>
      </p:sp>
      <p:sp>
        <p:nvSpPr>
          <p:cNvPr id="9" name="Rectangle 8">
            <a:extLst>
              <a:ext uri="{FF2B5EF4-FFF2-40B4-BE49-F238E27FC236}">
                <a16:creationId xmlns:a16="http://schemas.microsoft.com/office/drawing/2014/main" id="{C889AF6D-942E-4103-9FA6-DB80F20BF71A}"/>
              </a:ext>
            </a:extLst>
          </p:cNvPr>
          <p:cNvSpPr>
            <a:spLocks noGrp="1"/>
          </p:cNvSpPr>
          <p:nvPr/>
        </p:nvSpPr>
        <p:spPr>
          <a:xfrm>
            <a:off x="609600" y="4610100"/>
            <a:ext cx="1809750"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Danh sách đen</a:t>
            </a:r>
          </a:p>
        </p:txBody>
      </p:sp>
      <p:sp>
        <p:nvSpPr>
          <p:cNvPr id="10" name="Rectangle 9">
            <a:extLst>
              <a:ext uri="{FF2B5EF4-FFF2-40B4-BE49-F238E27FC236}">
                <a16:creationId xmlns:a16="http://schemas.microsoft.com/office/drawing/2014/main" id="{C39BA8C3-DC09-45A6-B3C0-2BE47F599098}"/>
              </a:ext>
            </a:extLst>
          </p:cNvPr>
          <p:cNvSpPr>
            <a:spLocks noGrp="1"/>
          </p:cNvSpPr>
          <p:nvPr/>
        </p:nvSpPr>
        <p:spPr>
          <a:xfrm>
            <a:off x="6419850" y="4610100"/>
            <a:ext cx="2619375" cy="723900"/>
          </a:xfrm>
          <a:prstGeom prst="rect">
            <a:avLst/>
          </a:prstGeom>
          <a:solidFill>
            <a:srgbClr val="FFFFFF"/>
          </a:solidFill>
          <a:ln w="13335">
            <a:solidFill>
              <a:srgbClr val="D6E0E5"/>
            </a:solidFill>
          </a:ln>
        </p:spPr>
        <p:txBody>
          <a:bodyPr anchor="ctr"/>
          <a:lstStyle/>
          <a:p>
            <a:pPr algn="ctr">
              <a:defRPr sz="1875" b="1">
                <a:solidFill>
                  <a:srgbClr val="102A43"/>
                </a:solidFill>
                <a:latin typeface="Arial"/>
                <a:ea typeface="Arial"/>
                <a:cs typeface="Arial"/>
              </a:defRPr>
            </a:pPr>
            <a:r>
              <a:rPr sz="1875" b="1">
                <a:solidFill>
                  <a:srgbClr val="102A43"/>
                </a:solidFill>
                <a:latin typeface="Arial"/>
                <a:ea typeface="Arial"/>
                <a:cs typeface="Arial"/>
              </a:rPr>
              <a:t>DB + Web / API</a:t>
            </a:r>
          </a:p>
        </p:txBody>
      </p:sp>
      <p:sp>
        <p:nvSpPr>
          <p:cNvPr id="18" name="text-17">
            <a:extLst>
              <a:ext uri="{FF2B5EF4-FFF2-40B4-BE49-F238E27FC236}">
                <a16:creationId xmlns:a16="http://schemas.microsoft.com/office/drawing/2014/main" id="{8F1FCC91-922C-4AB5-A6BA-E414DFB6373A}"/>
              </a:ext>
            </a:extLst>
          </p:cNvPr>
          <p:cNvSpPr>
            <a:spLocks noGrp="1"/>
          </p:cNvSpPr>
          <p:nvPr/>
        </p:nvSpPr>
        <p:spPr>
          <a:xfrm>
            <a:off x="9429750" y="1666875"/>
            <a:ext cx="2247900" cy="2247900"/>
          </a:xfrm>
          <a:prstGeom prst="rect">
            <a:avLst/>
          </a:prstGeom>
          <a:noFill/>
          <a:ln w="0">
            <a:noFill/>
          </a:ln>
        </p:spPr>
        <p:txBody>
          <a:bodyPr>
            <a:noAutofit/>
          </a:bodyPr>
          <a:lstStyle/>
          <a:p>
            <a:pPr algn="l">
              <a:defRPr sz="2025" b="0">
                <a:solidFill>
                  <a:srgbClr val="526777"/>
                </a:solidFill>
                <a:latin typeface="Arial"/>
                <a:ea typeface="Arial"/>
                <a:cs typeface="Arial"/>
              </a:defRPr>
            </a:pPr>
            <a:r>
              <a:rPr sz="2025" b="0">
                <a:solidFill>
                  <a:srgbClr val="526777"/>
                </a:solidFill>
                <a:latin typeface="Arial"/>
                <a:ea typeface="Arial"/>
                <a:cs typeface="Arial"/>
              </a:rPr>
              <a:t>URL</a:t>
            </a:r>
          </a:p>
          <a:p>
            <a:pPr algn="l">
              <a:defRPr sz="2025" b="0">
                <a:solidFill>
                  <a:srgbClr val="526777"/>
                </a:solidFill>
                <a:latin typeface="Arial"/>
                <a:ea typeface="Arial"/>
                <a:cs typeface="Arial"/>
              </a:defRPr>
            </a:pPr>
            <a:r>
              <a:rPr sz="2025" b="0">
                <a:solidFill>
                  <a:srgbClr val="526777"/>
                </a:solidFill>
                <a:latin typeface="Arial"/>
                <a:ea typeface="Arial"/>
                <a:cs typeface="Arial"/>
              </a:rPr>
              <a:t>Domain</a:t>
            </a:r>
          </a:p>
          <a:p>
            <a:pPr algn="l">
              <a:defRPr sz="2025" b="0">
                <a:solidFill>
                  <a:srgbClr val="526777"/>
                </a:solidFill>
                <a:latin typeface="Arial"/>
                <a:ea typeface="Arial"/>
                <a:cs typeface="Arial"/>
              </a:defRPr>
            </a:pPr>
            <a:r>
              <a:rPr sz="2025" b="0">
                <a:solidFill>
                  <a:srgbClr val="526777"/>
                </a:solidFill>
                <a:latin typeface="Arial"/>
                <a:ea typeface="Arial"/>
                <a:cs typeface="Arial"/>
              </a:rPr>
              <a:t>TLS / SSL</a:t>
            </a:r>
          </a:p>
          <a:p>
            <a:pPr algn="l">
              <a:defRPr sz="2025" b="0">
                <a:solidFill>
                  <a:srgbClr val="526777"/>
                </a:solidFill>
                <a:latin typeface="Arial"/>
                <a:ea typeface="Arial"/>
                <a:cs typeface="Arial"/>
              </a:defRPr>
            </a:pPr>
            <a:r>
              <a:rPr sz="2025" b="0">
                <a:solidFill>
                  <a:srgbClr val="526777"/>
                </a:solidFill>
                <a:latin typeface="Arial"/>
                <a:ea typeface="Arial"/>
                <a:cs typeface="Arial"/>
              </a:rPr>
              <a:t>HTML</a:t>
            </a:r>
          </a:p>
          <a:p>
            <a:pPr algn="l">
              <a:defRPr sz="2025" b="0">
                <a:solidFill>
                  <a:srgbClr val="526777"/>
                </a:solidFill>
                <a:latin typeface="Arial"/>
                <a:ea typeface="Arial"/>
                <a:cs typeface="Arial"/>
              </a:defRPr>
            </a:pPr>
            <a:r>
              <a:rPr sz="2025" b="0">
                <a:solidFill>
                  <a:srgbClr val="526777"/>
                </a:solidFill>
                <a:latin typeface="Arial"/>
                <a:ea typeface="Arial"/>
                <a:cs typeface="Arial"/>
              </a:rPr>
              <a:t>Thương hiệu</a:t>
            </a:r>
          </a:p>
        </p:txBody>
      </p:sp>
      <p:sp>
        <p:nvSpPr>
          <p:cNvPr id="19" name="text-18">
            <a:extLst>
              <a:ext uri="{FF2B5EF4-FFF2-40B4-BE49-F238E27FC236}">
                <a16:creationId xmlns:a16="http://schemas.microsoft.com/office/drawing/2014/main" id="{287D1648-36AC-4401-8305-C54F39C1E1A9}"/>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Blacklist đi thẳng vào Risk Engine, không tham gia 30 thuộc tính đầu vào của ML.</a:t>
            </a:r>
          </a:p>
        </p:txBody>
      </p:sp>
    </p:spTree>
    <p:extLst>
      <p:ext uri="{BB962C8B-B14F-4D97-AF65-F5344CB8AC3E}">
        <p14:creationId xmlns:p14="http://schemas.microsoft.com/office/powerpoint/2010/main" val="1796878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339A0975-EFE6-4D48-9303-B3E3390B9E3D}"/>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Các bộ phân tích</a:t>
            </a:r>
          </a:p>
        </p:txBody>
      </p:sp>
      <p:sp>
        <p:nvSpPr>
          <p:cNvPr id="2" name="text-1">
            <a:extLst>
              <a:ext uri="{FF2B5EF4-FFF2-40B4-BE49-F238E27FC236}">
                <a16:creationId xmlns:a16="http://schemas.microsoft.com/office/drawing/2014/main" id="{C8DFBA9A-D90D-4E55-8631-91E544951D1B}"/>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05</a:t>
            </a:r>
          </a:p>
        </p:txBody>
      </p:sp>
      <p:graphicFrame>
        <p:nvGraphicFramePr>
          <p:cNvPr id="6" name="Table 5"/>
          <p:cNvGraphicFramePr/>
          <p:nvPr/>
        </p:nvGraphicFramePr>
        <p:xfrm>
          <a:off x="609600" y="1571625"/>
          <a:ext cx="10972800" cy="4171951"/>
        </p:xfrm>
        <a:graphic>
          <a:graphicData uri="http://schemas.openxmlformats.org/drawingml/2006/table">
            <a:tbl>
              <a:tblPr/>
              <a:tblGrid>
                <a:gridCol w="2333625">
                  <a:extLst>
                    <a:ext uri="{9D8B030D-6E8A-4147-A177-3AD203B41FA5}">
                      <a16:colId xmlns:a16="http://schemas.microsoft.com/office/drawing/2014/main" val="20000"/>
                    </a:ext>
                  </a:extLst>
                </a:gridCol>
                <a:gridCol w="8639175">
                  <a:extLst>
                    <a:ext uri="{9D8B030D-6E8A-4147-A177-3AD203B41FA5}">
                      <a16:colId xmlns:a16="http://schemas.microsoft.com/office/drawing/2014/main" val="20001"/>
                    </a:ext>
                  </a:extLst>
                </a:gridCol>
              </a:tblGrid>
              <a:tr h="595993">
                <a:tc>
                  <a:txBody>
                    <a:bodyPr/>
                    <a:lstStyle/>
                    <a:p>
                      <a:r>
                        <a:rPr sz="1950" b="1">
                          <a:solidFill>
                            <a:srgbClr val="FFFFFF"/>
                          </a:solidFill>
                          <a:latin typeface="Arial"/>
                          <a:ea typeface="Arial"/>
                          <a:cs typeface="Arial"/>
                        </a:rPr>
                        <a:t>Scanner</a:t>
                      </a:r>
                    </a:p>
                  </a:txBody>
                  <a:tcPr marL="152400" marR="133350" marT="95250" marB="95250">
                    <a:solidFill>
                      <a:srgbClr val="102A43"/>
                    </a:solidFill>
                  </a:tcPr>
                </a:tc>
                <a:tc>
                  <a:txBody>
                    <a:bodyPr/>
                    <a:lstStyle/>
                    <a:p>
                      <a:r>
                        <a:rPr sz="1950" b="1">
                          <a:solidFill>
                            <a:srgbClr val="FFFFFF"/>
                          </a:solidFill>
                          <a:latin typeface="Arial"/>
                          <a:ea typeface="Arial"/>
                          <a:cs typeface="Arial"/>
                        </a:rPr>
                        <a:t>Dấu hiệu thu thập</a:t>
                      </a:r>
                    </a:p>
                  </a:txBody>
                  <a:tcPr marL="152400" marR="133350" marT="95250" marB="95250">
                    <a:solidFill>
                      <a:srgbClr val="102A43"/>
                    </a:solidFill>
                  </a:tcPr>
                </a:tc>
                <a:extLst>
                  <a:ext uri="{0D108BD9-81ED-4DB2-BD59-A6C34878D82A}">
                    <a16:rowId xmlns:a16="http://schemas.microsoft.com/office/drawing/2014/main" val="10000"/>
                  </a:ext>
                </a:extLst>
              </a:tr>
              <a:tr h="595993">
                <a:tc>
                  <a:txBody>
                    <a:bodyPr/>
                    <a:lstStyle/>
                    <a:p>
                      <a:r>
                        <a:rPr sz="1950">
                          <a:solidFill>
                            <a:srgbClr val="102A43"/>
                          </a:solidFill>
                          <a:latin typeface="Arial"/>
                          <a:ea typeface="Arial"/>
                          <a:cs typeface="Arial"/>
                        </a:rPr>
                        <a:t>URL</a:t>
                      </a:r>
                    </a:p>
                  </a:txBody>
                  <a:tcPr marL="152400" marR="133350" marT="95250" marB="95250">
                    <a:solidFill>
                      <a:srgbClr val="FFFFFF"/>
                    </a:solidFill>
                  </a:tcPr>
                </a:tc>
                <a:tc>
                  <a:txBody>
                    <a:bodyPr/>
                    <a:lstStyle/>
                    <a:p>
                      <a:r>
                        <a:rPr sz="1950">
                          <a:solidFill>
                            <a:srgbClr val="102A43"/>
                          </a:solidFill>
                          <a:latin typeface="Arial"/>
                          <a:ea typeface="Arial"/>
                          <a:cs typeface="Arial"/>
                        </a:rPr>
                        <a:t>Độ dài, IP thô, ký tự @, subdomain, từ khóa, TLD</a:t>
                      </a:r>
                    </a:p>
                  </a:txBody>
                  <a:tcPr marL="152400" marR="133350" marT="95250" marB="95250">
                    <a:solidFill>
                      <a:srgbClr val="FFFFFF"/>
                    </a:solidFill>
                  </a:tcPr>
                </a:tc>
                <a:extLst>
                  <a:ext uri="{0D108BD9-81ED-4DB2-BD59-A6C34878D82A}">
                    <a16:rowId xmlns:a16="http://schemas.microsoft.com/office/drawing/2014/main" val="10001"/>
                  </a:ext>
                </a:extLst>
              </a:tr>
              <a:tr h="595993">
                <a:tc>
                  <a:txBody>
                    <a:bodyPr/>
                    <a:lstStyle/>
                    <a:p>
                      <a:r>
                        <a:rPr sz="1950">
                          <a:solidFill>
                            <a:srgbClr val="102A43"/>
                          </a:solidFill>
                          <a:latin typeface="Arial"/>
                          <a:ea typeface="Arial"/>
                          <a:cs typeface="Arial"/>
                        </a:rPr>
                        <a:t>Domain</a:t>
                      </a:r>
                    </a:p>
                  </a:txBody>
                  <a:tcPr marL="152400" marR="133350" marT="95250" marB="95250">
                    <a:solidFill>
                      <a:srgbClr val="FFFFFF"/>
                    </a:solidFill>
                  </a:tcPr>
                </a:tc>
                <a:tc>
                  <a:txBody>
                    <a:bodyPr/>
                    <a:lstStyle/>
                    <a:p>
                      <a:r>
                        <a:rPr sz="1950">
                          <a:solidFill>
                            <a:srgbClr val="102A43"/>
                          </a:solidFill>
                          <a:latin typeface="Arial"/>
                          <a:ea typeface="Arial"/>
                          <a:cs typeface="Arial"/>
                        </a:rPr>
                        <a:t>Tuổi tên miền qua RDAP, dự phòng WHOIS</a:t>
                      </a:r>
                    </a:p>
                  </a:txBody>
                  <a:tcPr marL="152400" marR="133350" marT="95250" marB="95250">
                    <a:solidFill>
                      <a:srgbClr val="FFFFFF"/>
                    </a:solidFill>
                  </a:tcPr>
                </a:tc>
                <a:extLst>
                  <a:ext uri="{0D108BD9-81ED-4DB2-BD59-A6C34878D82A}">
                    <a16:rowId xmlns:a16="http://schemas.microsoft.com/office/drawing/2014/main" val="10002"/>
                  </a:ext>
                </a:extLst>
              </a:tr>
              <a:tr h="595993">
                <a:tc>
                  <a:txBody>
                    <a:bodyPr/>
                    <a:lstStyle/>
                    <a:p>
                      <a:r>
                        <a:rPr sz="1950">
                          <a:solidFill>
                            <a:srgbClr val="102A43"/>
                          </a:solidFill>
                          <a:latin typeface="Arial"/>
                          <a:ea typeface="Arial"/>
                          <a:cs typeface="Arial"/>
                        </a:rPr>
                        <a:t>TLS / SSL</a:t>
                      </a:r>
                    </a:p>
                  </a:txBody>
                  <a:tcPr marL="152400" marR="133350" marT="95250" marB="95250">
                    <a:solidFill>
                      <a:srgbClr val="FFFFFF"/>
                    </a:solidFill>
                  </a:tcPr>
                </a:tc>
                <a:tc>
                  <a:txBody>
                    <a:bodyPr/>
                    <a:lstStyle/>
                    <a:p>
                      <a:r>
                        <a:rPr sz="1950">
                          <a:solidFill>
                            <a:srgbClr val="102A43"/>
                          </a:solidFill>
                          <a:latin typeface="Arial"/>
                          <a:ea typeface="Arial"/>
                          <a:cs typeface="Arial"/>
                        </a:rPr>
                        <a:t>Tính hợp lệ, hostname, thời hạn chứng chỉ</a:t>
                      </a:r>
                    </a:p>
                  </a:txBody>
                  <a:tcPr marL="152400" marR="133350" marT="95250" marB="95250">
                    <a:solidFill>
                      <a:srgbClr val="FFFFFF"/>
                    </a:solidFill>
                  </a:tcPr>
                </a:tc>
                <a:extLst>
                  <a:ext uri="{0D108BD9-81ED-4DB2-BD59-A6C34878D82A}">
                    <a16:rowId xmlns:a16="http://schemas.microsoft.com/office/drawing/2014/main" val="10003"/>
                  </a:ext>
                </a:extLst>
              </a:tr>
              <a:tr h="595993">
                <a:tc>
                  <a:txBody>
                    <a:bodyPr/>
                    <a:lstStyle/>
                    <a:p>
                      <a:r>
                        <a:rPr sz="1950">
                          <a:solidFill>
                            <a:srgbClr val="102A43"/>
                          </a:solidFill>
                          <a:latin typeface="Arial"/>
                          <a:ea typeface="Arial"/>
                          <a:cs typeface="Arial"/>
                        </a:rPr>
                        <a:t>HTML</a:t>
                      </a:r>
                    </a:p>
                  </a:txBody>
                  <a:tcPr marL="152400" marR="133350" marT="95250" marB="95250">
                    <a:solidFill>
                      <a:srgbClr val="FFFFFF"/>
                    </a:solidFill>
                  </a:tcPr>
                </a:tc>
                <a:tc>
                  <a:txBody>
                    <a:bodyPr/>
                    <a:lstStyle/>
                    <a:p>
                      <a:r>
                        <a:rPr sz="1950">
                          <a:solidFill>
                            <a:srgbClr val="102A43"/>
                          </a:solidFill>
                          <a:latin typeface="Arial"/>
                          <a:ea typeface="Arial"/>
                          <a:cs typeface="Arial"/>
                        </a:rPr>
                        <a:t>Form mật khẩu, thẻ, iframe, nội dung thúc ép</a:t>
                      </a:r>
                    </a:p>
                  </a:txBody>
                  <a:tcPr marL="152400" marR="133350" marT="95250" marB="95250">
                    <a:solidFill>
                      <a:srgbClr val="FFFFFF"/>
                    </a:solidFill>
                  </a:tcPr>
                </a:tc>
                <a:extLst>
                  <a:ext uri="{0D108BD9-81ED-4DB2-BD59-A6C34878D82A}">
                    <a16:rowId xmlns:a16="http://schemas.microsoft.com/office/drawing/2014/main" val="10004"/>
                  </a:ext>
                </a:extLst>
              </a:tr>
              <a:tr h="595993">
                <a:tc>
                  <a:txBody>
                    <a:bodyPr/>
                    <a:lstStyle/>
                    <a:p>
                      <a:r>
                        <a:rPr sz="1950">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950">
                          <a:solidFill>
                            <a:srgbClr val="102A43"/>
                          </a:solidFill>
                          <a:latin typeface="Arial"/>
                          <a:ea typeface="Arial"/>
                          <a:cs typeface="Arial"/>
                        </a:rPr>
                        <a:t>Tên gần giống và form đăng nhập đáng ngờ</a:t>
                      </a:r>
                    </a:p>
                  </a:txBody>
                  <a:tcPr marL="152400" marR="133350" marT="95250" marB="95250">
                    <a:solidFill>
                      <a:srgbClr val="FFFFFF"/>
                    </a:solidFill>
                  </a:tcPr>
                </a:tc>
                <a:extLst>
                  <a:ext uri="{0D108BD9-81ED-4DB2-BD59-A6C34878D82A}">
                    <a16:rowId xmlns:a16="http://schemas.microsoft.com/office/drawing/2014/main" val="10005"/>
                  </a:ext>
                </a:extLst>
              </a:tr>
              <a:tr h="595993">
                <a:tc>
                  <a:txBody>
                    <a:bodyPr/>
                    <a:lstStyle/>
                    <a:p>
                      <a:r>
                        <a:rPr sz="1950">
                          <a:solidFill>
                            <a:srgbClr val="102A43"/>
                          </a:solidFill>
                          <a:latin typeface="Arial"/>
                          <a:ea typeface="Arial"/>
                          <a:cs typeface="Arial"/>
                        </a:rPr>
                        <a:t>Blacklist</a:t>
                      </a:r>
                    </a:p>
                  </a:txBody>
                  <a:tcPr marL="152400" marR="133350" marT="95250" marB="95250">
                    <a:solidFill>
                      <a:srgbClr val="FFFFFF"/>
                    </a:solidFill>
                  </a:tcPr>
                </a:tc>
                <a:tc>
                  <a:txBody>
                    <a:bodyPr/>
                    <a:lstStyle/>
                    <a:p>
                      <a:r>
                        <a:rPr sz="1950">
                          <a:solidFill>
                            <a:srgbClr val="102A43"/>
                          </a:solidFill>
                          <a:latin typeface="Arial"/>
                          <a:ea typeface="Arial"/>
                          <a:cs typeface="Arial"/>
                        </a:rPr>
                        <a:t>Khớp URL, tên miền hoặc subdomain</a:t>
                      </a:r>
                    </a:p>
                  </a:txBody>
                  <a:tcPr marL="152400" marR="133350" marT="95250" marB="95250">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6657678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546C44D3-0E88-4597-B9B2-EED829E88082}"/>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Luật heuristic tạo điểm và lời giải thích</a:t>
            </a:r>
          </a:p>
        </p:txBody>
      </p:sp>
      <p:sp>
        <p:nvSpPr>
          <p:cNvPr id="2" name="text-1">
            <a:extLst>
              <a:ext uri="{FF2B5EF4-FFF2-40B4-BE49-F238E27FC236}">
                <a16:creationId xmlns:a16="http://schemas.microsoft.com/office/drawing/2014/main" id="{17891E01-41A6-4F85-A59E-276263D7E6F0}"/>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06</a:t>
            </a:r>
          </a:p>
        </p:txBody>
      </p:sp>
      <p:graphicFrame>
        <p:nvGraphicFramePr>
          <p:cNvPr id="9" name="Table 8"/>
          <p:cNvGraphicFramePr/>
          <p:nvPr/>
        </p:nvGraphicFramePr>
        <p:xfrm>
          <a:off x="609600" y="1571625"/>
          <a:ext cx="8001000" cy="4095749"/>
        </p:xfrm>
        <a:graphic>
          <a:graphicData uri="http://schemas.openxmlformats.org/drawingml/2006/table">
            <a:tbl>
              <a:tblPr/>
              <a:tblGrid>
                <a:gridCol w="6191250">
                  <a:extLst>
                    <a:ext uri="{9D8B030D-6E8A-4147-A177-3AD203B41FA5}">
                      <a16:colId xmlns:a16="http://schemas.microsoft.com/office/drawing/2014/main" val="20000"/>
                    </a:ext>
                  </a:extLst>
                </a:gridCol>
                <a:gridCol w="1809750">
                  <a:extLst>
                    <a:ext uri="{9D8B030D-6E8A-4147-A177-3AD203B41FA5}">
                      <a16:colId xmlns:a16="http://schemas.microsoft.com/office/drawing/2014/main" val="20001"/>
                    </a:ext>
                  </a:extLst>
                </a:gridCol>
              </a:tblGrid>
              <a:tr h="585107">
                <a:tc>
                  <a:txBody>
                    <a:bodyPr/>
                    <a:lstStyle/>
                    <a:p>
                      <a:r>
                        <a:rPr sz="1875" b="1">
                          <a:solidFill>
                            <a:srgbClr val="FFFFFF"/>
                          </a:solidFill>
                          <a:latin typeface="Arial"/>
                          <a:ea typeface="Arial"/>
                          <a:cs typeface="Arial"/>
                        </a:rPr>
                        <a:t>Dấu hiệu tiêu biểu</a:t>
                      </a:r>
                    </a:p>
                  </a:txBody>
                  <a:tcPr marL="152400" marR="133350" marT="95250" marB="95250">
                    <a:solidFill>
                      <a:srgbClr val="102A43"/>
                    </a:solidFill>
                  </a:tcPr>
                </a:tc>
                <a:tc>
                  <a:txBody>
                    <a:bodyPr/>
                    <a:lstStyle/>
                    <a:p>
                      <a:r>
                        <a:rPr sz="1875" b="1">
                          <a:solidFill>
                            <a:srgbClr val="FFFFFF"/>
                          </a:solidFill>
                          <a:latin typeface="Arial"/>
                          <a:ea typeface="Arial"/>
                          <a:cs typeface="Arial"/>
                        </a:rPr>
                        <a:t>Điểm</a:t>
                      </a:r>
                    </a:p>
                  </a:txBody>
                  <a:tcPr marL="152400" marR="133350" marT="95250" marB="95250">
                    <a:solidFill>
                      <a:srgbClr val="102A43"/>
                    </a:solidFill>
                  </a:tcPr>
                </a:tc>
                <a:extLst>
                  <a:ext uri="{0D108BD9-81ED-4DB2-BD59-A6C34878D82A}">
                    <a16:rowId xmlns:a16="http://schemas.microsoft.com/office/drawing/2014/main" val="10000"/>
                  </a:ext>
                </a:extLst>
              </a:tr>
              <a:tr h="585107">
                <a:tc>
                  <a:txBody>
                    <a:bodyPr/>
                    <a:lstStyle/>
                    <a:p>
                      <a:r>
                        <a:rPr sz="1875">
                          <a:solidFill>
                            <a:srgbClr val="102A43"/>
                          </a:solidFill>
                          <a:latin typeface="Arial"/>
                          <a:ea typeface="Arial"/>
                          <a:cs typeface="Arial"/>
                        </a:rPr>
                        <a:t>Tên miền dưới 7 ngày tuổi</a:t>
                      </a:r>
                    </a:p>
                  </a:txBody>
                  <a:tcPr marL="152400" marR="133350" marT="95250" marB="95250">
                    <a:solidFill>
                      <a:srgbClr val="FFFFFF"/>
                    </a:solidFill>
                  </a:tcPr>
                </a:tc>
                <a:tc>
                  <a:txBody>
                    <a:bodyPr/>
                    <a:lstStyle/>
                    <a:p>
                      <a:r>
                        <a:rPr sz="1875">
                          <a:solidFill>
                            <a:srgbClr val="102A43"/>
                          </a:solidFill>
                          <a:latin typeface="Arial"/>
                          <a:ea typeface="Arial"/>
                          <a:cs typeface="Arial"/>
                        </a:rPr>
                        <a:t>+30</a:t>
                      </a:r>
                    </a:p>
                  </a:txBody>
                  <a:tcPr marL="152400" marR="133350" marT="95250" marB="95250">
                    <a:solidFill>
                      <a:srgbClr val="FFFFFF"/>
                    </a:solidFill>
                  </a:tcPr>
                </a:tc>
                <a:extLst>
                  <a:ext uri="{0D108BD9-81ED-4DB2-BD59-A6C34878D82A}">
                    <a16:rowId xmlns:a16="http://schemas.microsoft.com/office/drawing/2014/main" val="10001"/>
                  </a:ext>
                </a:extLst>
              </a:tr>
              <a:tr h="585107">
                <a:tc>
                  <a:txBody>
                    <a:bodyPr/>
                    <a:lstStyle/>
                    <a:p>
                      <a:r>
                        <a:rPr sz="1875">
                          <a:solidFill>
                            <a:srgbClr val="102A43"/>
                          </a:solidFill>
                          <a:latin typeface="Arial"/>
                          <a:ea typeface="Arial"/>
                          <a:cs typeface="Arial"/>
                        </a:rPr>
                        <a:t>URL dùng địa chỉ IP</a:t>
                      </a:r>
                    </a:p>
                  </a:txBody>
                  <a:tcPr marL="152400" marR="133350" marT="95250" marB="95250">
                    <a:solidFill>
                      <a:srgbClr val="FFFFFF"/>
                    </a:solidFill>
                  </a:tcPr>
                </a:tc>
                <a:tc>
                  <a:txBody>
                    <a:bodyPr/>
                    <a:lstStyle/>
                    <a:p>
                      <a:r>
                        <a:rPr sz="1875">
                          <a:solidFill>
                            <a:srgbClr val="102A43"/>
                          </a:solidFill>
                          <a:latin typeface="Arial"/>
                          <a:ea typeface="Arial"/>
                          <a:cs typeface="Arial"/>
                        </a:rPr>
                        <a:t>+25</a:t>
                      </a:r>
                    </a:p>
                  </a:txBody>
                  <a:tcPr marL="152400" marR="133350" marT="95250" marB="95250">
                    <a:solidFill>
                      <a:srgbClr val="FFFFFF"/>
                    </a:solidFill>
                  </a:tcPr>
                </a:tc>
                <a:extLst>
                  <a:ext uri="{0D108BD9-81ED-4DB2-BD59-A6C34878D82A}">
                    <a16:rowId xmlns:a16="http://schemas.microsoft.com/office/drawing/2014/main" val="10002"/>
                  </a:ext>
                </a:extLst>
              </a:tr>
              <a:tr h="585107">
                <a:tc>
                  <a:txBody>
                    <a:bodyPr/>
                    <a:lstStyle/>
                    <a:p>
                      <a:r>
                        <a:rPr sz="1875">
                          <a:solidFill>
                            <a:srgbClr val="102A43"/>
                          </a:solidFill>
                          <a:latin typeface="Arial"/>
                          <a:ea typeface="Arial"/>
                          <a:cs typeface="Arial"/>
                        </a:rPr>
                        <a:t>Giả mạo thương hiệu / sai hostname chứng chỉ</a:t>
                      </a:r>
                    </a:p>
                  </a:txBody>
                  <a:tcPr marL="152400" marR="133350" marT="95250" marB="95250">
                    <a:solidFill>
                      <a:srgbClr val="FFFFFF"/>
                    </a:solidFill>
                  </a:tcPr>
                </a:tc>
                <a:tc>
                  <a:txBody>
                    <a:bodyPr/>
                    <a:lstStyle/>
                    <a:p>
                      <a:r>
                        <a:rPr sz="1875">
                          <a:solidFill>
                            <a:srgbClr val="102A43"/>
                          </a:solidFill>
                          <a:latin typeface="Arial"/>
                          <a:ea typeface="Arial"/>
                          <a:cs typeface="Arial"/>
                        </a:rPr>
                        <a:t>+20 mỗi luật</a:t>
                      </a:r>
                    </a:p>
                  </a:txBody>
                  <a:tcPr marL="152400" marR="133350" marT="95250" marB="95250">
                    <a:solidFill>
                      <a:srgbClr val="FFFFFF"/>
                    </a:solidFill>
                  </a:tcPr>
                </a:tc>
                <a:extLst>
                  <a:ext uri="{0D108BD9-81ED-4DB2-BD59-A6C34878D82A}">
                    <a16:rowId xmlns:a16="http://schemas.microsoft.com/office/drawing/2014/main" val="10003"/>
                  </a:ext>
                </a:extLst>
              </a:tr>
              <a:tr h="585107">
                <a:tc>
                  <a:txBody>
                    <a:bodyPr/>
                    <a:lstStyle/>
                    <a:p>
                      <a:r>
                        <a:rPr sz="1875">
                          <a:solidFill>
                            <a:srgbClr val="102A43"/>
                          </a:solidFill>
                          <a:latin typeface="Arial"/>
                          <a:ea typeface="Arial"/>
                          <a:cs typeface="Arial"/>
                        </a:rPr>
                        <a:t>Thu thập thẻ / form mật khẩu trên domain mới</a:t>
                      </a:r>
                    </a:p>
                  </a:txBody>
                  <a:tcPr marL="152400" marR="133350" marT="95250" marB="95250">
                    <a:solidFill>
                      <a:srgbClr val="FFFFFF"/>
                    </a:solidFill>
                  </a:tcPr>
                </a:tc>
                <a:tc>
                  <a:txBody>
                    <a:bodyPr/>
                    <a:lstStyle/>
                    <a:p>
                      <a:r>
                        <a:rPr sz="1875">
                          <a:solidFill>
                            <a:srgbClr val="102A43"/>
                          </a:solidFill>
                          <a:latin typeface="Arial"/>
                          <a:ea typeface="Arial"/>
                          <a:cs typeface="Arial"/>
                        </a:rPr>
                        <a:t>+15 mỗi luật</a:t>
                      </a:r>
                    </a:p>
                  </a:txBody>
                  <a:tcPr marL="152400" marR="133350" marT="95250" marB="95250">
                    <a:solidFill>
                      <a:srgbClr val="FFFFFF"/>
                    </a:solidFill>
                  </a:tcPr>
                </a:tc>
                <a:extLst>
                  <a:ext uri="{0D108BD9-81ED-4DB2-BD59-A6C34878D82A}">
                    <a16:rowId xmlns:a16="http://schemas.microsoft.com/office/drawing/2014/main" val="10004"/>
                  </a:ext>
                </a:extLst>
              </a:tr>
              <a:tr h="585107">
                <a:tc>
                  <a:txBody>
                    <a:bodyPr/>
                    <a:lstStyle/>
                    <a:p>
                      <a:r>
                        <a:rPr sz="1875">
                          <a:solidFill>
                            <a:srgbClr val="102A43"/>
                          </a:solidFill>
                          <a:latin typeface="Arial"/>
                          <a:ea typeface="Arial"/>
                          <a:cs typeface="Arial"/>
                        </a:rPr>
                        <a:t>Form gửi dữ liệu sang domain khác</a:t>
                      </a:r>
                    </a:p>
                  </a:txBody>
                  <a:tcPr marL="152400" marR="133350" marT="95250" marB="95250">
                    <a:solidFill>
                      <a:srgbClr val="FFFFFF"/>
                    </a:solidFill>
                  </a:tcPr>
                </a:tc>
                <a:tc>
                  <a:txBody>
                    <a:bodyPr/>
                    <a:lstStyle/>
                    <a:p>
                      <a:r>
                        <a:rPr sz="1875">
                          <a:solidFill>
                            <a:srgbClr val="102A43"/>
                          </a:solidFill>
                          <a:latin typeface="Arial"/>
                          <a:ea typeface="Arial"/>
                          <a:cs typeface="Arial"/>
                        </a:rPr>
                        <a:t>+12</a:t>
                      </a:r>
                    </a:p>
                  </a:txBody>
                  <a:tcPr marL="152400" marR="133350" marT="95250" marB="95250">
                    <a:solidFill>
                      <a:srgbClr val="FFFFFF"/>
                    </a:solidFill>
                  </a:tcPr>
                </a:tc>
                <a:extLst>
                  <a:ext uri="{0D108BD9-81ED-4DB2-BD59-A6C34878D82A}">
                    <a16:rowId xmlns:a16="http://schemas.microsoft.com/office/drawing/2014/main" val="10005"/>
                  </a:ext>
                </a:extLst>
              </a:tr>
              <a:tr h="585107">
                <a:tc>
                  <a:txBody>
                    <a:bodyPr/>
                    <a:lstStyle/>
                    <a:p>
                      <a:r>
                        <a:rPr sz="1875">
                          <a:solidFill>
                            <a:srgbClr val="102A43"/>
                          </a:solidFill>
                          <a:latin typeface="Arial"/>
                          <a:ea typeface="Arial"/>
                          <a:cs typeface="Arial"/>
                        </a:rPr>
                        <a:t>Không dùng HTTPS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extLst>
                  <a:ext uri="{0D108BD9-81ED-4DB2-BD59-A6C34878D82A}">
                    <a16:rowId xmlns:a16="http://schemas.microsoft.com/office/drawing/2014/main" val="10006"/>
                  </a:ext>
                </a:extLst>
              </a:tr>
            </a:tbl>
          </a:graphicData>
        </a:graphic>
      </p:graphicFrame>
      <p:sp>
        <p:nvSpPr>
          <p:cNvPr id="4" name="text-2">
            <a:extLst>
              <a:ext uri="{FF2B5EF4-FFF2-40B4-BE49-F238E27FC236}">
                <a16:creationId xmlns:a16="http://schemas.microsoft.com/office/drawing/2014/main" id="{90BC1DA1-5DC2-4AFA-8529-53718FF4102C}"/>
              </a:ext>
            </a:extLst>
          </p:cNvPr>
          <p:cNvSpPr>
            <a:spLocks noGrp="1"/>
          </p:cNvSpPr>
          <p:nvPr/>
        </p:nvSpPr>
        <p:spPr>
          <a:xfrm>
            <a:off x="9067800" y="1943100"/>
            <a:ext cx="2514600" cy="876300"/>
          </a:xfrm>
          <a:prstGeom prst="rect">
            <a:avLst/>
          </a:prstGeom>
          <a:noFill/>
          <a:ln w="0">
            <a:noFill/>
          </a:ln>
        </p:spPr>
        <p:txBody>
          <a:bodyPr>
            <a:noAutofit/>
          </a:bodyPr>
          <a:lstStyle/>
          <a:p>
            <a:pPr algn="l">
              <a:defRPr sz="4350" b="1">
                <a:solidFill>
                  <a:srgbClr val="007F86"/>
                </a:solidFill>
                <a:latin typeface="Arial"/>
                <a:ea typeface="Arial"/>
                <a:cs typeface="Arial"/>
              </a:defRPr>
            </a:pPr>
            <a:r>
              <a:rPr sz="4350" b="1">
                <a:solidFill>
                  <a:srgbClr val="007F86"/>
                </a:solidFill>
                <a:latin typeface="Arial"/>
                <a:ea typeface="Arial"/>
                <a:cs typeface="Arial"/>
              </a:rPr>
              <a:t>0–100</a:t>
            </a:r>
          </a:p>
        </p:txBody>
      </p:sp>
      <p:sp>
        <p:nvSpPr>
          <p:cNvPr id="5" name="text-3">
            <a:extLst>
              <a:ext uri="{FF2B5EF4-FFF2-40B4-BE49-F238E27FC236}">
                <a16:creationId xmlns:a16="http://schemas.microsoft.com/office/drawing/2014/main" id="{E75F081B-17EA-4DBF-8B13-722556BA1528}"/>
              </a:ext>
            </a:extLst>
          </p:cNvPr>
          <p:cNvSpPr>
            <a:spLocks noGrp="1"/>
          </p:cNvSpPr>
          <p:nvPr/>
        </p:nvSpPr>
        <p:spPr>
          <a:xfrm>
            <a:off x="9067800" y="2990850"/>
            <a:ext cx="2381250" cy="1047750"/>
          </a:xfrm>
          <a:prstGeom prst="rect">
            <a:avLst/>
          </a:prstGeom>
          <a:noFill/>
          <a:ln w="0">
            <a:noFill/>
          </a:ln>
        </p:spPr>
        <p:txBody>
          <a:bodyPr>
            <a:noAutofit/>
          </a:bodyPr>
          <a:lstStyle/>
          <a:p>
            <a:pPr algn="l">
              <a:defRPr sz="2175" b="0">
                <a:solidFill>
                  <a:srgbClr val="102A43"/>
                </a:solidFill>
                <a:latin typeface="Arial"/>
                <a:ea typeface="Arial"/>
                <a:cs typeface="Arial"/>
              </a:defRPr>
            </a:pPr>
            <a:r>
              <a:rPr sz="2175" b="0">
                <a:solidFill>
                  <a:srgbClr val="102A43"/>
                </a:solidFill>
                <a:latin typeface="Arial"/>
                <a:ea typeface="Arial"/>
                <a:cs typeface="Arial"/>
              </a:rPr>
              <a:t>Giới hạn tổng</a:t>
            </a:r>
          </a:p>
          <a:p>
            <a:pPr algn="l">
              <a:defRPr sz="2175" b="0">
                <a:solidFill>
                  <a:srgbClr val="102A43"/>
                </a:solidFill>
                <a:latin typeface="Arial"/>
                <a:ea typeface="Arial"/>
                <a:cs typeface="Arial"/>
              </a:defRPr>
            </a:pPr>
            <a:r>
              <a:rPr sz="2175" b="0">
                <a:solidFill>
                  <a:srgbClr val="102A43"/>
                </a:solidFill>
                <a:latin typeface="Arial"/>
                <a:ea typeface="Arial"/>
                <a:cs typeface="Arial"/>
              </a:rPr>
              <a:t>điểm luật</a:t>
            </a:r>
          </a:p>
        </p:txBody>
      </p:sp>
      <p:sp>
        <p:nvSpPr>
          <p:cNvPr id="6" name="text-4">
            <a:extLst>
              <a:ext uri="{FF2B5EF4-FFF2-40B4-BE49-F238E27FC236}">
                <a16:creationId xmlns:a16="http://schemas.microsoft.com/office/drawing/2014/main" id="{3F6A341D-48DE-48F9-8548-BD9DFD1B8D13}"/>
              </a:ext>
            </a:extLst>
          </p:cNvPr>
          <p:cNvSpPr>
            <a:spLocks noGrp="1"/>
          </p:cNvSpPr>
          <p:nvPr/>
        </p:nvSpPr>
        <p:spPr>
          <a:xfrm>
            <a:off x="9067800" y="4505325"/>
            <a:ext cx="2381250" cy="952500"/>
          </a:xfrm>
          <a:prstGeom prst="rect">
            <a:avLst/>
          </a:prstGeom>
          <a:noFill/>
          <a:ln w="0">
            <a:noFill/>
          </a:ln>
        </p:spPr>
        <p:txBody>
          <a:bodyPr>
            <a:noAutofit/>
          </a:bodyPr>
          <a:lstStyle/>
          <a:p>
            <a:pPr algn="l">
              <a:defRPr sz="2175" b="1">
                <a:solidFill>
                  <a:srgbClr val="007F86"/>
                </a:solidFill>
                <a:latin typeface="Arial"/>
                <a:ea typeface="Arial"/>
                <a:cs typeface="Arial"/>
              </a:defRPr>
            </a:pPr>
            <a:r>
              <a:rPr sz="2175" b="1">
                <a:solidFill>
                  <a:srgbClr val="007F86"/>
                </a:solidFill>
                <a:latin typeface="Arial"/>
                <a:ea typeface="Arial"/>
                <a:cs typeface="Arial"/>
              </a:rPr>
              <a:t>Mỗi dấu hiệu</a:t>
            </a:r>
          </a:p>
          <a:p>
            <a:pPr algn="l">
              <a:defRPr sz="2175" b="1">
                <a:solidFill>
                  <a:srgbClr val="007F86"/>
                </a:solidFill>
                <a:latin typeface="Arial"/>
                <a:ea typeface="Arial"/>
                <a:cs typeface="Arial"/>
              </a:defRPr>
            </a:pPr>
            <a:r>
              <a:rPr sz="2175" b="1">
                <a:solidFill>
                  <a:srgbClr val="007F86"/>
                </a:solidFill>
                <a:latin typeface="Arial"/>
                <a:ea typeface="Arial"/>
                <a:cs typeface="Arial"/>
              </a:rPr>
              <a:t>có giải thích</a:t>
            </a:r>
          </a:p>
        </p:txBody>
      </p:sp>
    </p:spTree>
    <p:extLst>
      <p:ext uri="{BB962C8B-B14F-4D97-AF65-F5344CB8AC3E}">
        <p14:creationId xmlns:p14="http://schemas.microsoft.com/office/powerpoint/2010/main" val="789781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6B6B895D-B6C4-4035-A517-2E43FB9AF6E4}"/>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PhiUSIIL: dữ liệu và cách chia tập</a:t>
            </a:r>
          </a:p>
        </p:txBody>
      </p:sp>
      <p:sp>
        <p:nvSpPr>
          <p:cNvPr id="2" name="text-1">
            <a:extLst>
              <a:ext uri="{FF2B5EF4-FFF2-40B4-BE49-F238E27FC236}">
                <a16:creationId xmlns:a16="http://schemas.microsoft.com/office/drawing/2014/main" id="{0E3BC392-E29C-48F3-B2AF-4D36FDC6663A}"/>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07</a:t>
            </a:r>
          </a:p>
        </p:txBody>
      </p:sp>
      <p:sp>
        <p:nvSpPr>
          <p:cNvPr id="3" name="text-2">
            <a:extLst>
              <a:ext uri="{FF2B5EF4-FFF2-40B4-BE49-F238E27FC236}">
                <a16:creationId xmlns:a16="http://schemas.microsoft.com/office/drawing/2014/main" id="{F5DD4481-60E2-4EB3-BD56-136682585573}"/>
              </a:ext>
            </a:extLst>
          </p:cNvPr>
          <p:cNvSpPr>
            <a:spLocks noGrp="1"/>
          </p:cNvSpPr>
          <p:nvPr/>
        </p:nvSpPr>
        <p:spPr>
          <a:xfrm>
            <a:off x="609600" y="1571625"/>
            <a:ext cx="40005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235.370</a:t>
            </a:r>
          </a:p>
        </p:txBody>
      </p:sp>
      <p:sp>
        <p:nvSpPr>
          <p:cNvPr id="4" name="text-3">
            <a:extLst>
              <a:ext uri="{FF2B5EF4-FFF2-40B4-BE49-F238E27FC236}">
                <a16:creationId xmlns:a16="http://schemas.microsoft.com/office/drawing/2014/main" id="{389DE1BD-AFBE-4A51-8EDE-EB07CCACAC01}"/>
              </a:ext>
            </a:extLst>
          </p:cNvPr>
          <p:cNvSpPr>
            <a:spLocks noGrp="1"/>
          </p:cNvSpPr>
          <p:nvPr/>
        </p:nvSpPr>
        <p:spPr>
          <a:xfrm>
            <a:off x="609600" y="2543175"/>
            <a:ext cx="40005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URL sau loại trùng</a:t>
            </a:r>
          </a:p>
        </p:txBody>
      </p:sp>
      <p:sp>
        <p:nvSpPr>
          <p:cNvPr id="5" name="text-4">
            <a:extLst>
              <a:ext uri="{FF2B5EF4-FFF2-40B4-BE49-F238E27FC236}">
                <a16:creationId xmlns:a16="http://schemas.microsoft.com/office/drawing/2014/main" id="{DE44DD36-3B63-4D78-8BD5-A3085C807FF9}"/>
              </a:ext>
            </a:extLst>
          </p:cNvPr>
          <p:cNvSpPr>
            <a:spLocks noGrp="1"/>
          </p:cNvSpPr>
          <p:nvPr/>
        </p:nvSpPr>
        <p:spPr>
          <a:xfrm>
            <a:off x="4857750" y="1571625"/>
            <a:ext cx="34290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185.954</a:t>
            </a:r>
          </a:p>
        </p:txBody>
      </p:sp>
      <p:sp>
        <p:nvSpPr>
          <p:cNvPr id="6" name="text-5">
            <a:extLst>
              <a:ext uri="{FF2B5EF4-FFF2-40B4-BE49-F238E27FC236}">
                <a16:creationId xmlns:a16="http://schemas.microsoft.com/office/drawing/2014/main" id="{8600F9D1-8C5E-4374-8556-CA2C465E7A56}"/>
              </a:ext>
            </a:extLst>
          </p:cNvPr>
          <p:cNvSpPr>
            <a:spLocks noGrp="1"/>
          </p:cNvSpPr>
          <p:nvPr/>
        </p:nvSpPr>
        <p:spPr>
          <a:xfrm>
            <a:off x="4857750" y="2543175"/>
            <a:ext cx="34290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URL huấn luyện</a:t>
            </a:r>
          </a:p>
        </p:txBody>
      </p:sp>
      <p:sp>
        <p:nvSpPr>
          <p:cNvPr id="7" name="text-6">
            <a:extLst>
              <a:ext uri="{FF2B5EF4-FFF2-40B4-BE49-F238E27FC236}">
                <a16:creationId xmlns:a16="http://schemas.microsoft.com/office/drawing/2014/main" id="{84D211E8-0175-41FD-91E7-741C7E4E56B7}"/>
              </a:ext>
            </a:extLst>
          </p:cNvPr>
          <p:cNvSpPr>
            <a:spLocks noGrp="1"/>
          </p:cNvSpPr>
          <p:nvPr/>
        </p:nvSpPr>
        <p:spPr>
          <a:xfrm>
            <a:off x="8686800" y="1571625"/>
            <a:ext cx="30480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49.416</a:t>
            </a:r>
          </a:p>
        </p:txBody>
      </p:sp>
      <p:sp>
        <p:nvSpPr>
          <p:cNvPr id="8" name="text-7">
            <a:extLst>
              <a:ext uri="{FF2B5EF4-FFF2-40B4-BE49-F238E27FC236}">
                <a16:creationId xmlns:a16="http://schemas.microsoft.com/office/drawing/2014/main" id="{0C230C4C-23B5-4EAE-ABD1-826723825FA0}"/>
              </a:ext>
            </a:extLst>
          </p:cNvPr>
          <p:cNvSpPr>
            <a:spLocks noGrp="1"/>
          </p:cNvSpPr>
          <p:nvPr/>
        </p:nvSpPr>
        <p:spPr>
          <a:xfrm>
            <a:off x="8686800" y="2543175"/>
            <a:ext cx="30480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URL đánh giá</a:t>
            </a:r>
          </a:p>
        </p:txBody>
      </p:sp>
      <p:graphicFrame>
        <p:nvGraphicFramePr>
          <p:cNvPr id="19" name="Table 18"/>
          <p:cNvGraphicFramePr/>
          <p:nvPr/>
        </p:nvGraphicFramePr>
        <p:xfrm>
          <a:off x="609600" y="3810000"/>
          <a:ext cx="10972800" cy="1657350"/>
        </p:xfrm>
        <a:graphic>
          <a:graphicData uri="http://schemas.openxmlformats.org/drawingml/2006/table">
            <a:tbl>
              <a:tblPr/>
              <a:tblGrid>
                <a:gridCol w="4286250">
                  <a:extLst>
                    <a:ext uri="{9D8B030D-6E8A-4147-A177-3AD203B41FA5}">
                      <a16:colId xmlns:a16="http://schemas.microsoft.com/office/drawing/2014/main" val="20000"/>
                    </a:ext>
                  </a:extLst>
                </a:gridCol>
                <a:gridCol w="3343275">
                  <a:extLst>
                    <a:ext uri="{9D8B030D-6E8A-4147-A177-3AD203B41FA5}">
                      <a16:colId xmlns:a16="http://schemas.microsoft.com/office/drawing/2014/main" val="20001"/>
                    </a:ext>
                  </a:extLst>
                </a:gridCol>
                <a:gridCol w="3343275">
                  <a:extLst>
                    <a:ext uri="{9D8B030D-6E8A-4147-A177-3AD203B41FA5}">
                      <a16:colId xmlns:a16="http://schemas.microsoft.com/office/drawing/2014/main" val="20002"/>
                    </a:ext>
                  </a:extLst>
                </a:gridCol>
              </a:tblGrid>
              <a:tr h="552450">
                <a:tc>
                  <a:txBody>
                    <a:bodyPr/>
                    <a:lstStyle/>
                    <a:p>
                      <a:r>
                        <a:rPr sz="1950" b="1">
                          <a:solidFill>
                            <a:srgbClr val="FFFFFF"/>
                          </a:solidFill>
                          <a:latin typeface="Arial"/>
                          <a:ea typeface="Arial"/>
                          <a:cs typeface="Arial"/>
                        </a:rPr>
                        <a:t>Sau làm sạch</a:t>
                      </a:r>
                    </a:p>
                  </a:txBody>
                  <a:tcPr marL="152400" marR="133350" marT="95250" marB="95250">
                    <a:solidFill>
                      <a:srgbClr val="102A43"/>
                    </a:solidFill>
                  </a:tcPr>
                </a:tc>
                <a:tc>
                  <a:txBody>
                    <a:bodyPr/>
                    <a:lstStyle/>
                    <a:p>
                      <a:r>
                        <a:rPr sz="1950" b="1">
                          <a:solidFill>
                            <a:srgbClr val="FFFFFF"/>
                          </a:solidFill>
                          <a:latin typeface="Arial"/>
                          <a:ea typeface="Arial"/>
                          <a:cs typeface="Arial"/>
                        </a:rPr>
                        <a:t>Hợp lệ</a:t>
                      </a:r>
                    </a:p>
                  </a:txBody>
                  <a:tcPr marL="152400" marR="133350" marT="95250" marB="95250">
                    <a:solidFill>
                      <a:srgbClr val="102A43"/>
                    </a:solidFill>
                  </a:tcPr>
                </a:tc>
                <a:tc>
                  <a:txBody>
                    <a:bodyPr/>
                    <a:lstStyle/>
                    <a:p>
                      <a:r>
                        <a:rPr sz="1950" b="1">
                          <a:solidFill>
                            <a:srgbClr val="FFFFFF"/>
                          </a:solidFill>
                          <a:latin typeface="Arial"/>
                          <a:ea typeface="Arial"/>
                          <a:cs typeface="Arial"/>
                        </a:rPr>
                        <a:t>Phishing</a:t>
                      </a:r>
                    </a:p>
                  </a:txBody>
                  <a:tcPr marL="152400" marR="133350" marT="95250" marB="95250">
                    <a:solidFill>
                      <a:srgbClr val="102A43"/>
                    </a:solidFill>
                  </a:tcPr>
                </a:tc>
                <a:extLst>
                  <a:ext uri="{0D108BD9-81ED-4DB2-BD59-A6C34878D82A}">
                    <a16:rowId xmlns:a16="http://schemas.microsoft.com/office/drawing/2014/main" val="10000"/>
                  </a:ext>
                </a:extLst>
              </a:tr>
              <a:tr h="552450">
                <a:tc>
                  <a:txBody>
                    <a:bodyPr/>
                    <a:lstStyle/>
                    <a:p>
                      <a:r>
                        <a:rPr sz="1950">
                          <a:solidFill>
                            <a:srgbClr val="102A43"/>
                          </a:solidFill>
                          <a:latin typeface="Arial"/>
                          <a:ea typeface="Arial"/>
                          <a:cs typeface="Arial"/>
                        </a:rPr>
                        <a:t>Số URL</a:t>
                      </a:r>
                    </a:p>
                  </a:txBody>
                  <a:tcPr marL="152400" marR="133350" marT="95250" marB="95250">
                    <a:solidFill>
                      <a:srgbClr val="FFFFFF"/>
                    </a:solidFill>
                  </a:tcPr>
                </a:tc>
                <a:tc>
                  <a:txBody>
                    <a:bodyPr/>
                    <a:lstStyle/>
                    <a:p>
                      <a:r>
                        <a:rPr sz="1950">
                          <a:solidFill>
                            <a:srgbClr val="102A43"/>
                          </a:solidFill>
                          <a:latin typeface="Arial"/>
                          <a:ea typeface="Arial"/>
                          <a:cs typeface="Arial"/>
                        </a:rPr>
                        <a:t>134.850</a:t>
                      </a:r>
                    </a:p>
                  </a:txBody>
                  <a:tcPr marL="152400" marR="133350" marT="95250" marB="95250">
                    <a:solidFill>
                      <a:srgbClr val="FFFFFF"/>
                    </a:solidFill>
                  </a:tcPr>
                </a:tc>
                <a:tc>
                  <a:txBody>
                    <a:bodyPr/>
                    <a:lstStyle/>
                    <a:p>
                      <a:r>
                        <a:rPr sz="1950">
                          <a:solidFill>
                            <a:srgbClr val="102A43"/>
                          </a:solidFill>
                          <a:latin typeface="Arial"/>
                          <a:ea typeface="Arial"/>
                          <a:cs typeface="Arial"/>
                        </a:rPr>
                        <a:t>100.520</a:t>
                      </a:r>
                    </a:p>
                  </a:txBody>
                  <a:tcPr marL="152400" marR="133350" marT="95250" marB="95250">
                    <a:solidFill>
                      <a:srgbClr val="FFFFFF"/>
                    </a:solidFill>
                  </a:tcPr>
                </a:tc>
                <a:extLst>
                  <a:ext uri="{0D108BD9-81ED-4DB2-BD59-A6C34878D82A}">
                    <a16:rowId xmlns:a16="http://schemas.microsoft.com/office/drawing/2014/main" val="10001"/>
                  </a:ext>
                </a:extLst>
              </a:tr>
              <a:tr h="552450">
                <a:tc>
                  <a:txBody>
                    <a:bodyPr/>
                    <a:lstStyle/>
                    <a:p>
                      <a:r>
                        <a:rPr sz="1950">
                          <a:solidFill>
                            <a:srgbClr val="102A43"/>
                          </a:solidFill>
                          <a:latin typeface="Arial"/>
                          <a:ea typeface="Arial"/>
                          <a:cs typeface="Arial"/>
                        </a:rPr>
                        <a:t>Nhãn nội bộ</a:t>
                      </a:r>
                    </a:p>
                  </a:txBody>
                  <a:tcPr marL="152400" marR="133350" marT="95250" marB="95250">
                    <a:solidFill>
                      <a:srgbClr val="FFFFFF"/>
                    </a:solidFill>
                  </a:tcPr>
                </a:tc>
                <a:tc>
                  <a:txBody>
                    <a:bodyPr/>
                    <a:lstStyle/>
                    <a:p>
                      <a:r>
                        <a:rPr sz="1950">
                          <a:solidFill>
                            <a:srgbClr val="102A43"/>
                          </a:solidFill>
                          <a:latin typeface="Arial"/>
                          <a:ea typeface="Arial"/>
                          <a:cs typeface="Arial"/>
                        </a:rPr>
                        <a:t>0</a:t>
                      </a:r>
                    </a:p>
                  </a:txBody>
                  <a:tcPr marL="152400" marR="133350" marT="95250" marB="95250">
                    <a:solidFill>
                      <a:srgbClr val="FFFFFF"/>
                    </a:solidFill>
                  </a:tcPr>
                </a:tc>
                <a:tc>
                  <a:txBody>
                    <a:bodyPr/>
                    <a:lstStyle/>
                    <a:p>
                      <a:r>
                        <a:rPr sz="1950">
                          <a:solidFill>
                            <a:srgbClr val="102A43"/>
                          </a:solidFill>
                          <a:latin typeface="Arial"/>
                          <a:ea typeface="Arial"/>
                          <a:cs typeface="Arial"/>
                        </a:rPr>
                        <a:t>1</a:t>
                      </a:r>
                    </a:p>
                  </a:txBody>
                  <a:tcPr marL="152400" marR="133350" marT="95250" marB="95250">
                    <a:solidFill>
                      <a:srgbClr val="FFFFFF"/>
                    </a:solidFill>
                  </a:tcPr>
                </a:tc>
                <a:extLst>
                  <a:ext uri="{0D108BD9-81ED-4DB2-BD59-A6C34878D82A}">
                    <a16:rowId xmlns:a16="http://schemas.microsoft.com/office/drawing/2014/main" val="10002"/>
                  </a:ext>
                </a:extLst>
              </a:tr>
            </a:tbl>
          </a:graphicData>
        </a:graphic>
      </p:graphicFrame>
      <p:sp>
        <p:nvSpPr>
          <p:cNvPr id="10" name="text-8">
            <a:extLst>
              <a:ext uri="{FF2B5EF4-FFF2-40B4-BE49-F238E27FC236}">
                <a16:creationId xmlns:a16="http://schemas.microsoft.com/office/drawing/2014/main" id="{050D4680-A347-405B-AF61-6E72FEA241C9}"/>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Chia theo tên miền đăng ký để hạn chế trùng domain giữa tập train và test.</a:t>
            </a:r>
          </a:p>
        </p:txBody>
      </p:sp>
    </p:spTree>
    <p:extLst>
      <p:ext uri="{BB962C8B-B14F-4D97-AF65-F5344CB8AC3E}">
        <p14:creationId xmlns:p14="http://schemas.microsoft.com/office/powerpoint/2010/main" val="195769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5" name="text-0">
            <a:extLst>
              <a:ext uri="{FF2B5EF4-FFF2-40B4-BE49-F238E27FC236}">
                <a16:creationId xmlns:a16="http://schemas.microsoft.com/office/drawing/2014/main" id="{37F6D86E-1BC9-4918-BD80-8C9C41C5D166}"/>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Vector đầu vào gồm 30 thuộc tính</a:t>
            </a:r>
          </a:p>
        </p:txBody>
      </p:sp>
      <p:sp>
        <p:nvSpPr>
          <p:cNvPr id="2" name="text-1">
            <a:extLst>
              <a:ext uri="{FF2B5EF4-FFF2-40B4-BE49-F238E27FC236}">
                <a16:creationId xmlns:a16="http://schemas.microsoft.com/office/drawing/2014/main" id="{12ABAFFF-8A76-44E3-811C-245BDD6B67E2}"/>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08</a:t>
            </a:r>
          </a:p>
        </p:txBody>
      </p:sp>
      <p:graphicFrame>
        <p:nvGraphicFramePr>
          <p:cNvPr id="7" name="Table 6"/>
          <p:cNvGraphicFramePr/>
          <p:nvPr/>
        </p:nvGraphicFramePr>
        <p:xfrm>
          <a:off x="609600" y="1571625"/>
          <a:ext cx="10972800" cy="3714750"/>
        </p:xfrm>
        <a:graphic>
          <a:graphicData uri="http://schemas.openxmlformats.org/drawingml/2006/table">
            <a:tbl>
              <a:tblPr/>
              <a:tblGrid>
                <a:gridCol w="2809875">
                  <a:extLst>
                    <a:ext uri="{9D8B030D-6E8A-4147-A177-3AD203B41FA5}">
                      <a16:colId xmlns:a16="http://schemas.microsoft.com/office/drawing/2014/main" val="20000"/>
                    </a:ext>
                  </a:extLst>
                </a:gridCol>
                <a:gridCol w="1476375">
                  <a:extLst>
                    <a:ext uri="{9D8B030D-6E8A-4147-A177-3AD203B41FA5}">
                      <a16:colId xmlns:a16="http://schemas.microsoft.com/office/drawing/2014/main" val="20001"/>
                    </a:ext>
                  </a:extLst>
                </a:gridCol>
                <a:gridCol w="6686550">
                  <a:extLst>
                    <a:ext uri="{9D8B030D-6E8A-4147-A177-3AD203B41FA5}">
                      <a16:colId xmlns:a16="http://schemas.microsoft.com/office/drawing/2014/main" val="20002"/>
                    </a:ext>
                  </a:extLst>
                </a:gridCol>
              </a:tblGrid>
              <a:tr h="619125">
                <a:tc>
                  <a:txBody>
                    <a:bodyPr/>
                    <a:lstStyle/>
                    <a:p>
                      <a:r>
                        <a:rPr sz="1875" b="1">
                          <a:solidFill>
                            <a:srgbClr val="FFFFFF"/>
                          </a:solidFill>
                          <a:latin typeface="Arial"/>
                          <a:ea typeface="Arial"/>
                          <a:cs typeface="Arial"/>
                        </a:rPr>
                        <a:t>Nhóm</a:t>
                      </a:r>
                    </a:p>
                  </a:txBody>
                  <a:tcPr marL="152400" marR="133350" marT="95250" marB="95250">
                    <a:solidFill>
                      <a:srgbClr val="102A43"/>
                    </a:solidFill>
                  </a:tcPr>
                </a:tc>
                <a:tc>
                  <a:txBody>
                    <a:bodyPr/>
                    <a:lstStyle/>
                    <a:p>
                      <a:r>
                        <a:rPr sz="1875" b="1">
                          <a:solidFill>
                            <a:srgbClr val="FFFFFF"/>
                          </a:solidFill>
                          <a:latin typeface="Arial"/>
                          <a:ea typeface="Arial"/>
                          <a:cs typeface="Arial"/>
                        </a:rPr>
                        <a:t>Số lượng</a:t>
                      </a:r>
                    </a:p>
                  </a:txBody>
                  <a:tcPr marL="152400" marR="133350" marT="95250" marB="95250">
                    <a:solidFill>
                      <a:srgbClr val="102A43"/>
                    </a:solidFill>
                  </a:tcPr>
                </a:tc>
                <a:tc>
                  <a:txBody>
                    <a:bodyPr/>
                    <a:lstStyle/>
                    <a:p>
                      <a:r>
                        <a:rPr sz="1875" b="1">
                          <a:solidFill>
                            <a:srgbClr val="FFFFFF"/>
                          </a:solidFill>
                          <a:latin typeface="Arial"/>
                          <a:ea typeface="Arial"/>
                          <a:cs typeface="Arial"/>
                        </a:rPr>
                        <a:t>Ví dụ</a:t>
                      </a:r>
                    </a:p>
                  </a:txBody>
                  <a:tcPr marL="152400" marR="133350" marT="95250" marB="95250">
                    <a:solidFill>
                      <a:srgbClr val="102A43"/>
                    </a:solidFill>
                  </a:tcPr>
                </a:tc>
                <a:extLst>
                  <a:ext uri="{0D108BD9-81ED-4DB2-BD59-A6C34878D82A}">
                    <a16:rowId xmlns:a16="http://schemas.microsoft.com/office/drawing/2014/main" val="10000"/>
                  </a:ext>
                </a:extLst>
              </a:tr>
              <a:tr h="619125">
                <a:tc>
                  <a:txBody>
                    <a:bodyPr/>
                    <a:lstStyle/>
                    <a:p>
                      <a:r>
                        <a:rPr sz="1875">
                          <a:solidFill>
                            <a:srgbClr val="102A43"/>
                          </a:solidFill>
                          <a:latin typeface="Arial"/>
                          <a:ea typeface="Arial"/>
                          <a:cs typeface="Arial"/>
                        </a:rPr>
                        <a:t>Cấu trúc URL</a:t>
                      </a:r>
                    </a:p>
                  </a:txBody>
                  <a:tcPr marL="152400" marR="133350" marT="95250" marB="95250">
                    <a:solidFill>
                      <a:srgbClr val="FFFFFF"/>
                    </a:solidFill>
                  </a:tcPr>
                </a:tc>
                <a:tc>
                  <a:txBody>
                    <a:bodyPr/>
                    <a:lstStyle/>
                    <a:p>
                      <a:r>
                        <a:rPr sz="1875">
                          <a:solidFill>
                            <a:srgbClr val="102A43"/>
                          </a:solidFill>
                          <a:latin typeface="Arial"/>
                          <a:ea typeface="Arial"/>
                          <a:cs typeface="Arial"/>
                        </a:rPr>
                        <a:t>14</a:t>
                      </a:r>
                    </a:p>
                  </a:txBody>
                  <a:tcPr marL="152400" marR="133350" marT="95250" marB="95250">
                    <a:solidFill>
                      <a:srgbClr val="FFFFFF"/>
                    </a:solidFill>
                  </a:tcPr>
                </a:tc>
                <a:tc>
                  <a:txBody>
                    <a:bodyPr/>
                    <a:lstStyle/>
                    <a:p>
                      <a:r>
                        <a:rPr sz="1875">
                          <a:solidFill>
                            <a:srgbClr val="102A43"/>
                          </a:solidFill>
                          <a:latin typeface="Arial"/>
                          <a:ea typeface="Arial"/>
                          <a:cs typeface="Arial"/>
                        </a:rPr>
                        <a:t>url_length, has_https, suspicious_tld</a:t>
                      </a:r>
                    </a:p>
                  </a:txBody>
                  <a:tcPr marL="152400" marR="133350" marT="95250" marB="95250">
                    <a:solidFill>
                      <a:srgbClr val="FFFFFF"/>
                    </a:solidFill>
                  </a:tcPr>
                </a:tc>
                <a:extLst>
                  <a:ext uri="{0D108BD9-81ED-4DB2-BD59-A6C34878D82A}">
                    <a16:rowId xmlns:a16="http://schemas.microsoft.com/office/drawing/2014/main" val="10001"/>
                  </a:ext>
                </a:extLst>
              </a:tr>
              <a:tr h="619125">
                <a:tc>
                  <a:txBody>
                    <a:bodyPr/>
                    <a:lstStyle/>
                    <a:p>
                      <a:r>
                        <a:rPr sz="1875">
                          <a:solidFill>
                            <a:srgbClr val="102A43"/>
                          </a:solidFill>
                          <a:latin typeface="Arial"/>
                          <a:ea typeface="Arial"/>
                          <a:cs typeface="Arial"/>
                        </a:rPr>
                        <a:t>Domain và TLS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tc>
                  <a:txBody>
                    <a:bodyPr/>
                    <a:lstStyle/>
                    <a:p>
                      <a:r>
                        <a:rPr sz="1875">
                          <a:solidFill>
                            <a:srgbClr val="102A43"/>
                          </a:solidFill>
                          <a:latin typeface="Arial"/>
                          <a:ea typeface="Arial"/>
                          <a:cs typeface="Arial"/>
                        </a:rPr>
                        <a:t>domain_age_days, hostname_match</a:t>
                      </a:r>
                    </a:p>
                  </a:txBody>
                  <a:tcPr marL="152400" marR="133350" marT="95250" marB="95250">
                    <a:solidFill>
                      <a:srgbClr val="FFFFFF"/>
                    </a:solidFill>
                  </a:tcPr>
                </a:tc>
                <a:extLst>
                  <a:ext uri="{0D108BD9-81ED-4DB2-BD59-A6C34878D82A}">
                    <a16:rowId xmlns:a16="http://schemas.microsoft.com/office/drawing/2014/main" val="10002"/>
                  </a:ext>
                </a:extLst>
              </a:tr>
              <a:tr h="619125">
                <a:tc>
                  <a:txBody>
                    <a:bodyPr/>
                    <a:lstStyle/>
                    <a:p>
                      <a:r>
                        <a:rPr sz="1875">
                          <a:solidFill>
                            <a:srgbClr val="102A43"/>
                          </a:solidFill>
                          <a:latin typeface="Arial"/>
                          <a:ea typeface="Arial"/>
                          <a:cs typeface="Arial"/>
                        </a:rPr>
                        <a:t>HTML</a:t>
                      </a:r>
                    </a:p>
                  </a:txBody>
                  <a:tcPr marL="152400" marR="133350" marT="95250" marB="95250">
                    <a:solidFill>
                      <a:srgbClr val="FFFFFF"/>
                    </a:solidFill>
                  </a:tcPr>
                </a:tc>
                <a:tc>
                  <a:txBody>
                    <a:bodyPr/>
                    <a:lstStyle/>
                    <a:p>
                      <a:r>
                        <a:rPr sz="1875">
                          <a:solidFill>
                            <a:srgbClr val="102A43"/>
                          </a:solidFill>
                          <a:latin typeface="Arial"/>
                          <a:ea typeface="Arial"/>
                          <a:cs typeface="Arial"/>
                        </a:rPr>
                        <a:t>7</a:t>
                      </a:r>
                    </a:p>
                  </a:txBody>
                  <a:tcPr marL="152400" marR="133350" marT="95250" marB="95250">
                    <a:solidFill>
                      <a:srgbClr val="FFFFFF"/>
                    </a:solidFill>
                  </a:tcPr>
                </a:tc>
                <a:tc>
                  <a:txBody>
                    <a:bodyPr/>
                    <a:lstStyle/>
                    <a:p>
                      <a:r>
                        <a:rPr sz="1875">
                          <a:solidFill>
                            <a:srgbClr val="102A43"/>
                          </a:solidFill>
                          <a:latin typeface="Arial"/>
                          <a:ea typeface="Arial"/>
                          <a:cs typeface="Arial"/>
                        </a:rPr>
                        <a:t>password_input_count, form_count</a:t>
                      </a:r>
                    </a:p>
                  </a:txBody>
                  <a:tcPr marL="152400" marR="133350" marT="95250" marB="95250">
                    <a:solidFill>
                      <a:srgbClr val="FFFFFF"/>
                    </a:solidFill>
                  </a:tcPr>
                </a:tc>
                <a:extLst>
                  <a:ext uri="{0D108BD9-81ED-4DB2-BD59-A6C34878D82A}">
                    <a16:rowId xmlns:a16="http://schemas.microsoft.com/office/drawing/2014/main" val="10003"/>
                  </a:ext>
                </a:extLst>
              </a:tr>
              <a:tr h="619125">
                <a:tc>
                  <a:txBody>
                    <a:bodyPr/>
                    <a:lstStyle/>
                    <a:p>
                      <a:r>
                        <a:rPr sz="1875">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875">
                          <a:solidFill>
                            <a:srgbClr val="102A43"/>
                          </a:solidFill>
                          <a:latin typeface="Arial"/>
                          <a:ea typeface="Arial"/>
                          <a:cs typeface="Arial"/>
                        </a:rPr>
                        <a:t>3</a:t>
                      </a:r>
                    </a:p>
                  </a:txBody>
                  <a:tcPr marL="152400" marR="133350" marT="95250" marB="95250">
                    <a:solidFill>
                      <a:srgbClr val="FFFFFF"/>
                    </a:solidFill>
                  </a:tcPr>
                </a:tc>
                <a:tc>
                  <a:txBody>
                    <a:bodyPr/>
                    <a:lstStyle/>
                    <a:p>
                      <a:r>
                        <a:rPr sz="1875">
                          <a:solidFill>
                            <a:srgbClr val="102A43"/>
                          </a:solidFill>
                          <a:latin typeface="Arial"/>
                          <a:ea typeface="Arial"/>
                          <a:cs typeface="Arial"/>
                        </a:rPr>
                        <a:t>brand_similarity, impersonation_likely</a:t>
                      </a:r>
                    </a:p>
                  </a:txBody>
                  <a:tcPr marL="152400" marR="133350" marT="95250" marB="95250">
                    <a:solidFill>
                      <a:srgbClr val="FFFFFF"/>
                    </a:solidFill>
                  </a:tcPr>
                </a:tc>
                <a:extLst>
                  <a:ext uri="{0D108BD9-81ED-4DB2-BD59-A6C34878D82A}">
                    <a16:rowId xmlns:a16="http://schemas.microsoft.com/office/drawing/2014/main" val="10004"/>
                  </a:ext>
                </a:extLst>
              </a:tr>
              <a:tr h="619125">
                <a:tc>
                  <a:txBody>
                    <a:bodyPr/>
                    <a:lstStyle/>
                    <a:p>
                      <a:r>
                        <a:rPr sz="1875">
                          <a:solidFill>
                            <a:srgbClr val="102A43"/>
                          </a:solidFill>
                          <a:latin typeface="Arial"/>
                          <a:ea typeface="Arial"/>
                          <a:cs typeface="Arial"/>
                        </a:rPr>
                        <a:t>Chuyển hướng</a:t>
                      </a:r>
                    </a:p>
                  </a:txBody>
                  <a:tcPr marL="152400" marR="133350" marT="95250" marB="95250">
                    <a:solidFill>
                      <a:srgbClr val="FFFFFF"/>
                    </a:solidFill>
                  </a:tcPr>
                </a:tc>
                <a:tc>
                  <a:txBody>
                    <a:bodyPr/>
                    <a:lstStyle/>
                    <a:p>
                      <a:r>
                        <a:rPr sz="1875">
                          <a:solidFill>
                            <a:srgbClr val="102A43"/>
                          </a:solidFill>
                          <a:latin typeface="Arial"/>
                          <a:ea typeface="Arial"/>
                          <a:cs typeface="Arial"/>
                        </a:rPr>
                        <a:t>1</a:t>
                      </a:r>
                    </a:p>
                  </a:txBody>
                  <a:tcPr marL="152400" marR="133350" marT="95250" marB="95250">
                    <a:solidFill>
                      <a:srgbClr val="FFFFFF"/>
                    </a:solidFill>
                  </a:tcPr>
                </a:tc>
                <a:tc>
                  <a:txBody>
                    <a:bodyPr/>
                    <a:lstStyle/>
                    <a:p>
                      <a:r>
                        <a:rPr sz="1875">
                          <a:solidFill>
                            <a:srgbClr val="102A43"/>
                          </a:solidFill>
                          <a:latin typeface="Arial"/>
                          <a:ea typeface="Arial"/>
                          <a:cs typeface="Arial"/>
                        </a:rPr>
                        <a:t>redirect_count</a:t>
                      </a:r>
                    </a:p>
                  </a:txBody>
                  <a:tcPr marL="152400" marR="133350" marT="95250" marB="95250">
                    <a:solidFill>
                      <a:srgbClr val="FFFFFF"/>
                    </a:solidFill>
                  </a:tcPr>
                </a:tc>
                <a:extLst>
                  <a:ext uri="{0D108BD9-81ED-4DB2-BD59-A6C34878D82A}">
                    <a16:rowId xmlns:a16="http://schemas.microsoft.com/office/drawing/2014/main" val="10005"/>
                  </a:ext>
                </a:extLst>
              </a:tr>
            </a:tbl>
          </a:graphicData>
        </a:graphic>
      </p:graphicFrame>
      <p:sp>
        <p:nvSpPr>
          <p:cNvPr id="4" name="text-2">
            <a:extLst>
              <a:ext uri="{FF2B5EF4-FFF2-40B4-BE49-F238E27FC236}">
                <a16:creationId xmlns:a16="http://schemas.microsoft.com/office/drawing/2014/main" id="{4E502210-CA32-4E5A-A06B-0C8ED5A9A7F4}"/>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Dùng chung schema cho train và runtime. Blacklist không nằm trong vector ML.</a:t>
            </a:r>
          </a:p>
        </p:txBody>
      </p:sp>
    </p:spTree>
    <p:extLst>
      <p:ext uri="{BB962C8B-B14F-4D97-AF65-F5344CB8AC3E}">
        <p14:creationId xmlns:p14="http://schemas.microsoft.com/office/powerpoint/2010/main" val="9894936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9" name="text-0">
            <a:extLst>
              <a:ext uri="{FF2B5EF4-FFF2-40B4-BE49-F238E27FC236}">
                <a16:creationId xmlns:a16="http://schemas.microsoft.com/office/drawing/2014/main" id="{4F5D4352-2515-4D33-983B-A886526240BF}"/>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XGBoost có tỷ lệ bỏ sót thấp nhất</a:t>
            </a:r>
          </a:p>
        </p:txBody>
      </p:sp>
      <p:sp>
        <p:nvSpPr>
          <p:cNvPr id="2" name="text-1">
            <a:extLst>
              <a:ext uri="{FF2B5EF4-FFF2-40B4-BE49-F238E27FC236}">
                <a16:creationId xmlns:a16="http://schemas.microsoft.com/office/drawing/2014/main" id="{3A713DA9-0909-40C5-883A-07EA3104661B}"/>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09</a:t>
            </a:r>
          </a:p>
        </p:txBody>
      </p:sp>
      <p:sp>
        <p:nvSpPr>
          <p:cNvPr id="3" name="text-2">
            <a:extLst>
              <a:ext uri="{FF2B5EF4-FFF2-40B4-BE49-F238E27FC236}">
                <a16:creationId xmlns:a16="http://schemas.microsoft.com/office/drawing/2014/main" id="{6F9B84D5-C5F0-4F3E-AF70-5F40915083C0}"/>
              </a:ext>
            </a:extLst>
          </p:cNvPr>
          <p:cNvSpPr>
            <a:spLocks noGrp="1"/>
          </p:cNvSpPr>
          <p:nvPr/>
        </p:nvSpPr>
        <p:spPr>
          <a:xfrm>
            <a:off x="609600" y="1428750"/>
            <a:ext cx="10668000" cy="457200"/>
          </a:xfrm>
          <a:prstGeom prst="rect">
            <a:avLst/>
          </a:prstGeom>
          <a:noFill/>
          <a:ln w="0">
            <a:noFill/>
          </a:ln>
        </p:spPr>
        <p:txBody>
          <a:bodyPr>
            <a:noAutofit/>
          </a:bodyPr>
          <a:lstStyle/>
          <a:p>
            <a:pPr algn="l">
              <a:defRPr sz="2025" b="0">
                <a:solidFill>
                  <a:srgbClr val="526777"/>
                </a:solidFill>
                <a:latin typeface="Arial"/>
                <a:ea typeface="Arial"/>
                <a:cs typeface="Arial"/>
              </a:defRPr>
            </a:pPr>
            <a:r>
              <a:rPr sz="2025" b="0">
                <a:solidFill>
                  <a:srgbClr val="526777"/>
                </a:solidFill>
                <a:latin typeface="Arial"/>
                <a:ea typeface="Arial"/>
                <a:cs typeface="Arial"/>
              </a:rPr>
              <a:t>FNR trên tập đánh giá, càng thấp càng tốt</a:t>
            </a:r>
          </a:p>
        </p:txBody>
      </p:sp>
      <p:graphicFrame>
        <p:nvGraphicFramePr>
          <p:cNvPr id="12" name="Chart"/>
          <p:cNvGraphicFramePr/>
          <p:nvPr/>
        </p:nvGraphicFramePr>
        <p:xfrm>
          <a:off x="609600" y="2105025"/>
          <a:ext cx="8096250" cy="3476625"/>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3">
            <a:extLst>
              <a:ext uri="{FF2B5EF4-FFF2-40B4-BE49-F238E27FC236}">
                <a16:creationId xmlns:a16="http://schemas.microsoft.com/office/drawing/2014/main" id="{32BF9616-88F4-4702-9803-28D9EA70220B}"/>
              </a:ext>
            </a:extLst>
          </p:cNvPr>
          <p:cNvSpPr>
            <a:spLocks noGrp="1"/>
          </p:cNvSpPr>
          <p:nvPr/>
        </p:nvSpPr>
        <p:spPr>
          <a:xfrm>
            <a:off x="9115425" y="2066925"/>
            <a:ext cx="257175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3,47%</a:t>
            </a:r>
          </a:p>
        </p:txBody>
      </p:sp>
      <p:sp>
        <p:nvSpPr>
          <p:cNvPr id="6" name="text-4">
            <a:extLst>
              <a:ext uri="{FF2B5EF4-FFF2-40B4-BE49-F238E27FC236}">
                <a16:creationId xmlns:a16="http://schemas.microsoft.com/office/drawing/2014/main" id="{63BF07DD-A441-4838-A6B0-51FF83D67FA3}"/>
              </a:ext>
            </a:extLst>
          </p:cNvPr>
          <p:cNvSpPr>
            <a:spLocks noGrp="1"/>
          </p:cNvSpPr>
          <p:nvPr/>
        </p:nvSpPr>
        <p:spPr>
          <a:xfrm>
            <a:off x="9115425" y="3038475"/>
            <a:ext cx="257175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FNR của XGBoost</a:t>
            </a:r>
          </a:p>
        </p:txBody>
      </p:sp>
      <p:sp>
        <p:nvSpPr>
          <p:cNvPr id="7" name="text-5">
            <a:extLst>
              <a:ext uri="{FF2B5EF4-FFF2-40B4-BE49-F238E27FC236}">
                <a16:creationId xmlns:a16="http://schemas.microsoft.com/office/drawing/2014/main" id="{83925FF1-5D9C-4DB3-815F-3CE0A558C63B}"/>
              </a:ext>
            </a:extLst>
          </p:cNvPr>
          <p:cNvSpPr>
            <a:spLocks noGrp="1"/>
          </p:cNvSpPr>
          <p:nvPr/>
        </p:nvSpPr>
        <p:spPr>
          <a:xfrm>
            <a:off x="8924925" y="4267200"/>
            <a:ext cx="2667000" cy="10477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Giảm 19 URL bỏ sót</a:t>
            </a:r>
          </a:p>
          <a:p>
            <a:pPr algn="l">
              <a:defRPr sz="1950" b="0">
                <a:solidFill>
                  <a:srgbClr val="102A43"/>
                </a:solidFill>
                <a:latin typeface="Arial"/>
                <a:ea typeface="Arial"/>
                <a:cs typeface="Arial"/>
              </a:defRPr>
            </a:pPr>
            <a:r>
              <a:rPr sz="1950" b="0">
                <a:solidFill>
                  <a:srgbClr val="102A43"/>
                </a:solidFill>
                <a:latin typeface="Arial"/>
                <a:ea typeface="Arial"/>
                <a:cs typeface="Arial"/>
              </a:rPr>
              <a:t>so với Random Forest</a:t>
            </a:r>
          </a:p>
        </p:txBody>
      </p:sp>
      <p:sp>
        <p:nvSpPr>
          <p:cNvPr id="8" name="text-6">
            <a:extLst>
              <a:ext uri="{FF2B5EF4-FFF2-40B4-BE49-F238E27FC236}">
                <a16:creationId xmlns:a16="http://schemas.microsoft.com/office/drawing/2014/main" id="{32E5F5A3-C470-4303-9455-95FE75BAE9CD}"/>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Kết quả lưu ngày 28/09/2026 trên 49.416 URL, chia theo tên miền.</a:t>
            </a:r>
          </a:p>
        </p:txBody>
      </p:sp>
    </p:spTree>
    <p:extLst>
      <p:ext uri="{BB962C8B-B14F-4D97-AF65-F5344CB8AC3E}">
        <p14:creationId xmlns:p14="http://schemas.microsoft.com/office/powerpoint/2010/main" val="2137658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0" name="text-0">
            <a:extLst>
              <a:ext uri="{FF2B5EF4-FFF2-40B4-BE49-F238E27FC236}">
                <a16:creationId xmlns:a16="http://schemas.microsoft.com/office/drawing/2014/main" id="{646EE1FC-88F5-4BD8-98CE-DF66E416602C}"/>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Ma trận nhầm lẫn của XGBoost</a:t>
            </a:r>
          </a:p>
        </p:txBody>
      </p:sp>
      <p:sp>
        <p:nvSpPr>
          <p:cNvPr id="2" name="text-1">
            <a:extLst>
              <a:ext uri="{FF2B5EF4-FFF2-40B4-BE49-F238E27FC236}">
                <a16:creationId xmlns:a16="http://schemas.microsoft.com/office/drawing/2014/main" id="{45ED01A9-C8BD-489B-9BF4-5B62FB391AB0}"/>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10</a:t>
            </a:r>
          </a:p>
        </p:txBody>
      </p:sp>
      <p:graphicFrame>
        <p:nvGraphicFramePr>
          <p:cNvPr id="12" name="Table 11"/>
          <p:cNvGraphicFramePr/>
          <p:nvPr/>
        </p:nvGraphicFramePr>
        <p:xfrm>
          <a:off x="609600" y="1724025"/>
          <a:ext cx="10972800" cy="2400300"/>
        </p:xfrm>
        <a:graphic>
          <a:graphicData uri="http://schemas.openxmlformats.org/drawingml/2006/table">
            <a:tbl>
              <a:tblPr/>
              <a:tblGrid>
                <a:gridCol w="4572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800100">
                <a:tc>
                  <a:txBody>
                    <a:bodyPr/>
                    <a:lstStyle/>
                    <a:p>
                      <a:r>
                        <a:rPr sz="2175" b="1">
                          <a:solidFill>
                            <a:srgbClr val="FFFFFF"/>
                          </a:solidFill>
                          <a:latin typeface="Arial"/>
                          <a:ea typeface="Arial"/>
                          <a:cs typeface="Arial"/>
                        </a:rPr>
                        <a:t>Thực tế / Dự đoán</a:t>
                      </a:r>
                    </a:p>
                  </a:txBody>
                  <a:tcPr marL="152400" marR="133350" marT="95250" marB="95250">
                    <a:solidFill>
                      <a:srgbClr val="102A43"/>
                    </a:solidFill>
                  </a:tcPr>
                </a:tc>
                <a:tc>
                  <a:txBody>
                    <a:bodyPr/>
                    <a:lstStyle/>
                    <a:p>
                      <a:r>
                        <a:rPr sz="2175" b="1">
                          <a:solidFill>
                            <a:srgbClr val="FFFFFF"/>
                          </a:solidFill>
                          <a:latin typeface="Arial"/>
                          <a:ea typeface="Arial"/>
                          <a:cs typeface="Arial"/>
                        </a:rPr>
                        <a:t>Hợp lệ</a:t>
                      </a:r>
                    </a:p>
                  </a:txBody>
                  <a:tcPr marL="152400" marR="133350" marT="95250" marB="95250">
                    <a:solidFill>
                      <a:srgbClr val="102A43"/>
                    </a:solidFill>
                  </a:tcPr>
                </a:tc>
                <a:tc>
                  <a:txBody>
                    <a:bodyPr/>
                    <a:lstStyle/>
                    <a:p>
                      <a:r>
                        <a:rPr sz="2175" b="1">
                          <a:solidFill>
                            <a:srgbClr val="FFFFFF"/>
                          </a:solidFill>
                          <a:latin typeface="Arial"/>
                          <a:ea typeface="Arial"/>
                          <a:cs typeface="Arial"/>
                        </a:rPr>
                        <a:t>Phishing</a:t>
                      </a:r>
                    </a:p>
                  </a:txBody>
                  <a:tcPr marL="152400" marR="133350" marT="95250" marB="95250">
                    <a:solidFill>
                      <a:srgbClr val="102A43"/>
                    </a:solidFill>
                  </a:tcPr>
                </a:tc>
                <a:extLst>
                  <a:ext uri="{0D108BD9-81ED-4DB2-BD59-A6C34878D82A}">
                    <a16:rowId xmlns:a16="http://schemas.microsoft.com/office/drawing/2014/main" val="10000"/>
                  </a:ext>
                </a:extLst>
              </a:tr>
              <a:tr h="800100">
                <a:tc>
                  <a:txBody>
                    <a:bodyPr/>
                    <a:lstStyle/>
                    <a:p>
                      <a:r>
                        <a:rPr sz="2175">
                          <a:solidFill>
                            <a:srgbClr val="102A43"/>
                          </a:solidFill>
                          <a:latin typeface="Arial"/>
                          <a:ea typeface="Arial"/>
                          <a:cs typeface="Arial"/>
                        </a:rPr>
                        <a:t>Hợp lệ</a:t>
                      </a:r>
                    </a:p>
                  </a:txBody>
                  <a:tcPr marL="152400" marR="133350" marT="95250" marB="95250">
                    <a:solidFill>
                      <a:srgbClr val="FFFFFF"/>
                    </a:solidFill>
                  </a:tcPr>
                </a:tc>
                <a:tc>
                  <a:txBody>
                    <a:bodyPr/>
                    <a:lstStyle/>
                    <a:p>
                      <a:r>
                        <a:rPr sz="2175">
                          <a:solidFill>
                            <a:srgbClr val="102A43"/>
                          </a:solidFill>
                          <a:latin typeface="Arial"/>
                          <a:ea typeface="Arial"/>
                          <a:cs typeface="Arial"/>
                        </a:rPr>
                        <a:t>26.886</a:t>
                      </a:r>
                    </a:p>
                  </a:txBody>
                  <a:tcPr marL="152400" marR="133350" marT="95250" marB="95250">
                    <a:solidFill>
                      <a:srgbClr val="FFFFFF"/>
                    </a:solidFill>
                  </a:tcPr>
                </a:tc>
                <a:tc>
                  <a:txBody>
                    <a:bodyPr/>
                    <a:lstStyle/>
                    <a:p>
                      <a:r>
                        <a:rPr sz="2175">
                          <a:solidFill>
                            <a:srgbClr val="102A43"/>
                          </a:solidFill>
                          <a:latin typeface="Arial"/>
                          <a:ea typeface="Arial"/>
                          <a:cs typeface="Arial"/>
                        </a:rPr>
                        <a:t>292</a:t>
                      </a:r>
                    </a:p>
                  </a:txBody>
                  <a:tcPr marL="152400" marR="133350" marT="95250" marB="95250">
                    <a:solidFill>
                      <a:srgbClr val="FFFFFF"/>
                    </a:solidFill>
                  </a:tcPr>
                </a:tc>
                <a:extLst>
                  <a:ext uri="{0D108BD9-81ED-4DB2-BD59-A6C34878D82A}">
                    <a16:rowId xmlns:a16="http://schemas.microsoft.com/office/drawing/2014/main" val="10001"/>
                  </a:ext>
                </a:extLst>
              </a:tr>
              <a:tr h="800100">
                <a:tc>
                  <a:txBody>
                    <a:bodyPr/>
                    <a:lstStyle/>
                    <a:p>
                      <a:r>
                        <a:rPr sz="2175">
                          <a:solidFill>
                            <a:srgbClr val="102A43"/>
                          </a:solidFill>
                          <a:latin typeface="Arial"/>
                          <a:ea typeface="Arial"/>
                          <a:cs typeface="Arial"/>
                        </a:rPr>
                        <a:t>Phishing</a:t>
                      </a:r>
                    </a:p>
                  </a:txBody>
                  <a:tcPr marL="152400" marR="133350" marT="95250" marB="95250">
                    <a:solidFill>
                      <a:srgbClr val="FFFFFF"/>
                    </a:solidFill>
                  </a:tcPr>
                </a:tc>
                <a:tc>
                  <a:txBody>
                    <a:bodyPr/>
                    <a:lstStyle/>
                    <a:p>
                      <a:r>
                        <a:rPr sz="2175">
                          <a:solidFill>
                            <a:srgbClr val="102A43"/>
                          </a:solidFill>
                          <a:latin typeface="Arial"/>
                          <a:ea typeface="Arial"/>
                          <a:cs typeface="Arial"/>
                        </a:rPr>
                        <a:t>772</a:t>
                      </a:r>
                    </a:p>
                  </a:txBody>
                  <a:tcPr marL="152400" marR="133350" marT="95250" marB="95250">
                    <a:solidFill>
                      <a:srgbClr val="FFFFFF"/>
                    </a:solidFill>
                  </a:tcPr>
                </a:tc>
                <a:tc>
                  <a:txBody>
                    <a:bodyPr/>
                    <a:lstStyle/>
                    <a:p>
                      <a:r>
                        <a:rPr sz="2175">
                          <a:solidFill>
                            <a:srgbClr val="102A43"/>
                          </a:solidFill>
                          <a:latin typeface="Arial"/>
                          <a:ea typeface="Arial"/>
                          <a:cs typeface="Arial"/>
                        </a:rPr>
                        <a:t>21.466</a:t>
                      </a:r>
                    </a:p>
                  </a:txBody>
                  <a:tcPr marL="152400" marR="133350" marT="95250" marB="95250">
                    <a:solidFill>
                      <a:srgbClr val="FFFFFF"/>
                    </a:solidFill>
                  </a:tcPr>
                </a:tc>
                <a:extLst>
                  <a:ext uri="{0D108BD9-81ED-4DB2-BD59-A6C34878D82A}">
                    <a16:rowId xmlns:a16="http://schemas.microsoft.com/office/drawing/2014/main" val="10002"/>
                  </a:ext>
                </a:extLst>
              </a:tr>
            </a:tbl>
          </a:graphicData>
        </a:graphic>
      </p:graphicFrame>
      <p:sp>
        <p:nvSpPr>
          <p:cNvPr id="4" name="text-2">
            <a:extLst>
              <a:ext uri="{FF2B5EF4-FFF2-40B4-BE49-F238E27FC236}">
                <a16:creationId xmlns:a16="http://schemas.microsoft.com/office/drawing/2014/main" id="{DE2B4E97-667E-4B47-90E5-3456318F4D49}"/>
              </a:ext>
            </a:extLst>
          </p:cNvPr>
          <p:cNvSpPr>
            <a:spLocks noGrp="1"/>
          </p:cNvSpPr>
          <p:nvPr/>
        </p:nvSpPr>
        <p:spPr>
          <a:xfrm>
            <a:off x="609600" y="4543425"/>
            <a:ext cx="34290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96,53%</a:t>
            </a:r>
          </a:p>
        </p:txBody>
      </p:sp>
      <p:sp>
        <p:nvSpPr>
          <p:cNvPr id="5" name="text-3">
            <a:extLst>
              <a:ext uri="{FF2B5EF4-FFF2-40B4-BE49-F238E27FC236}">
                <a16:creationId xmlns:a16="http://schemas.microsoft.com/office/drawing/2014/main" id="{121FCC98-A313-428D-883C-40E03E330038}"/>
              </a:ext>
            </a:extLst>
          </p:cNvPr>
          <p:cNvSpPr>
            <a:spLocks noGrp="1"/>
          </p:cNvSpPr>
          <p:nvPr/>
        </p:nvSpPr>
        <p:spPr>
          <a:xfrm>
            <a:off x="609600" y="5514975"/>
            <a:ext cx="34290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Recall phishing</a:t>
            </a:r>
          </a:p>
        </p:txBody>
      </p:sp>
      <p:sp>
        <p:nvSpPr>
          <p:cNvPr id="6" name="text-4">
            <a:extLst>
              <a:ext uri="{FF2B5EF4-FFF2-40B4-BE49-F238E27FC236}">
                <a16:creationId xmlns:a16="http://schemas.microsoft.com/office/drawing/2014/main" id="{1EAD70A9-F1AD-4404-89B4-9CF23ED45F9C}"/>
              </a:ext>
            </a:extLst>
          </p:cNvPr>
          <p:cNvSpPr>
            <a:spLocks noGrp="1"/>
          </p:cNvSpPr>
          <p:nvPr/>
        </p:nvSpPr>
        <p:spPr>
          <a:xfrm>
            <a:off x="4610100" y="4543425"/>
            <a:ext cx="34290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97,58%</a:t>
            </a:r>
          </a:p>
        </p:txBody>
      </p:sp>
      <p:sp>
        <p:nvSpPr>
          <p:cNvPr id="7" name="text-5">
            <a:extLst>
              <a:ext uri="{FF2B5EF4-FFF2-40B4-BE49-F238E27FC236}">
                <a16:creationId xmlns:a16="http://schemas.microsoft.com/office/drawing/2014/main" id="{87B0E711-3691-490C-93B2-CF9705ED0454}"/>
              </a:ext>
            </a:extLst>
          </p:cNvPr>
          <p:cNvSpPr>
            <a:spLocks noGrp="1"/>
          </p:cNvSpPr>
          <p:nvPr/>
        </p:nvSpPr>
        <p:spPr>
          <a:xfrm>
            <a:off x="4610100" y="5514975"/>
            <a:ext cx="34290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F1 phishing</a:t>
            </a:r>
          </a:p>
        </p:txBody>
      </p:sp>
      <p:sp>
        <p:nvSpPr>
          <p:cNvPr id="8" name="text-6">
            <a:extLst>
              <a:ext uri="{FF2B5EF4-FFF2-40B4-BE49-F238E27FC236}">
                <a16:creationId xmlns:a16="http://schemas.microsoft.com/office/drawing/2014/main" id="{2B90BFAF-F2E0-4C25-90CC-933F773E5236}"/>
              </a:ext>
            </a:extLst>
          </p:cNvPr>
          <p:cNvSpPr>
            <a:spLocks noGrp="1"/>
          </p:cNvSpPr>
          <p:nvPr/>
        </p:nvSpPr>
        <p:spPr>
          <a:xfrm>
            <a:off x="8610600" y="4543425"/>
            <a:ext cx="2905125"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97,85%</a:t>
            </a:r>
          </a:p>
        </p:txBody>
      </p:sp>
      <p:sp>
        <p:nvSpPr>
          <p:cNvPr id="9" name="text-7">
            <a:extLst>
              <a:ext uri="{FF2B5EF4-FFF2-40B4-BE49-F238E27FC236}">
                <a16:creationId xmlns:a16="http://schemas.microsoft.com/office/drawing/2014/main" id="{7223A115-77C2-420A-8097-C167337DD7D7}"/>
              </a:ext>
            </a:extLst>
          </p:cNvPr>
          <p:cNvSpPr>
            <a:spLocks noGrp="1"/>
          </p:cNvSpPr>
          <p:nvPr/>
        </p:nvSpPr>
        <p:spPr>
          <a:xfrm>
            <a:off x="8610600" y="5514975"/>
            <a:ext cx="2905125"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Accuracy</a:t>
            </a:r>
          </a:p>
        </p:txBody>
      </p:sp>
    </p:spTree>
    <p:extLst>
      <p:ext uri="{BB962C8B-B14F-4D97-AF65-F5344CB8AC3E}">
        <p14:creationId xmlns:p14="http://schemas.microsoft.com/office/powerpoint/2010/main" val="47020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3918A5A-268F-4AD0-ADCC-6154E3E96140}"/>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Mô hình phụ thuộc mạnh vào tín hiệu HTTPS</a:t>
            </a:r>
          </a:p>
        </p:txBody>
      </p:sp>
      <p:sp>
        <p:nvSpPr>
          <p:cNvPr id="2" name="text-1">
            <a:extLst>
              <a:ext uri="{FF2B5EF4-FFF2-40B4-BE49-F238E27FC236}">
                <a16:creationId xmlns:a16="http://schemas.microsoft.com/office/drawing/2014/main" id="{CE6C85CB-5FF9-47A9-8A86-FBF97F7967E2}"/>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11</a:t>
            </a:r>
          </a:p>
        </p:txBody>
      </p:sp>
      <p:graphicFrame>
        <p:nvGraphicFramePr>
          <p:cNvPr id="10" name="Chart"/>
          <p:cNvGraphicFramePr/>
          <p:nvPr/>
        </p:nvGraphicFramePr>
        <p:xfrm>
          <a:off x="533400" y="1552575"/>
          <a:ext cx="7858125" cy="428625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2">
            <a:extLst>
              <a:ext uri="{FF2B5EF4-FFF2-40B4-BE49-F238E27FC236}">
                <a16:creationId xmlns:a16="http://schemas.microsoft.com/office/drawing/2014/main" id="{65BDB685-1D93-4398-8FA7-8655E4456DF8}"/>
              </a:ext>
            </a:extLst>
          </p:cNvPr>
          <p:cNvSpPr>
            <a:spLocks noGrp="1"/>
          </p:cNvSpPr>
          <p:nvPr/>
        </p:nvSpPr>
        <p:spPr>
          <a:xfrm>
            <a:off x="8810625" y="1724025"/>
            <a:ext cx="2809875"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74,1%</a:t>
            </a:r>
          </a:p>
        </p:txBody>
      </p:sp>
      <p:sp>
        <p:nvSpPr>
          <p:cNvPr id="5" name="text-3">
            <a:extLst>
              <a:ext uri="{FF2B5EF4-FFF2-40B4-BE49-F238E27FC236}">
                <a16:creationId xmlns:a16="http://schemas.microsoft.com/office/drawing/2014/main" id="{0314E3BF-DE8C-4E4D-B793-A985FF75620F}"/>
              </a:ext>
            </a:extLst>
          </p:cNvPr>
          <p:cNvSpPr>
            <a:spLocks noGrp="1"/>
          </p:cNvSpPr>
          <p:nvPr/>
        </p:nvSpPr>
        <p:spPr>
          <a:xfrm>
            <a:off x="8810625" y="2695575"/>
            <a:ext cx="2809875"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Gain của has_https</a:t>
            </a:r>
          </a:p>
          <a:p>
            <a:pPr algn="l">
              <a:defRPr sz="1950" b="0">
                <a:solidFill>
                  <a:srgbClr val="102A43"/>
                </a:solidFill>
                <a:latin typeface="Arial"/>
                <a:ea typeface="Arial"/>
                <a:cs typeface="Arial"/>
              </a:defRPr>
            </a:pPr>
            <a:r>
              <a:rPr sz="1950" b="0">
                <a:solidFill>
                  <a:srgbClr val="102A43"/>
                </a:solidFill>
                <a:latin typeface="Arial"/>
                <a:ea typeface="Arial"/>
                <a:cs typeface="Arial"/>
              </a:rPr>
              <a:t>và hostname_match</a:t>
            </a:r>
          </a:p>
        </p:txBody>
      </p:sp>
      <p:sp>
        <p:nvSpPr>
          <p:cNvPr id="6" name="text-4">
            <a:extLst>
              <a:ext uri="{FF2B5EF4-FFF2-40B4-BE49-F238E27FC236}">
                <a16:creationId xmlns:a16="http://schemas.microsoft.com/office/drawing/2014/main" id="{301BF80A-FEAB-4F05-8697-6321A944310A}"/>
              </a:ext>
            </a:extLst>
          </p:cNvPr>
          <p:cNvSpPr>
            <a:spLocks noGrp="1"/>
          </p:cNvSpPr>
          <p:nvPr/>
        </p:nvSpPr>
        <p:spPr>
          <a:xfrm>
            <a:off x="8810625" y="3943350"/>
            <a:ext cx="2809875" cy="1524000"/>
          </a:xfrm>
          <a:prstGeom prst="rect">
            <a:avLst/>
          </a:prstGeom>
          <a:noFill/>
          <a:ln w="0">
            <a:noFill/>
          </a:ln>
        </p:spPr>
        <p:txBody>
          <a:bodyPr>
            <a:noAutofit/>
          </a:bodyPr>
          <a:lstStyle/>
          <a:p>
            <a:pPr algn="l">
              <a:defRPr sz="1875" b="0">
                <a:solidFill>
                  <a:srgbClr val="102A43"/>
                </a:solidFill>
                <a:latin typeface="Arial"/>
                <a:ea typeface="Arial"/>
                <a:cs typeface="Arial"/>
              </a:defRPr>
            </a:pPr>
            <a:r>
              <a:rPr sz="1875" b="0">
                <a:solidFill>
                  <a:srgbClr val="102A43"/>
                </a:solidFill>
                <a:latin typeface="Arial"/>
                <a:ea typeface="Arial"/>
                <a:cs typeface="Arial"/>
              </a:rPr>
              <a:t>Khi train offline,</a:t>
            </a:r>
          </a:p>
          <a:p>
            <a:pPr algn="l">
              <a:defRPr sz="1875" b="0">
                <a:solidFill>
                  <a:srgbClr val="102A43"/>
                </a:solidFill>
                <a:latin typeface="Arial"/>
                <a:ea typeface="Arial"/>
                <a:cs typeface="Arial"/>
              </a:defRPr>
            </a:pPr>
            <a:r>
              <a:rPr sz="1875" b="0">
                <a:solidFill>
                  <a:srgbClr val="102A43"/>
                </a:solidFill>
                <a:latin typeface="Arial"/>
                <a:ea typeface="Arial"/>
                <a:cs typeface="Arial"/>
              </a:rPr>
              <a:t>hostname_match lấy</a:t>
            </a:r>
          </a:p>
          <a:p>
            <a:pPr algn="l">
              <a:defRPr sz="1875" b="0">
                <a:solidFill>
                  <a:srgbClr val="102A43"/>
                </a:solidFill>
                <a:latin typeface="Arial"/>
                <a:ea typeface="Arial"/>
                <a:cs typeface="Arial"/>
              </a:defRPr>
            </a:pPr>
            <a:r>
              <a:rPr sz="1875" b="0">
                <a:solidFill>
                  <a:srgbClr val="102A43"/>
                </a:solidFill>
                <a:latin typeface="Arial"/>
                <a:ea typeface="Arial"/>
                <a:cs typeface="Arial"/>
              </a:rPr>
              <a:t>mặc định từ scheme URL.</a:t>
            </a:r>
          </a:p>
        </p:txBody>
      </p:sp>
      <p:sp>
        <p:nvSpPr>
          <p:cNvPr id="7" name="text-5">
            <a:extLst>
              <a:ext uri="{FF2B5EF4-FFF2-40B4-BE49-F238E27FC236}">
                <a16:creationId xmlns:a16="http://schemas.microsoft.com/office/drawing/2014/main" id="{FFB6DA92-3356-4B8D-A989-DA1F77DC3890}"/>
              </a:ext>
            </a:extLst>
          </p:cNvPr>
          <p:cNvSpPr>
            <a:spLocks noGrp="1"/>
          </p:cNvSpPr>
          <p:nvPr/>
        </p:nvSpPr>
        <p:spPr>
          <a:xfrm>
            <a:off x="609600" y="6000750"/>
            <a:ext cx="10668000" cy="400050"/>
          </a:xfrm>
          <a:prstGeom prst="rect">
            <a:avLst/>
          </a:prstGeom>
          <a:noFill/>
          <a:ln w="0">
            <a:noFill/>
          </a:ln>
        </p:spPr>
        <p:txBody>
          <a:bodyPr>
            <a:noAutofit/>
          </a:bodyPr>
          <a:lstStyle/>
          <a:p>
            <a:pPr algn="l">
              <a:defRPr sz="1425" b="0">
                <a:solidFill>
                  <a:srgbClr val="526777"/>
                </a:solidFill>
                <a:latin typeface="Arial"/>
                <a:ea typeface="Arial"/>
                <a:cs typeface="Arial"/>
              </a:defRPr>
            </a:pPr>
            <a:r>
              <a:rPr sz="1425" b="0">
                <a:solidFill>
                  <a:srgbClr val="526777"/>
                </a:solidFill>
                <a:latin typeface="Arial"/>
                <a:ea typeface="Arial"/>
                <a:cs typeface="Arial"/>
              </a:rPr>
              <a:t>Gain phản ánh cách mô hình dùng dữ liệu huấn luyện, không phải quan hệ nhân quả.</a:t>
            </a:r>
          </a:p>
        </p:txBody>
      </p:sp>
    </p:spTree>
    <p:extLst>
      <p:ext uri="{BB962C8B-B14F-4D97-AF65-F5344CB8AC3E}">
        <p14:creationId xmlns:p14="http://schemas.microsoft.com/office/powerpoint/2010/main" val="364563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6A1F2C22-4D08-4A98-9037-5603D6EE6E4F}"/>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Danh sách đen bổ sung bằng chứng đã biết</a:t>
            </a:r>
          </a:p>
        </p:txBody>
      </p:sp>
      <p:sp>
        <p:nvSpPr>
          <p:cNvPr id="2" name="text-1">
            <a:extLst>
              <a:ext uri="{FF2B5EF4-FFF2-40B4-BE49-F238E27FC236}">
                <a16:creationId xmlns:a16="http://schemas.microsoft.com/office/drawing/2014/main" id="{7731DA8C-59C3-46A4-96A4-0E4B9E1D231C}"/>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12</a:t>
            </a:r>
          </a:p>
        </p:txBody>
      </p:sp>
      <p:graphicFrame>
        <p:nvGraphicFramePr>
          <p:cNvPr id="10" name="Table 9"/>
          <p:cNvGraphicFramePr/>
          <p:nvPr/>
        </p:nvGraphicFramePr>
        <p:xfrm>
          <a:off x="609600" y="1571625"/>
          <a:ext cx="10972800" cy="2514600"/>
        </p:xfrm>
        <a:graphic>
          <a:graphicData uri="http://schemas.openxmlformats.org/drawingml/2006/table">
            <a:tbl>
              <a:tblPr/>
              <a:tblGrid>
                <a:gridCol w="3381375">
                  <a:extLst>
                    <a:ext uri="{9D8B030D-6E8A-4147-A177-3AD203B41FA5}">
                      <a16:colId xmlns:a16="http://schemas.microsoft.com/office/drawing/2014/main" val="20000"/>
                    </a:ext>
                  </a:extLst>
                </a:gridCol>
                <a:gridCol w="34004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8650">
                <a:tc>
                  <a:txBody>
                    <a:bodyPr/>
                    <a:lstStyle/>
                    <a:p>
                      <a:r>
                        <a:rPr sz="1950" b="1">
                          <a:solidFill>
                            <a:srgbClr val="FFFFFF"/>
                          </a:solidFill>
                          <a:latin typeface="Arial"/>
                          <a:ea typeface="Arial"/>
                          <a:cs typeface="Arial"/>
                        </a:rPr>
                        <a:t>Nguồn feed</a:t>
                      </a:r>
                    </a:p>
                  </a:txBody>
                  <a:tcPr marL="152400" marR="133350" marT="95250" marB="95250">
                    <a:solidFill>
                      <a:srgbClr val="102A43"/>
                    </a:solidFill>
                  </a:tcPr>
                </a:tc>
                <a:tc>
                  <a:txBody>
                    <a:bodyPr/>
                    <a:lstStyle/>
                    <a:p>
                      <a:r>
                        <a:rPr sz="1950" b="1">
                          <a:solidFill>
                            <a:srgbClr val="FFFFFF"/>
                          </a:solidFill>
                          <a:latin typeface="Arial"/>
                          <a:ea typeface="Arial"/>
                          <a:cs typeface="Arial"/>
                        </a:rPr>
                        <a:t>Loại dữ liệu</a:t>
                      </a:r>
                    </a:p>
                  </a:txBody>
                  <a:tcPr marL="152400" marR="133350" marT="95250" marB="95250">
                    <a:solidFill>
                      <a:srgbClr val="102A43"/>
                    </a:solidFill>
                  </a:tcPr>
                </a:tc>
                <a:tc>
                  <a:txBody>
                    <a:bodyPr/>
                    <a:lstStyle/>
                    <a:p>
                      <a:r>
                        <a:rPr sz="1950" b="1">
                          <a:solidFill>
                            <a:srgbClr val="FFFFFF"/>
                          </a:solidFill>
                          <a:latin typeface="Arial"/>
                          <a:ea typeface="Arial"/>
                          <a:cs typeface="Arial"/>
                        </a:rPr>
                        <a:t>Snapshot 28/09/2026</a:t>
                      </a:r>
                    </a:p>
                  </a:txBody>
                  <a:tcPr marL="152400" marR="133350" marT="95250" marB="95250">
                    <a:solidFill>
                      <a:srgbClr val="102A43"/>
                    </a:solidFill>
                  </a:tcPr>
                </a:tc>
                <a:extLst>
                  <a:ext uri="{0D108BD9-81ED-4DB2-BD59-A6C34878D82A}">
                    <a16:rowId xmlns:a16="http://schemas.microsoft.com/office/drawing/2014/main" val="10000"/>
                  </a:ext>
                </a:extLst>
              </a:tr>
              <a:tr h="628650">
                <a:tc>
                  <a:txBody>
                    <a:bodyPr/>
                    <a:lstStyle/>
                    <a:p>
                      <a:r>
                        <a:rPr sz="1950">
                          <a:solidFill>
                            <a:srgbClr val="102A43"/>
                          </a:solidFill>
                          <a:latin typeface="Arial"/>
                          <a:ea typeface="Arial"/>
                          <a:cs typeface="Arial"/>
                        </a:rPr>
                        <a:t>OpenPhish</a:t>
                      </a:r>
                    </a:p>
                  </a:txBody>
                  <a:tcPr marL="152400" marR="133350" marT="95250" marB="95250">
                    <a:solidFill>
                      <a:srgbClr val="FFFFFF"/>
                    </a:solidFill>
                  </a:tcPr>
                </a:tc>
                <a:tc>
                  <a:txBody>
                    <a:bodyPr/>
                    <a:lstStyle/>
                    <a:p>
                      <a:r>
                        <a:rPr sz="1950">
                          <a:solidFill>
                            <a:srgbClr val="102A43"/>
                          </a:solidFill>
                          <a:latin typeface="Arial"/>
                          <a:ea typeface="Arial"/>
                          <a:cs typeface="Arial"/>
                        </a:rPr>
                        <a:t>URL phishing</a:t>
                      </a:r>
                    </a:p>
                  </a:txBody>
                  <a:tcPr marL="152400" marR="133350" marT="95250" marB="95250">
                    <a:solidFill>
                      <a:srgbClr val="FFFFFF"/>
                    </a:solidFill>
                  </a:tcPr>
                </a:tc>
                <a:tc>
                  <a:txBody>
                    <a:bodyPr/>
                    <a:lstStyle/>
                    <a:p>
                      <a:r>
                        <a:rPr sz="1950">
                          <a:solidFill>
                            <a:srgbClr val="102A43"/>
                          </a:solidFill>
                          <a:latin typeface="Arial"/>
                          <a:ea typeface="Arial"/>
                          <a:cs typeface="Arial"/>
                        </a:rPr>
                        <a:t>300 URL</a:t>
                      </a:r>
                    </a:p>
                  </a:txBody>
                  <a:tcPr marL="152400" marR="133350" marT="95250" marB="95250">
                    <a:solidFill>
                      <a:srgbClr val="FFFFFF"/>
                    </a:solidFill>
                  </a:tcPr>
                </a:tc>
                <a:extLst>
                  <a:ext uri="{0D108BD9-81ED-4DB2-BD59-A6C34878D82A}">
                    <a16:rowId xmlns:a16="http://schemas.microsoft.com/office/drawing/2014/main" val="10001"/>
                  </a:ext>
                </a:extLst>
              </a:tr>
              <a:tr h="628650">
                <a:tc>
                  <a:txBody>
                    <a:bodyPr/>
                    <a:lstStyle/>
                    <a:p>
                      <a:r>
                        <a:rPr sz="1950">
                          <a:solidFill>
                            <a:srgbClr val="102A43"/>
                          </a:solidFill>
                          <a:latin typeface="Arial"/>
                          <a:ea typeface="Arial"/>
                          <a:cs typeface="Arial"/>
                        </a:rPr>
                        <a:t>URLhaus</a:t>
                      </a:r>
                    </a:p>
                  </a:txBody>
                  <a:tcPr marL="152400" marR="133350" marT="95250" marB="95250">
                    <a:solidFill>
                      <a:srgbClr val="FFFFFF"/>
                    </a:solidFill>
                  </a:tcPr>
                </a:tc>
                <a:tc>
                  <a:txBody>
                    <a:bodyPr/>
                    <a:lstStyle/>
                    <a:p>
                      <a:r>
                        <a:rPr sz="1950">
                          <a:solidFill>
                            <a:srgbClr val="102A43"/>
                          </a:solidFill>
                          <a:latin typeface="Arial"/>
                          <a:ea typeface="Arial"/>
                          <a:cs typeface="Arial"/>
                        </a:rPr>
                        <a:t>URL độc hại</a:t>
                      </a:r>
                    </a:p>
                  </a:txBody>
                  <a:tcPr marL="152400" marR="133350" marT="95250" marB="95250">
                    <a:solidFill>
                      <a:srgbClr val="FFFFFF"/>
                    </a:solidFill>
                  </a:tcPr>
                </a:tc>
                <a:tc>
                  <a:txBody>
                    <a:bodyPr/>
                    <a:lstStyle/>
                    <a:p>
                      <a:r>
                        <a:rPr sz="1950">
                          <a:solidFill>
                            <a:srgbClr val="102A43"/>
                          </a:solidFill>
                          <a:latin typeface="Arial"/>
                          <a:ea typeface="Arial"/>
                          <a:cs typeface="Arial"/>
                        </a:rPr>
                        <a:t>16.542 URL</a:t>
                      </a:r>
                    </a:p>
                  </a:txBody>
                  <a:tcPr marL="152400" marR="133350" marT="95250" marB="95250">
                    <a:solidFill>
                      <a:srgbClr val="FFFFFF"/>
                    </a:solidFill>
                  </a:tcPr>
                </a:tc>
                <a:extLst>
                  <a:ext uri="{0D108BD9-81ED-4DB2-BD59-A6C34878D82A}">
                    <a16:rowId xmlns:a16="http://schemas.microsoft.com/office/drawing/2014/main" val="10002"/>
                  </a:ext>
                </a:extLst>
              </a:tr>
              <a:tr h="628650">
                <a:tc>
                  <a:txBody>
                    <a:bodyPr/>
                    <a:lstStyle/>
                    <a:p>
                      <a:r>
                        <a:rPr sz="1950">
                          <a:solidFill>
                            <a:srgbClr val="102A43"/>
                          </a:solidFill>
                          <a:latin typeface="Arial"/>
                          <a:ea typeface="Arial"/>
                          <a:cs typeface="Arial"/>
                        </a:rPr>
                        <a:t>Phishing.Database</a:t>
                      </a:r>
                    </a:p>
                  </a:txBody>
                  <a:tcPr marL="152400" marR="133350" marT="95250" marB="95250">
                    <a:solidFill>
                      <a:srgbClr val="FFFFFF"/>
                    </a:solidFill>
                  </a:tcPr>
                </a:tc>
                <a:tc>
                  <a:txBody>
                    <a:bodyPr/>
                    <a:lstStyle/>
                    <a:p>
                      <a:r>
                        <a:rPr sz="1950">
                          <a:solidFill>
                            <a:srgbClr val="102A43"/>
                          </a:solidFill>
                          <a:latin typeface="Arial"/>
                          <a:ea typeface="Arial"/>
                          <a:cs typeface="Arial"/>
                        </a:rPr>
                        <a:t>Tên miền phishing</a:t>
                      </a:r>
                    </a:p>
                  </a:txBody>
                  <a:tcPr marL="152400" marR="133350" marT="95250" marB="95250">
                    <a:solidFill>
                      <a:srgbClr val="FFFFFF"/>
                    </a:solidFill>
                  </a:tcPr>
                </a:tc>
                <a:tc>
                  <a:txBody>
                    <a:bodyPr/>
                    <a:lstStyle/>
                    <a:p>
                      <a:r>
                        <a:rPr sz="1950">
                          <a:solidFill>
                            <a:srgbClr val="102A43"/>
                          </a:solidFill>
                          <a:latin typeface="Arial"/>
                          <a:ea typeface="Arial"/>
                          <a:cs typeface="Arial"/>
                        </a:rPr>
                        <a:t>167.539 domain</a:t>
                      </a:r>
                    </a:p>
                  </a:txBody>
                  <a:tcPr marL="152400" marR="133350" marT="95250" marB="95250">
                    <a:solidFill>
                      <a:srgbClr val="FFFFFF"/>
                    </a:solidFill>
                  </a:tcPr>
                </a:tc>
                <a:extLst>
                  <a:ext uri="{0D108BD9-81ED-4DB2-BD59-A6C34878D82A}">
                    <a16:rowId xmlns:a16="http://schemas.microsoft.com/office/drawing/2014/main" val="10003"/>
                  </a:ext>
                </a:extLst>
              </a:tr>
            </a:tbl>
          </a:graphicData>
        </a:graphic>
      </p:graphicFrame>
      <p:sp>
        <p:nvSpPr>
          <p:cNvPr id="4" name="text-2">
            <a:extLst>
              <a:ext uri="{FF2B5EF4-FFF2-40B4-BE49-F238E27FC236}">
                <a16:creationId xmlns:a16="http://schemas.microsoft.com/office/drawing/2014/main" id="{AFFDCE79-5A4F-4871-BAEE-5073F488CB59}"/>
              </a:ext>
            </a:extLst>
          </p:cNvPr>
          <p:cNvSpPr>
            <a:spLocks noGrp="1"/>
          </p:cNvSpPr>
          <p:nvPr/>
        </p:nvSpPr>
        <p:spPr>
          <a:xfrm>
            <a:off x="609600" y="4505325"/>
            <a:ext cx="409575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16.842</a:t>
            </a:r>
          </a:p>
        </p:txBody>
      </p:sp>
      <p:sp>
        <p:nvSpPr>
          <p:cNvPr id="5" name="text-3">
            <a:extLst>
              <a:ext uri="{FF2B5EF4-FFF2-40B4-BE49-F238E27FC236}">
                <a16:creationId xmlns:a16="http://schemas.microsoft.com/office/drawing/2014/main" id="{BD5B22A2-CEA9-4485-B066-CD34BE916241}"/>
              </a:ext>
            </a:extLst>
          </p:cNvPr>
          <p:cNvSpPr>
            <a:spLocks noGrp="1"/>
          </p:cNvSpPr>
          <p:nvPr/>
        </p:nvSpPr>
        <p:spPr>
          <a:xfrm>
            <a:off x="609600" y="5476875"/>
            <a:ext cx="409575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URL trong feed hợp nhất</a:t>
            </a:r>
          </a:p>
        </p:txBody>
      </p:sp>
      <p:sp>
        <p:nvSpPr>
          <p:cNvPr id="6" name="text-4">
            <a:extLst>
              <a:ext uri="{FF2B5EF4-FFF2-40B4-BE49-F238E27FC236}">
                <a16:creationId xmlns:a16="http://schemas.microsoft.com/office/drawing/2014/main" id="{AB1322FE-B90B-4C4C-8D30-2A09D0E4FF71}"/>
              </a:ext>
            </a:extLst>
          </p:cNvPr>
          <p:cNvSpPr>
            <a:spLocks noGrp="1"/>
          </p:cNvSpPr>
          <p:nvPr/>
        </p:nvSpPr>
        <p:spPr>
          <a:xfrm>
            <a:off x="5924550" y="4505325"/>
            <a:ext cx="5143500" cy="904875"/>
          </a:xfrm>
          <a:prstGeom prst="rect">
            <a:avLst/>
          </a:prstGeom>
          <a:noFill/>
          <a:ln w="0">
            <a:noFill/>
          </a:ln>
        </p:spPr>
        <p:txBody>
          <a:bodyPr>
            <a:noAutofit/>
          </a:bodyPr>
          <a:lstStyle/>
          <a:p>
            <a:pPr algn="l">
              <a:defRPr sz="5100" b="1">
                <a:solidFill>
                  <a:srgbClr val="007F86"/>
                </a:solidFill>
                <a:latin typeface="Arial"/>
                <a:ea typeface="Arial"/>
                <a:cs typeface="Arial"/>
              </a:defRPr>
            </a:pPr>
            <a:r>
              <a:rPr sz="5100" b="1">
                <a:solidFill>
                  <a:srgbClr val="007F86"/>
                </a:solidFill>
                <a:latin typeface="Arial"/>
                <a:ea typeface="Arial"/>
                <a:cs typeface="Arial"/>
              </a:rPr>
              <a:t>169.472</a:t>
            </a:r>
          </a:p>
        </p:txBody>
      </p:sp>
      <p:sp>
        <p:nvSpPr>
          <p:cNvPr id="7" name="text-5">
            <a:extLst>
              <a:ext uri="{FF2B5EF4-FFF2-40B4-BE49-F238E27FC236}">
                <a16:creationId xmlns:a16="http://schemas.microsoft.com/office/drawing/2014/main" id="{82BFABC1-DB0D-43BE-B0A4-5FCF27D09977}"/>
              </a:ext>
            </a:extLst>
          </p:cNvPr>
          <p:cNvSpPr>
            <a:spLocks noGrp="1"/>
          </p:cNvSpPr>
          <p:nvPr/>
        </p:nvSpPr>
        <p:spPr>
          <a:xfrm>
            <a:off x="5924550" y="5476875"/>
            <a:ext cx="5143500" cy="85725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Domain trong feed hợp nhất</a:t>
            </a:r>
          </a:p>
        </p:txBody>
      </p:sp>
    </p:spTree>
    <p:extLst>
      <p:ext uri="{BB962C8B-B14F-4D97-AF65-F5344CB8AC3E}">
        <p14:creationId xmlns:p14="http://schemas.microsoft.com/office/powerpoint/2010/main" val="2099045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4705D0C9-B62D-45A6-B0E1-1283B2BE8B41}"/>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Risk Engine tổng hợp điểm rủi ro</a:t>
            </a:r>
          </a:p>
        </p:txBody>
      </p:sp>
      <p:sp>
        <p:nvSpPr>
          <p:cNvPr id="2" name="text-1">
            <a:extLst>
              <a:ext uri="{FF2B5EF4-FFF2-40B4-BE49-F238E27FC236}">
                <a16:creationId xmlns:a16="http://schemas.microsoft.com/office/drawing/2014/main" id="{87BC2704-A6D3-4F1D-9DFC-6570CF94B146}"/>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13</a:t>
            </a:r>
          </a:p>
        </p:txBody>
      </p:sp>
      <p:sp>
        <p:nvSpPr>
          <p:cNvPr id="3" name="text-2">
            <a:extLst>
              <a:ext uri="{FF2B5EF4-FFF2-40B4-BE49-F238E27FC236}">
                <a16:creationId xmlns:a16="http://schemas.microsoft.com/office/drawing/2014/main" id="{E52FF8A6-6BAC-4804-A291-5DED74B79D22}"/>
              </a:ext>
            </a:extLst>
          </p:cNvPr>
          <p:cNvSpPr>
            <a:spLocks noGrp="1"/>
          </p:cNvSpPr>
          <p:nvPr/>
        </p:nvSpPr>
        <p:spPr>
          <a:xfrm>
            <a:off x="609600" y="1628775"/>
            <a:ext cx="10972800" cy="733425"/>
          </a:xfrm>
          <a:prstGeom prst="rect">
            <a:avLst/>
          </a:prstGeom>
          <a:noFill/>
          <a:ln w="0">
            <a:noFill/>
          </a:ln>
        </p:spPr>
        <p:txBody>
          <a:bodyPr>
            <a:noAutofit/>
          </a:bodyPr>
          <a:lstStyle/>
          <a:p>
            <a:pPr algn="l">
              <a:defRPr sz="3075" b="1">
                <a:solidFill>
                  <a:srgbClr val="007F86"/>
                </a:solidFill>
                <a:latin typeface="Arial"/>
                <a:ea typeface="Arial"/>
                <a:cs typeface="Arial"/>
              </a:defRPr>
            </a:pPr>
            <a:r>
              <a:rPr sz="3075" b="1">
                <a:solidFill>
                  <a:srgbClr val="007F86"/>
                </a:solidFill>
                <a:latin typeface="Arial"/>
                <a:ea typeface="Arial"/>
                <a:cs typeface="Arial"/>
              </a:rPr>
              <a:t>R = 0,55 × S + 0,45 × (100 × p)</a:t>
            </a:r>
          </a:p>
        </p:txBody>
      </p:sp>
      <p:sp>
        <p:nvSpPr>
          <p:cNvPr id="4" name="text-3">
            <a:extLst>
              <a:ext uri="{FF2B5EF4-FFF2-40B4-BE49-F238E27FC236}">
                <a16:creationId xmlns:a16="http://schemas.microsoft.com/office/drawing/2014/main" id="{06CA7525-9D1C-4A83-9A1A-BA892B2A4F0F}"/>
              </a:ext>
            </a:extLst>
          </p:cNvPr>
          <p:cNvSpPr>
            <a:spLocks noGrp="1"/>
          </p:cNvSpPr>
          <p:nvPr/>
        </p:nvSpPr>
        <p:spPr>
          <a:xfrm>
            <a:off x="609600" y="2486025"/>
            <a:ext cx="10668000" cy="428625"/>
          </a:xfrm>
          <a:prstGeom prst="rect">
            <a:avLst/>
          </a:prstGeom>
          <a:noFill/>
          <a:ln w="0">
            <a:noFill/>
          </a:ln>
        </p:spPr>
        <p:txBody>
          <a:bodyPr>
            <a:noAutofit/>
          </a:bodyPr>
          <a:lstStyle/>
          <a:p>
            <a:pPr algn="l">
              <a:defRPr sz="1800" b="0">
                <a:solidFill>
                  <a:srgbClr val="526777"/>
                </a:solidFill>
                <a:latin typeface="Arial"/>
                <a:ea typeface="Arial"/>
                <a:cs typeface="Arial"/>
              </a:defRPr>
            </a:pPr>
            <a:r>
              <a:rPr sz="1800" b="0">
                <a:solidFill>
                  <a:srgbClr val="526777"/>
                </a:solidFill>
                <a:latin typeface="Arial"/>
                <a:ea typeface="Arial"/>
                <a:cs typeface="Arial"/>
              </a:rPr>
              <a:t>S: điểm luật, p: xác suất ML. Áp dụng khi không khớp danh sách đen.</a:t>
            </a:r>
          </a:p>
        </p:txBody>
      </p:sp>
      <p:graphicFrame>
        <p:nvGraphicFramePr>
          <p:cNvPr id="12" name="Table 11"/>
          <p:cNvGraphicFramePr/>
          <p:nvPr/>
        </p:nvGraphicFramePr>
        <p:xfrm>
          <a:off x="609600" y="3314700"/>
          <a:ext cx="10972800" cy="1371600"/>
        </p:xfrm>
        <a:graphic>
          <a:graphicData uri="http://schemas.openxmlformats.org/drawingml/2006/table">
            <a:tbl>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85800">
                <a:tc>
                  <a:txBody>
                    <a:bodyPr/>
                    <a:lstStyle/>
                    <a:p>
                      <a:r>
                        <a:rPr sz="2025" b="1">
                          <a:solidFill>
                            <a:srgbClr val="FFFFFF"/>
                          </a:solidFill>
                          <a:latin typeface="Arial"/>
                          <a:ea typeface="Arial"/>
                          <a:cs typeface="Arial"/>
                        </a:rPr>
                        <a:t>0–39</a:t>
                      </a:r>
                    </a:p>
                  </a:txBody>
                  <a:tcPr marL="152400" marR="133350" marT="95250" marB="95250">
                    <a:solidFill>
                      <a:srgbClr val="102A43"/>
                    </a:solidFill>
                  </a:tcPr>
                </a:tc>
                <a:tc>
                  <a:txBody>
                    <a:bodyPr/>
                    <a:lstStyle/>
                    <a:p>
                      <a:r>
                        <a:rPr sz="2025" b="1">
                          <a:solidFill>
                            <a:srgbClr val="FFFFFF"/>
                          </a:solidFill>
                          <a:latin typeface="Arial"/>
                          <a:ea typeface="Arial"/>
                          <a:cs typeface="Arial"/>
                        </a:rPr>
                        <a:t>40–64</a:t>
                      </a:r>
                    </a:p>
                  </a:txBody>
                  <a:tcPr marL="152400" marR="133350" marT="95250" marB="95250">
                    <a:solidFill>
                      <a:srgbClr val="102A43"/>
                    </a:solidFill>
                  </a:tcPr>
                </a:tc>
                <a:tc>
                  <a:txBody>
                    <a:bodyPr/>
                    <a:lstStyle/>
                    <a:p>
                      <a:r>
                        <a:rPr sz="2025" b="1">
                          <a:solidFill>
                            <a:srgbClr val="FFFFFF"/>
                          </a:solidFill>
                          <a:latin typeface="Arial"/>
                          <a:ea typeface="Arial"/>
                          <a:cs typeface="Arial"/>
                        </a:rPr>
                        <a:t>65–84</a:t>
                      </a:r>
                    </a:p>
                  </a:txBody>
                  <a:tcPr marL="152400" marR="133350" marT="95250" marB="95250">
                    <a:solidFill>
                      <a:srgbClr val="102A43"/>
                    </a:solidFill>
                  </a:tcPr>
                </a:tc>
                <a:tc>
                  <a:txBody>
                    <a:bodyPr/>
                    <a:lstStyle/>
                    <a:p>
                      <a:r>
                        <a:rPr sz="2025" b="1">
                          <a:solidFill>
                            <a:srgbClr val="FFFFFF"/>
                          </a:solidFill>
                          <a:latin typeface="Arial"/>
                          <a:ea typeface="Arial"/>
                          <a:cs typeface="Arial"/>
                        </a:rPr>
                        <a:t>85–100</a:t>
                      </a:r>
                    </a:p>
                  </a:txBody>
                  <a:tcPr marL="152400" marR="133350" marT="95250" marB="95250">
                    <a:solidFill>
                      <a:srgbClr val="102A43"/>
                    </a:solidFill>
                  </a:tcPr>
                </a:tc>
                <a:extLst>
                  <a:ext uri="{0D108BD9-81ED-4DB2-BD59-A6C34878D82A}">
                    <a16:rowId xmlns:a16="http://schemas.microsoft.com/office/drawing/2014/main" val="10000"/>
                  </a:ext>
                </a:extLst>
              </a:tr>
              <a:tr h="685800">
                <a:tc>
                  <a:txBody>
                    <a:bodyPr/>
                    <a:lstStyle/>
                    <a:p>
                      <a:r>
                        <a:rPr sz="2025">
                          <a:solidFill>
                            <a:srgbClr val="102A43"/>
                          </a:solidFill>
                          <a:latin typeface="Arial"/>
                          <a:ea typeface="Arial"/>
                          <a:cs typeface="Arial"/>
                        </a:rPr>
                        <a:t>Thấp</a:t>
                      </a:r>
                    </a:p>
                  </a:txBody>
                  <a:tcPr marL="152400" marR="133350" marT="95250" marB="95250">
                    <a:solidFill>
                      <a:srgbClr val="FFFFFF"/>
                    </a:solidFill>
                  </a:tcPr>
                </a:tc>
                <a:tc>
                  <a:txBody>
                    <a:bodyPr/>
                    <a:lstStyle/>
                    <a:p>
                      <a:r>
                        <a:rPr sz="2025">
                          <a:solidFill>
                            <a:srgbClr val="102A43"/>
                          </a:solidFill>
                          <a:latin typeface="Arial"/>
                          <a:ea typeface="Arial"/>
                          <a:cs typeface="Arial"/>
                        </a:rPr>
                        <a:t>Trung bình</a:t>
                      </a:r>
                    </a:p>
                  </a:txBody>
                  <a:tcPr marL="152400" marR="133350" marT="95250" marB="95250">
                    <a:solidFill>
                      <a:srgbClr val="FFFFFF"/>
                    </a:solidFill>
                  </a:tcPr>
                </a:tc>
                <a:tc>
                  <a:txBody>
                    <a:bodyPr/>
                    <a:lstStyle/>
                    <a:p>
                      <a:r>
                        <a:rPr sz="2025">
                          <a:solidFill>
                            <a:srgbClr val="102A43"/>
                          </a:solidFill>
                          <a:latin typeface="Arial"/>
                          <a:ea typeface="Arial"/>
                          <a:cs typeface="Arial"/>
                        </a:rPr>
                        <a:t>Cao</a:t>
                      </a:r>
                    </a:p>
                  </a:txBody>
                  <a:tcPr marL="152400" marR="133350" marT="95250" marB="95250">
                    <a:solidFill>
                      <a:srgbClr val="FFFFFF"/>
                    </a:solidFill>
                  </a:tcPr>
                </a:tc>
                <a:tc>
                  <a:txBody>
                    <a:bodyPr/>
                    <a:lstStyle/>
                    <a:p>
                      <a:r>
                        <a:rPr sz="2025">
                          <a:solidFill>
                            <a:srgbClr val="102A43"/>
                          </a:solidFill>
                          <a:latin typeface="Arial"/>
                          <a:ea typeface="Arial"/>
                          <a:cs typeface="Arial"/>
                        </a:rPr>
                        <a:t>Nghiêm trọng</a:t>
                      </a:r>
                    </a:p>
                  </a:txBody>
                  <a:tcPr marL="152400" marR="133350" marT="95250" marB="95250">
                    <a:solidFill>
                      <a:srgbClr val="FFFFFF"/>
                    </a:solidFill>
                  </a:tcPr>
                </a:tc>
                <a:extLst>
                  <a:ext uri="{0D108BD9-81ED-4DB2-BD59-A6C34878D82A}">
                    <a16:rowId xmlns:a16="http://schemas.microsoft.com/office/drawing/2014/main" val="10001"/>
                  </a:ext>
                </a:extLst>
              </a:tr>
            </a:tbl>
          </a:graphicData>
        </a:graphic>
      </p:graphicFrame>
      <p:sp>
        <p:nvSpPr>
          <p:cNvPr id="6" name="text-4">
            <a:extLst>
              <a:ext uri="{FF2B5EF4-FFF2-40B4-BE49-F238E27FC236}">
                <a16:creationId xmlns:a16="http://schemas.microsoft.com/office/drawing/2014/main" id="{F5F5F3FB-42C3-4CF7-A277-C9BF929DD04B}"/>
              </a:ext>
            </a:extLst>
          </p:cNvPr>
          <p:cNvSpPr>
            <a:spLocks noGrp="1"/>
          </p:cNvSpPr>
          <p:nvPr/>
        </p:nvSpPr>
        <p:spPr>
          <a:xfrm>
            <a:off x="609600" y="5048250"/>
            <a:ext cx="5095875" cy="857250"/>
          </a:xfrm>
          <a:prstGeom prst="rect">
            <a:avLst/>
          </a:prstGeom>
          <a:noFill/>
          <a:ln w="0">
            <a:noFill/>
          </a:ln>
        </p:spPr>
        <p:txBody>
          <a:bodyPr>
            <a:noAutofit/>
          </a:bodyPr>
          <a:lstStyle/>
          <a:p>
            <a:pPr algn="l">
              <a:defRPr sz="2025" b="0">
                <a:solidFill>
                  <a:srgbClr val="102A43"/>
                </a:solidFill>
                <a:latin typeface="Arial"/>
                <a:ea typeface="Arial"/>
                <a:cs typeface="Arial"/>
              </a:defRPr>
            </a:pPr>
            <a:r>
              <a:rPr sz="2025" b="0">
                <a:solidFill>
                  <a:srgbClr val="102A43"/>
                </a:solidFill>
                <a:latin typeface="Arial"/>
                <a:ea typeface="Arial"/>
                <a:cs typeface="Arial"/>
              </a:rPr>
              <a:t>Blacklist: điểm tối thiểu 85</a:t>
            </a:r>
          </a:p>
          <a:p>
            <a:pPr algn="l">
              <a:defRPr sz="2025" b="0">
                <a:solidFill>
                  <a:srgbClr val="102A43"/>
                </a:solidFill>
                <a:latin typeface="Arial"/>
                <a:ea typeface="Arial"/>
                <a:cs typeface="Arial"/>
              </a:defRPr>
            </a:pPr>
            <a:r>
              <a:rPr sz="2025" b="0">
                <a:solidFill>
                  <a:srgbClr val="102A43"/>
                </a:solidFill>
                <a:latin typeface="Arial"/>
                <a:ea typeface="Arial"/>
                <a:cs typeface="Arial"/>
              </a:rPr>
              <a:t>Thiếu mô hình: dùng điểm luật</a:t>
            </a:r>
          </a:p>
        </p:txBody>
      </p:sp>
      <p:sp>
        <p:nvSpPr>
          <p:cNvPr id="7" name="text-5">
            <a:extLst>
              <a:ext uri="{FF2B5EF4-FFF2-40B4-BE49-F238E27FC236}">
                <a16:creationId xmlns:a16="http://schemas.microsoft.com/office/drawing/2014/main" id="{CC90B057-E1E9-464B-81AD-5CAB21A741BB}"/>
              </a:ext>
            </a:extLst>
          </p:cNvPr>
          <p:cNvSpPr>
            <a:spLocks noGrp="1"/>
          </p:cNvSpPr>
          <p:nvPr/>
        </p:nvSpPr>
        <p:spPr>
          <a:xfrm>
            <a:off x="6324600" y="5048250"/>
            <a:ext cx="5191125" cy="904875"/>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S ≥ 50 và p ≥ 0,5: đổi trọng số</a:t>
            </a:r>
          </a:p>
          <a:p>
            <a:pPr algn="l">
              <a:defRPr sz="1950" b="0">
                <a:solidFill>
                  <a:srgbClr val="102A43"/>
                </a:solidFill>
                <a:latin typeface="Arial"/>
                <a:ea typeface="Arial"/>
                <a:cs typeface="Arial"/>
              </a:defRPr>
            </a:pPr>
            <a:r>
              <a:rPr sz="1950" b="0">
                <a:solidFill>
                  <a:srgbClr val="102A43"/>
                </a:solidFill>
                <a:latin typeface="Arial"/>
                <a:ea typeface="Arial"/>
                <a:cs typeface="Arial"/>
              </a:rPr>
              <a:t>Luật 61,75%, ML 38,25%</a:t>
            </a:r>
          </a:p>
        </p:txBody>
      </p:sp>
    </p:spTree>
    <p:extLst>
      <p:ext uri="{BB962C8B-B14F-4D97-AF65-F5344CB8AC3E}">
        <p14:creationId xmlns:p14="http://schemas.microsoft.com/office/powerpoint/2010/main" val="376370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C736A175-380B-4336-86C5-9EC5A57FFAA8}"/>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An toàn khi quét và kiểm thử</a:t>
            </a:r>
          </a:p>
        </p:txBody>
      </p:sp>
      <p:sp>
        <p:nvSpPr>
          <p:cNvPr id="2" name="text-1">
            <a:extLst>
              <a:ext uri="{FF2B5EF4-FFF2-40B4-BE49-F238E27FC236}">
                <a16:creationId xmlns:a16="http://schemas.microsoft.com/office/drawing/2014/main" id="{277732FB-FE36-445D-95A0-77AAB23597E1}"/>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14</a:t>
            </a:r>
          </a:p>
        </p:txBody>
      </p:sp>
      <p:sp>
        <p:nvSpPr>
          <p:cNvPr id="3" name="text-2">
            <a:extLst>
              <a:ext uri="{FF2B5EF4-FFF2-40B4-BE49-F238E27FC236}">
                <a16:creationId xmlns:a16="http://schemas.microsoft.com/office/drawing/2014/main" id="{B8191D2E-D85C-4743-AA92-1EF5DF1D7025}"/>
              </a:ext>
            </a:extLst>
          </p:cNvPr>
          <p:cNvSpPr>
            <a:spLocks noGrp="1"/>
          </p:cNvSpPr>
          <p:nvPr/>
        </p:nvSpPr>
        <p:spPr>
          <a:xfrm>
            <a:off x="609600" y="1666875"/>
            <a:ext cx="328612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Chặn truy cập nội bộ</a:t>
            </a:r>
          </a:p>
        </p:txBody>
      </p:sp>
      <p:sp>
        <p:nvSpPr>
          <p:cNvPr id="4" name="text-3">
            <a:extLst>
              <a:ext uri="{FF2B5EF4-FFF2-40B4-BE49-F238E27FC236}">
                <a16:creationId xmlns:a16="http://schemas.microsoft.com/office/drawing/2014/main" id="{AFC7808C-A4BF-4B37-A7F8-B60CFE8CD813}"/>
              </a:ext>
            </a:extLst>
          </p:cNvPr>
          <p:cNvSpPr>
            <a:spLocks noGrp="1"/>
          </p:cNvSpPr>
          <p:nvPr/>
        </p:nvSpPr>
        <p:spPr>
          <a:xfrm>
            <a:off x="4124325" y="1666875"/>
            <a:ext cx="72961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Kiểm tra DNS / IP và kiểm tra lại mỗi redirect</a:t>
            </a:r>
          </a:p>
        </p:txBody>
      </p:sp>
      <p:sp>
        <p:nvSpPr>
          <p:cNvPr id="5" name="text-4">
            <a:extLst>
              <a:ext uri="{FF2B5EF4-FFF2-40B4-BE49-F238E27FC236}">
                <a16:creationId xmlns:a16="http://schemas.microsoft.com/office/drawing/2014/main" id="{DC4D9B07-C7B6-4689-B743-89472FDA3BE1}"/>
              </a:ext>
            </a:extLst>
          </p:cNvPr>
          <p:cNvSpPr>
            <a:spLocks noGrp="1"/>
          </p:cNvSpPr>
          <p:nvPr/>
        </p:nvSpPr>
        <p:spPr>
          <a:xfrm>
            <a:off x="609600" y="2733675"/>
            <a:ext cx="328612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Giới hạn thu thập</a:t>
            </a:r>
          </a:p>
        </p:txBody>
      </p:sp>
      <p:sp>
        <p:nvSpPr>
          <p:cNvPr id="6" name="text-5">
            <a:extLst>
              <a:ext uri="{FF2B5EF4-FFF2-40B4-BE49-F238E27FC236}">
                <a16:creationId xmlns:a16="http://schemas.microsoft.com/office/drawing/2014/main" id="{7DB72A1F-E091-4367-B5B9-2F350C36E3BF}"/>
              </a:ext>
            </a:extLst>
          </p:cNvPr>
          <p:cNvSpPr>
            <a:spLocks noGrp="1"/>
          </p:cNvSpPr>
          <p:nvPr/>
        </p:nvSpPr>
        <p:spPr>
          <a:xfrm>
            <a:off x="4124325" y="2733675"/>
            <a:ext cx="72961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3 redirect, HTML ≤ 2 MB, kết nối 3 s, đọc 5 s</a:t>
            </a:r>
          </a:p>
        </p:txBody>
      </p:sp>
      <p:sp>
        <p:nvSpPr>
          <p:cNvPr id="7" name="text-6">
            <a:extLst>
              <a:ext uri="{FF2B5EF4-FFF2-40B4-BE49-F238E27FC236}">
                <a16:creationId xmlns:a16="http://schemas.microsoft.com/office/drawing/2014/main" id="{B69EE911-350A-47FB-A610-02B941497F3B}"/>
              </a:ext>
            </a:extLst>
          </p:cNvPr>
          <p:cNvSpPr>
            <a:spLocks noGrp="1"/>
          </p:cNvSpPr>
          <p:nvPr/>
        </p:nvSpPr>
        <p:spPr>
          <a:xfrm>
            <a:off x="609600" y="3800475"/>
            <a:ext cx="328612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Dữ liệu thiếu</a:t>
            </a:r>
          </a:p>
        </p:txBody>
      </p:sp>
      <p:sp>
        <p:nvSpPr>
          <p:cNvPr id="8" name="text-7">
            <a:extLst>
              <a:ext uri="{FF2B5EF4-FFF2-40B4-BE49-F238E27FC236}">
                <a16:creationId xmlns:a16="http://schemas.microsoft.com/office/drawing/2014/main" id="{CE67FD19-0FEE-43D3-B891-4DCCD09EF7EA}"/>
              </a:ext>
            </a:extLst>
          </p:cNvPr>
          <p:cNvSpPr>
            <a:spLocks noGrp="1"/>
          </p:cNvSpPr>
          <p:nvPr/>
        </p:nvSpPr>
        <p:spPr>
          <a:xfrm>
            <a:off x="4124325" y="3800475"/>
            <a:ext cx="72961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Tuổi domain chưa rõ được giữ là unknown</a:t>
            </a:r>
          </a:p>
        </p:txBody>
      </p:sp>
      <p:sp>
        <p:nvSpPr>
          <p:cNvPr id="9" name="text-8">
            <a:extLst>
              <a:ext uri="{FF2B5EF4-FFF2-40B4-BE49-F238E27FC236}">
                <a16:creationId xmlns:a16="http://schemas.microsoft.com/office/drawing/2014/main" id="{99F29B42-1FD0-4473-8BEB-49A4BA4A839F}"/>
              </a:ext>
            </a:extLst>
          </p:cNvPr>
          <p:cNvSpPr>
            <a:spLocks noGrp="1"/>
          </p:cNvSpPr>
          <p:nvPr/>
        </p:nvSpPr>
        <p:spPr>
          <a:xfrm>
            <a:off x="609600" y="5153025"/>
            <a:ext cx="3143250" cy="904875"/>
          </a:xfrm>
          <a:prstGeom prst="rect">
            <a:avLst/>
          </a:prstGeom>
          <a:noFill/>
          <a:ln w="0">
            <a:noFill/>
          </a:ln>
        </p:spPr>
        <p:txBody>
          <a:bodyPr>
            <a:noAutofit/>
          </a:bodyPr>
          <a:lstStyle/>
          <a:p>
            <a:pPr algn="l">
              <a:defRPr sz="4800" b="1">
                <a:solidFill>
                  <a:srgbClr val="007F86"/>
                </a:solidFill>
                <a:latin typeface="Arial"/>
                <a:ea typeface="Arial"/>
                <a:cs typeface="Arial"/>
              </a:defRPr>
            </a:pPr>
            <a:r>
              <a:rPr sz="4800" b="1">
                <a:solidFill>
                  <a:srgbClr val="007F86"/>
                </a:solidFill>
                <a:latin typeface="Arial"/>
                <a:ea typeface="Arial"/>
                <a:cs typeface="Arial"/>
              </a:rPr>
              <a:t>16 / 16</a:t>
            </a:r>
          </a:p>
        </p:txBody>
      </p:sp>
      <p:sp>
        <p:nvSpPr>
          <p:cNvPr id="10" name="text-9">
            <a:extLst>
              <a:ext uri="{FF2B5EF4-FFF2-40B4-BE49-F238E27FC236}">
                <a16:creationId xmlns:a16="http://schemas.microsoft.com/office/drawing/2014/main" id="{DE4A4CDC-3E8E-4F59-A3F5-87C74BB5E6DA}"/>
              </a:ext>
            </a:extLst>
          </p:cNvPr>
          <p:cNvSpPr>
            <a:spLocks noGrp="1"/>
          </p:cNvSpPr>
          <p:nvPr/>
        </p:nvSpPr>
        <p:spPr>
          <a:xfrm>
            <a:off x="4010025" y="5219700"/>
            <a:ext cx="7334250" cy="847725"/>
          </a:xfrm>
          <a:prstGeom prst="rect">
            <a:avLst/>
          </a:prstGeom>
          <a:noFill/>
          <a:ln w="0">
            <a:noFill/>
          </a:ln>
        </p:spPr>
        <p:txBody>
          <a:bodyPr>
            <a:noAutofit/>
          </a:bodyPr>
          <a:lstStyle/>
          <a:p>
            <a:pPr algn="l">
              <a:defRPr sz="2175" b="0">
                <a:solidFill>
                  <a:srgbClr val="102A43"/>
                </a:solidFill>
                <a:latin typeface="Arial"/>
                <a:ea typeface="Arial"/>
                <a:cs typeface="Arial"/>
              </a:defRPr>
            </a:pPr>
            <a:r>
              <a:rPr sz="2175" b="0">
                <a:solidFill>
                  <a:srgbClr val="102A43"/>
                </a:solidFill>
                <a:latin typeface="Arial"/>
                <a:ea typeface="Arial"/>
                <a:cs typeface="Arial"/>
              </a:rPr>
              <a:t>kiểm thử chạy thành công</a:t>
            </a:r>
          </a:p>
          <a:p>
            <a:pPr algn="l">
              <a:defRPr sz="2175" b="0">
                <a:solidFill>
                  <a:srgbClr val="102A43"/>
                </a:solidFill>
                <a:latin typeface="Arial"/>
                <a:ea typeface="Arial"/>
                <a:cs typeface="Arial"/>
              </a:defRPr>
            </a:pPr>
            <a:r>
              <a:rPr sz="2175" b="0">
                <a:solidFill>
                  <a:srgbClr val="102A43"/>
                </a:solidFill>
                <a:latin typeface="Arial"/>
                <a:ea typeface="Arial"/>
                <a:cs typeface="Arial"/>
              </a:rPr>
              <a:t>pytest, ngày 28/09/2026</a:t>
            </a:r>
          </a:p>
        </p:txBody>
      </p:sp>
    </p:spTree>
    <p:extLst>
      <p:ext uri="{BB962C8B-B14F-4D97-AF65-F5344CB8AC3E}">
        <p14:creationId xmlns:p14="http://schemas.microsoft.com/office/powerpoint/2010/main" val="1734616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7" name="text-0">
            <a:extLst>
              <a:ext uri="{FF2B5EF4-FFF2-40B4-BE49-F238E27FC236}">
                <a16:creationId xmlns:a16="http://schemas.microsoft.com/office/drawing/2014/main" id="{5F655EB2-DE21-4E6B-BC8E-E4EE4E0DFC8B}"/>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Demo: nhập URL và xem lịch sử</a:t>
            </a:r>
          </a:p>
        </p:txBody>
      </p:sp>
      <p:sp>
        <p:nvSpPr>
          <p:cNvPr id="2" name="text-1">
            <a:extLst>
              <a:ext uri="{FF2B5EF4-FFF2-40B4-BE49-F238E27FC236}">
                <a16:creationId xmlns:a16="http://schemas.microsoft.com/office/drawing/2014/main" id="{9010C521-1CB3-4CD9-9129-23627211D09F}"/>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15</a:t>
            </a:r>
          </a:p>
        </p:txBody>
      </p:sp>
      <p:pic>
        <p:nvPicPr>
          <p:cNvPr id="9" name="Picture 8"/>
          <p:cNvPicPr>
            <a:picLocks noChangeAspect="1"/>
          </p:cNvPicPr>
          <p:nvPr/>
        </p:nvPicPr>
        <p:blipFill>
          <a:blip r:embed="rId3"/>
          <a:stretch/>
        </p:blipFill>
        <p:spPr>
          <a:xfrm>
            <a:off x="459728" y="1476375"/>
            <a:ext cx="8224543" cy="4629150"/>
          </a:xfrm>
          <a:prstGeom prst="rect">
            <a:avLst/>
          </a:prstGeom>
        </p:spPr>
      </p:pic>
      <p:sp>
        <p:nvSpPr>
          <p:cNvPr id="4" name="text-2">
            <a:extLst>
              <a:ext uri="{FF2B5EF4-FFF2-40B4-BE49-F238E27FC236}">
                <a16:creationId xmlns:a16="http://schemas.microsoft.com/office/drawing/2014/main" id="{62CD92A4-160B-4110-BAD0-EB3CE556A72D}"/>
              </a:ext>
            </a:extLst>
          </p:cNvPr>
          <p:cNvSpPr>
            <a:spLocks noGrp="1"/>
          </p:cNvSpPr>
          <p:nvPr/>
        </p:nvSpPr>
        <p:spPr>
          <a:xfrm>
            <a:off x="9096375" y="2019300"/>
            <a:ext cx="2638425" cy="619125"/>
          </a:xfrm>
          <a:prstGeom prst="rect">
            <a:avLst/>
          </a:prstGeom>
          <a:noFill/>
          <a:ln w="0">
            <a:noFill/>
          </a:ln>
        </p:spPr>
        <p:txBody>
          <a:bodyPr>
            <a:noAutofit/>
          </a:bodyPr>
          <a:lstStyle/>
          <a:p>
            <a:pPr algn="l">
              <a:defRPr sz="2175" b="1">
                <a:solidFill>
                  <a:srgbClr val="007F86"/>
                </a:solidFill>
                <a:latin typeface="Arial"/>
                <a:ea typeface="Arial"/>
                <a:cs typeface="Arial"/>
              </a:defRPr>
            </a:pPr>
            <a:r>
              <a:rPr sz="2175" b="1">
                <a:solidFill>
                  <a:srgbClr val="007F86"/>
                </a:solidFill>
                <a:latin typeface="Arial"/>
                <a:ea typeface="Arial"/>
                <a:cs typeface="Arial"/>
              </a:rPr>
              <a:t>1  Nhập URL</a:t>
            </a:r>
          </a:p>
        </p:txBody>
      </p:sp>
      <p:sp>
        <p:nvSpPr>
          <p:cNvPr id="5" name="text-3">
            <a:extLst>
              <a:ext uri="{FF2B5EF4-FFF2-40B4-BE49-F238E27FC236}">
                <a16:creationId xmlns:a16="http://schemas.microsoft.com/office/drawing/2014/main" id="{911338C2-99B2-4831-B466-3D9C1CD4B559}"/>
              </a:ext>
            </a:extLst>
          </p:cNvPr>
          <p:cNvSpPr>
            <a:spLocks noGrp="1"/>
          </p:cNvSpPr>
          <p:nvPr/>
        </p:nvSpPr>
        <p:spPr>
          <a:xfrm>
            <a:off x="9096375" y="3143250"/>
            <a:ext cx="2638425" cy="1047750"/>
          </a:xfrm>
          <a:prstGeom prst="rect">
            <a:avLst/>
          </a:prstGeom>
          <a:noFill/>
          <a:ln w="0">
            <a:noFill/>
          </a:ln>
        </p:spPr>
        <p:txBody>
          <a:bodyPr>
            <a:noAutofit/>
          </a:bodyPr>
          <a:lstStyle/>
          <a:p>
            <a:pPr algn="l">
              <a:defRPr sz="2175" b="1">
                <a:solidFill>
                  <a:srgbClr val="007F86"/>
                </a:solidFill>
                <a:latin typeface="Arial"/>
                <a:ea typeface="Arial"/>
                <a:cs typeface="Arial"/>
              </a:defRPr>
            </a:pPr>
            <a:r>
              <a:rPr sz="2175" b="1">
                <a:solidFill>
                  <a:srgbClr val="007F86"/>
                </a:solidFill>
                <a:latin typeface="Arial"/>
                <a:ea typeface="Arial"/>
                <a:cs typeface="Arial"/>
              </a:rPr>
              <a:t>2  Theo dõi</a:t>
            </a:r>
          </a:p>
          <a:p>
            <a:pPr algn="l">
              <a:defRPr sz="2175" b="1">
                <a:solidFill>
                  <a:srgbClr val="007F86"/>
                </a:solidFill>
                <a:latin typeface="Arial"/>
                <a:ea typeface="Arial"/>
                <a:cs typeface="Arial"/>
              </a:defRPr>
            </a:pPr>
            <a:r>
              <a:rPr sz="2175" b="1">
                <a:solidFill>
                  <a:srgbClr val="007F86"/>
                </a:solidFill>
                <a:latin typeface="Arial"/>
                <a:ea typeface="Arial"/>
                <a:cs typeface="Arial"/>
              </a:rPr>
              <a:t>    tiến trình</a:t>
            </a:r>
          </a:p>
        </p:txBody>
      </p:sp>
      <p:sp>
        <p:nvSpPr>
          <p:cNvPr id="6" name="text-4">
            <a:extLst>
              <a:ext uri="{FF2B5EF4-FFF2-40B4-BE49-F238E27FC236}">
                <a16:creationId xmlns:a16="http://schemas.microsoft.com/office/drawing/2014/main" id="{9FED7E0C-A0DC-401F-81F1-44F2E6789A16}"/>
              </a:ext>
            </a:extLst>
          </p:cNvPr>
          <p:cNvSpPr>
            <a:spLocks noGrp="1"/>
          </p:cNvSpPr>
          <p:nvPr/>
        </p:nvSpPr>
        <p:spPr>
          <a:xfrm>
            <a:off x="9096375" y="4676775"/>
            <a:ext cx="2638425" cy="1047750"/>
          </a:xfrm>
          <a:prstGeom prst="rect">
            <a:avLst/>
          </a:prstGeom>
          <a:noFill/>
          <a:ln w="0">
            <a:noFill/>
          </a:ln>
        </p:spPr>
        <p:txBody>
          <a:bodyPr>
            <a:noAutofit/>
          </a:bodyPr>
          <a:lstStyle/>
          <a:p>
            <a:pPr algn="l">
              <a:defRPr sz="2175" b="1">
                <a:solidFill>
                  <a:srgbClr val="007F86"/>
                </a:solidFill>
                <a:latin typeface="Arial"/>
                <a:ea typeface="Arial"/>
                <a:cs typeface="Arial"/>
              </a:defRPr>
            </a:pPr>
            <a:r>
              <a:rPr sz="2175" b="1">
                <a:solidFill>
                  <a:srgbClr val="007F86"/>
                </a:solidFill>
                <a:latin typeface="Arial"/>
                <a:ea typeface="Arial"/>
                <a:cs typeface="Arial"/>
              </a:rPr>
              <a:t>3  Mở lại</a:t>
            </a:r>
          </a:p>
          <a:p>
            <a:pPr algn="l">
              <a:defRPr sz="2175" b="1">
                <a:solidFill>
                  <a:srgbClr val="007F86"/>
                </a:solidFill>
                <a:latin typeface="Arial"/>
                <a:ea typeface="Arial"/>
                <a:cs typeface="Arial"/>
              </a:defRPr>
            </a:pPr>
            <a:r>
              <a:rPr sz="2175" b="1">
                <a:solidFill>
                  <a:srgbClr val="007F86"/>
                </a:solidFill>
                <a:latin typeface="Arial"/>
                <a:ea typeface="Arial"/>
                <a:cs typeface="Arial"/>
              </a:rPr>
              <a:t>    lịch sử quét</a:t>
            </a:r>
          </a:p>
        </p:txBody>
      </p:sp>
    </p:spTree>
    <p:extLst>
      <p:ext uri="{BB962C8B-B14F-4D97-AF65-F5344CB8AC3E}">
        <p14:creationId xmlns:p14="http://schemas.microsoft.com/office/powerpoint/2010/main" val="486324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8" name="text-0">
            <a:extLst>
              <a:ext uri="{FF2B5EF4-FFF2-40B4-BE49-F238E27FC236}">
                <a16:creationId xmlns:a16="http://schemas.microsoft.com/office/drawing/2014/main" id="{651069D4-C97C-4953-9A09-F1F80CDAD121}"/>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Demo: điểm tổng hợp và dấu hiệu cụ thể</a:t>
            </a:r>
          </a:p>
        </p:txBody>
      </p:sp>
      <p:sp>
        <p:nvSpPr>
          <p:cNvPr id="2" name="text-1">
            <a:extLst>
              <a:ext uri="{FF2B5EF4-FFF2-40B4-BE49-F238E27FC236}">
                <a16:creationId xmlns:a16="http://schemas.microsoft.com/office/drawing/2014/main" id="{4D9F012B-D64F-4391-959E-A9EE345713CE}"/>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16</a:t>
            </a:r>
          </a:p>
        </p:txBody>
      </p:sp>
      <p:pic>
        <p:nvPicPr>
          <p:cNvPr id="10" name="Picture 9"/>
          <p:cNvPicPr>
            <a:picLocks noChangeAspect="1"/>
          </p:cNvPicPr>
          <p:nvPr/>
        </p:nvPicPr>
        <p:blipFill>
          <a:blip r:embed="rId3"/>
          <a:stretch/>
        </p:blipFill>
        <p:spPr>
          <a:xfrm>
            <a:off x="438150" y="1373689"/>
            <a:ext cx="8572500" cy="4824996"/>
          </a:xfrm>
          <a:prstGeom prst="rect">
            <a:avLst/>
          </a:prstGeom>
        </p:spPr>
      </p:pic>
      <p:sp>
        <p:nvSpPr>
          <p:cNvPr id="4" name="text-2">
            <a:extLst>
              <a:ext uri="{FF2B5EF4-FFF2-40B4-BE49-F238E27FC236}">
                <a16:creationId xmlns:a16="http://schemas.microsoft.com/office/drawing/2014/main" id="{77F040D3-BC8E-461E-9EB4-0DB0089E8E96}"/>
              </a:ext>
            </a:extLst>
          </p:cNvPr>
          <p:cNvSpPr>
            <a:spLocks noGrp="1"/>
          </p:cNvSpPr>
          <p:nvPr/>
        </p:nvSpPr>
        <p:spPr>
          <a:xfrm>
            <a:off x="9267825" y="1609725"/>
            <a:ext cx="2447925" cy="704850"/>
          </a:xfrm>
          <a:prstGeom prst="rect">
            <a:avLst/>
          </a:prstGeom>
          <a:noFill/>
          <a:ln w="0">
            <a:noFill/>
          </a:ln>
        </p:spPr>
        <p:txBody>
          <a:bodyPr>
            <a:noAutofit/>
          </a:bodyPr>
          <a:lstStyle/>
          <a:p>
            <a:pPr algn="l">
              <a:defRPr sz="3225" b="1">
                <a:solidFill>
                  <a:srgbClr val="B95424"/>
                </a:solidFill>
                <a:latin typeface="Arial"/>
                <a:ea typeface="Arial"/>
                <a:cs typeface="Arial"/>
              </a:defRPr>
            </a:pPr>
            <a:r>
              <a:rPr sz="3225" b="1">
                <a:solidFill>
                  <a:srgbClr val="B95424"/>
                </a:solidFill>
                <a:latin typeface="Arial"/>
                <a:ea typeface="Arial"/>
                <a:cs typeface="Arial"/>
              </a:rPr>
              <a:t>60 / 100</a:t>
            </a:r>
          </a:p>
        </p:txBody>
      </p:sp>
      <p:sp>
        <p:nvSpPr>
          <p:cNvPr id="5" name="text-3">
            <a:extLst>
              <a:ext uri="{FF2B5EF4-FFF2-40B4-BE49-F238E27FC236}">
                <a16:creationId xmlns:a16="http://schemas.microsoft.com/office/drawing/2014/main" id="{5E97106C-2FA7-4E33-BBE3-2D21198C4597}"/>
              </a:ext>
            </a:extLst>
          </p:cNvPr>
          <p:cNvSpPr>
            <a:spLocks noGrp="1"/>
          </p:cNvSpPr>
          <p:nvPr/>
        </p:nvSpPr>
        <p:spPr>
          <a:xfrm>
            <a:off x="9267825" y="2562225"/>
            <a:ext cx="2447925" cy="1428750"/>
          </a:xfrm>
          <a:prstGeom prst="rect">
            <a:avLst/>
          </a:prstGeom>
          <a:noFill/>
          <a:ln w="0">
            <a:noFill/>
          </a:ln>
        </p:spPr>
        <p:txBody>
          <a:bodyPr>
            <a:noAutofit/>
          </a:bodyPr>
          <a:lstStyle/>
          <a:p>
            <a:pPr algn="l">
              <a:defRPr sz="2100" b="0">
                <a:solidFill>
                  <a:srgbClr val="102A43"/>
                </a:solidFill>
                <a:latin typeface="Arial"/>
                <a:ea typeface="Arial"/>
                <a:cs typeface="Arial"/>
              </a:defRPr>
            </a:pPr>
            <a:r>
              <a:rPr sz="2100" b="0">
                <a:solidFill>
                  <a:srgbClr val="102A43"/>
                </a:solidFill>
                <a:latin typeface="Arial"/>
                <a:ea typeface="Arial"/>
                <a:cs typeface="Arial"/>
              </a:rPr>
              <a:t>Điểm tổng hợp</a:t>
            </a:r>
          </a:p>
          <a:p>
            <a:pPr algn="l">
              <a:defRPr sz="2100" b="0">
                <a:solidFill>
                  <a:srgbClr val="102A43"/>
                </a:solidFill>
                <a:latin typeface="Arial"/>
                <a:ea typeface="Arial"/>
                <a:cs typeface="Arial"/>
              </a:defRPr>
            </a:pPr>
            <a:r>
              <a:rPr sz="2100" b="0">
                <a:solidFill>
                  <a:srgbClr val="102A43"/>
                </a:solidFill>
                <a:latin typeface="Arial"/>
                <a:ea typeface="Arial"/>
                <a:cs typeface="Arial"/>
              </a:rPr>
              <a:t>ML: 99,9%</a:t>
            </a:r>
          </a:p>
          <a:p>
            <a:pPr algn="l">
              <a:defRPr sz="2100" b="0">
                <a:solidFill>
                  <a:srgbClr val="102A43"/>
                </a:solidFill>
                <a:latin typeface="Arial"/>
                <a:ea typeface="Arial"/>
                <a:cs typeface="Arial"/>
              </a:defRPr>
            </a:pPr>
            <a:r>
              <a:rPr sz="2100" b="0">
                <a:solidFill>
                  <a:srgbClr val="102A43"/>
                </a:solidFill>
                <a:latin typeface="Arial"/>
                <a:ea typeface="Arial"/>
                <a:cs typeface="Arial"/>
              </a:rPr>
              <a:t>Luật: 28 điểm</a:t>
            </a:r>
          </a:p>
        </p:txBody>
      </p:sp>
      <p:sp>
        <p:nvSpPr>
          <p:cNvPr id="6" name="text-4">
            <a:extLst>
              <a:ext uri="{FF2B5EF4-FFF2-40B4-BE49-F238E27FC236}">
                <a16:creationId xmlns:a16="http://schemas.microsoft.com/office/drawing/2014/main" id="{674E09BA-EF25-4F9C-B952-836CF48E0703}"/>
              </a:ext>
            </a:extLst>
          </p:cNvPr>
          <p:cNvSpPr>
            <a:spLocks noGrp="1"/>
          </p:cNvSpPr>
          <p:nvPr/>
        </p:nvSpPr>
        <p:spPr>
          <a:xfrm>
            <a:off x="9267825" y="4371975"/>
            <a:ext cx="2447925" cy="457200"/>
          </a:xfrm>
          <a:prstGeom prst="rect">
            <a:avLst/>
          </a:prstGeom>
          <a:noFill/>
          <a:ln w="0">
            <a:noFill/>
          </a:ln>
        </p:spPr>
        <p:txBody>
          <a:bodyPr>
            <a:noAutofit/>
          </a:bodyPr>
          <a:lstStyle/>
          <a:p>
            <a:pPr algn="l">
              <a:defRPr sz="2025" b="1">
                <a:solidFill>
                  <a:srgbClr val="B95424"/>
                </a:solidFill>
                <a:latin typeface="Arial"/>
                <a:ea typeface="Arial"/>
                <a:cs typeface="Arial"/>
              </a:defRPr>
            </a:pPr>
            <a:r>
              <a:rPr sz="2025" b="1">
                <a:solidFill>
                  <a:srgbClr val="B95424"/>
                </a:solidFill>
                <a:latin typeface="Arial"/>
                <a:ea typeface="Arial"/>
                <a:cs typeface="Arial"/>
              </a:rPr>
              <a:t>Thiếu dữ liệu</a:t>
            </a:r>
          </a:p>
        </p:txBody>
      </p:sp>
      <p:sp>
        <p:nvSpPr>
          <p:cNvPr id="7" name="text-5">
            <a:extLst>
              <a:ext uri="{FF2B5EF4-FFF2-40B4-BE49-F238E27FC236}">
                <a16:creationId xmlns:a16="http://schemas.microsoft.com/office/drawing/2014/main" id="{1CB282AE-8A0F-48DD-AE88-10A1BF63099E}"/>
              </a:ext>
            </a:extLst>
          </p:cNvPr>
          <p:cNvSpPr>
            <a:spLocks noGrp="1"/>
          </p:cNvSpPr>
          <p:nvPr/>
        </p:nvSpPr>
        <p:spPr>
          <a:xfrm>
            <a:off x="9267825" y="4933950"/>
            <a:ext cx="2381250" cy="952500"/>
          </a:xfrm>
          <a:prstGeom prst="rect">
            <a:avLst/>
          </a:prstGeom>
          <a:noFill/>
          <a:ln w="0">
            <a:noFill/>
          </a:ln>
        </p:spPr>
        <p:txBody>
          <a:bodyPr>
            <a:noAutofit/>
          </a:bodyPr>
          <a:lstStyle/>
          <a:p>
            <a:pPr algn="l">
              <a:defRPr sz="1875" b="0">
                <a:solidFill>
                  <a:srgbClr val="102A43"/>
                </a:solidFill>
                <a:latin typeface="Arial"/>
                <a:ea typeface="Arial"/>
                <a:cs typeface="Arial"/>
              </a:defRPr>
            </a:pPr>
            <a:r>
              <a:rPr sz="1875" b="0">
                <a:solidFill>
                  <a:srgbClr val="102A43"/>
                </a:solidFill>
                <a:latin typeface="Arial"/>
                <a:ea typeface="Arial"/>
                <a:cs typeface="Arial"/>
              </a:rPr>
              <a:t>Đọc trạng thái partial</a:t>
            </a:r>
          </a:p>
          <a:p>
            <a:pPr algn="l">
              <a:defRPr sz="1875" b="0">
                <a:solidFill>
                  <a:srgbClr val="102A43"/>
                </a:solidFill>
                <a:latin typeface="Arial"/>
                <a:ea typeface="Arial"/>
                <a:cs typeface="Arial"/>
              </a:defRPr>
            </a:pPr>
            <a:r>
              <a:rPr sz="1875" b="0">
                <a:solidFill>
                  <a:srgbClr val="102A43"/>
                </a:solidFill>
                <a:latin typeface="Arial"/>
                <a:ea typeface="Arial"/>
                <a:cs typeface="Arial"/>
              </a:rPr>
              <a:t>cùng các dấu hiệu.</a:t>
            </a:r>
          </a:p>
        </p:txBody>
      </p:sp>
    </p:spTree>
    <p:extLst>
      <p:ext uri="{BB962C8B-B14F-4D97-AF65-F5344CB8AC3E}">
        <p14:creationId xmlns:p14="http://schemas.microsoft.com/office/powerpoint/2010/main" val="1593942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2A4BC62F-AE78-430F-AC48-305554920B24}"/>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Hạn chế của phiên bản hiện tại</a:t>
            </a:r>
          </a:p>
        </p:txBody>
      </p:sp>
      <p:sp>
        <p:nvSpPr>
          <p:cNvPr id="2" name="text-1">
            <a:extLst>
              <a:ext uri="{FF2B5EF4-FFF2-40B4-BE49-F238E27FC236}">
                <a16:creationId xmlns:a16="http://schemas.microsoft.com/office/drawing/2014/main" id="{1E2BC11B-87B8-4FED-8336-29D26531BC55}"/>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17</a:t>
            </a:r>
          </a:p>
        </p:txBody>
      </p:sp>
      <p:sp>
        <p:nvSpPr>
          <p:cNvPr id="3" name="text-2">
            <a:extLst>
              <a:ext uri="{FF2B5EF4-FFF2-40B4-BE49-F238E27FC236}">
                <a16:creationId xmlns:a16="http://schemas.microsoft.com/office/drawing/2014/main" id="{78F596D3-FF92-4772-8F1A-D852A95A89F2}"/>
              </a:ext>
            </a:extLst>
          </p:cNvPr>
          <p:cNvSpPr>
            <a:spLocks noGrp="1"/>
          </p:cNvSpPr>
          <p:nvPr/>
        </p:nvSpPr>
        <p:spPr>
          <a:xfrm>
            <a:off x="609600" y="1581150"/>
            <a:ext cx="312420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Dữ liệu và đánh giá</a:t>
            </a:r>
          </a:p>
        </p:txBody>
      </p:sp>
      <p:sp>
        <p:nvSpPr>
          <p:cNvPr id="4" name="text-3">
            <a:extLst>
              <a:ext uri="{FF2B5EF4-FFF2-40B4-BE49-F238E27FC236}">
                <a16:creationId xmlns:a16="http://schemas.microsoft.com/office/drawing/2014/main" id="{162D6C02-3176-4FE5-BFD1-7AC2BD6C5E41}"/>
              </a:ext>
            </a:extLst>
          </p:cNvPr>
          <p:cNvSpPr>
            <a:spLocks noGrp="1"/>
          </p:cNvSpPr>
          <p:nvPr/>
        </p:nvSpPr>
        <p:spPr>
          <a:xfrm>
            <a:off x="3962400" y="1581150"/>
            <a:ext cx="746760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Chọn mô hình trên test, chưa có tập kiểm tra độc lập mới</a:t>
            </a:r>
          </a:p>
        </p:txBody>
      </p:sp>
      <p:sp>
        <p:nvSpPr>
          <p:cNvPr id="5" name="text-4">
            <a:extLst>
              <a:ext uri="{FF2B5EF4-FFF2-40B4-BE49-F238E27FC236}">
                <a16:creationId xmlns:a16="http://schemas.microsoft.com/office/drawing/2014/main" id="{5CF95C55-9A7C-433C-96E4-5811E9ECC81B}"/>
              </a:ext>
            </a:extLst>
          </p:cNvPr>
          <p:cNvSpPr>
            <a:spLocks noGrp="1"/>
          </p:cNvSpPr>
          <p:nvPr/>
        </p:nvSpPr>
        <p:spPr>
          <a:xfrm>
            <a:off x="609600" y="2647950"/>
            <a:ext cx="312420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Tín hiệu HTTPS</a:t>
            </a:r>
          </a:p>
        </p:txBody>
      </p:sp>
      <p:sp>
        <p:nvSpPr>
          <p:cNvPr id="6" name="text-5">
            <a:extLst>
              <a:ext uri="{FF2B5EF4-FFF2-40B4-BE49-F238E27FC236}">
                <a16:creationId xmlns:a16="http://schemas.microsoft.com/office/drawing/2014/main" id="{4E7B1771-80D0-4723-9EF1-BC1C0F3E8B64}"/>
              </a:ext>
            </a:extLst>
          </p:cNvPr>
          <p:cNvSpPr>
            <a:spLocks noGrp="1"/>
          </p:cNvSpPr>
          <p:nvPr/>
        </p:nvSpPr>
        <p:spPr>
          <a:xfrm>
            <a:off x="3962400" y="2647950"/>
            <a:ext cx="746760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Khoảng 74,1% gain tập trung ở hai thuộc tính liên quan</a:t>
            </a:r>
          </a:p>
        </p:txBody>
      </p:sp>
      <p:sp>
        <p:nvSpPr>
          <p:cNvPr id="7" name="text-6">
            <a:extLst>
              <a:ext uri="{FF2B5EF4-FFF2-40B4-BE49-F238E27FC236}">
                <a16:creationId xmlns:a16="http://schemas.microsoft.com/office/drawing/2014/main" id="{C07125B3-7028-4FA6-8176-77571DE3564B}"/>
              </a:ext>
            </a:extLst>
          </p:cNvPr>
          <p:cNvSpPr>
            <a:spLocks noGrp="1"/>
          </p:cNvSpPr>
          <p:nvPr/>
        </p:nvSpPr>
        <p:spPr>
          <a:xfrm>
            <a:off x="609600" y="3714750"/>
            <a:ext cx="312420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Thu thập thực tế</a:t>
            </a:r>
          </a:p>
        </p:txBody>
      </p:sp>
      <p:sp>
        <p:nvSpPr>
          <p:cNvPr id="8" name="text-7">
            <a:extLst>
              <a:ext uri="{FF2B5EF4-FFF2-40B4-BE49-F238E27FC236}">
                <a16:creationId xmlns:a16="http://schemas.microsoft.com/office/drawing/2014/main" id="{2D898EA0-C4D0-442E-8AB5-3C69A51D04EA}"/>
              </a:ext>
            </a:extLst>
          </p:cNvPr>
          <p:cNvSpPr>
            <a:spLocks noGrp="1"/>
          </p:cNvSpPr>
          <p:nvPr/>
        </p:nvSpPr>
        <p:spPr>
          <a:xfrm>
            <a:off x="3962400" y="3714750"/>
            <a:ext cx="746760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Chưa xử lý trang JavaScript, tra cứu có thể thất bại</a:t>
            </a:r>
          </a:p>
        </p:txBody>
      </p:sp>
      <p:sp>
        <p:nvSpPr>
          <p:cNvPr id="9" name="text-8">
            <a:extLst>
              <a:ext uri="{FF2B5EF4-FFF2-40B4-BE49-F238E27FC236}">
                <a16:creationId xmlns:a16="http://schemas.microsoft.com/office/drawing/2014/main" id="{8778D422-F7B9-4394-B6E5-2B471F5ECD07}"/>
              </a:ext>
            </a:extLst>
          </p:cNvPr>
          <p:cNvSpPr>
            <a:spLocks noGrp="1"/>
          </p:cNvSpPr>
          <p:nvPr/>
        </p:nvSpPr>
        <p:spPr>
          <a:xfrm>
            <a:off x="609600" y="4781550"/>
            <a:ext cx="312420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Diễn giải kết quả</a:t>
            </a:r>
          </a:p>
        </p:txBody>
      </p:sp>
      <p:sp>
        <p:nvSpPr>
          <p:cNvPr id="10" name="text-9">
            <a:extLst>
              <a:ext uri="{FF2B5EF4-FFF2-40B4-BE49-F238E27FC236}">
                <a16:creationId xmlns:a16="http://schemas.microsoft.com/office/drawing/2014/main" id="{C6B98AB8-202E-4725-9CEF-FACE97EE51CD}"/>
              </a:ext>
            </a:extLst>
          </p:cNvPr>
          <p:cNvSpPr>
            <a:spLocks noGrp="1"/>
          </p:cNvSpPr>
          <p:nvPr/>
        </p:nvSpPr>
        <p:spPr>
          <a:xfrm>
            <a:off x="3962400" y="4781550"/>
            <a:ext cx="746760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Partial và xác suất chưa hiệu chỉnh cần được giải thích</a:t>
            </a:r>
          </a:p>
        </p:txBody>
      </p:sp>
    </p:spTree>
    <p:extLst>
      <p:ext uri="{BB962C8B-B14F-4D97-AF65-F5344CB8AC3E}">
        <p14:creationId xmlns:p14="http://schemas.microsoft.com/office/powerpoint/2010/main" val="2056528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9AB32CAC-DA4C-42B9-BB4C-2C438E2FEB6B}"/>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Hướng phát triển</a:t>
            </a:r>
          </a:p>
        </p:txBody>
      </p:sp>
      <p:sp>
        <p:nvSpPr>
          <p:cNvPr id="2" name="text-1">
            <a:extLst>
              <a:ext uri="{FF2B5EF4-FFF2-40B4-BE49-F238E27FC236}">
                <a16:creationId xmlns:a16="http://schemas.microsoft.com/office/drawing/2014/main" id="{8D23A6E7-62D0-4BDD-A732-54CC86D41818}"/>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18</a:t>
            </a:r>
          </a:p>
        </p:txBody>
      </p:sp>
      <p:sp>
        <p:nvSpPr>
          <p:cNvPr id="3" name="text-2">
            <a:extLst>
              <a:ext uri="{FF2B5EF4-FFF2-40B4-BE49-F238E27FC236}">
                <a16:creationId xmlns:a16="http://schemas.microsoft.com/office/drawing/2014/main" id="{5CEC5724-E556-4AFE-822F-81DD54DCB88E}"/>
              </a:ext>
            </a:extLst>
          </p:cNvPr>
          <p:cNvSpPr>
            <a:spLocks noGrp="1"/>
          </p:cNvSpPr>
          <p:nvPr/>
        </p:nvSpPr>
        <p:spPr>
          <a:xfrm>
            <a:off x="609600" y="1581150"/>
            <a:ext cx="345757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01  Đánh giá độc lập</a:t>
            </a:r>
          </a:p>
        </p:txBody>
      </p:sp>
      <p:sp>
        <p:nvSpPr>
          <p:cNvPr id="4" name="text-3">
            <a:extLst>
              <a:ext uri="{FF2B5EF4-FFF2-40B4-BE49-F238E27FC236}">
                <a16:creationId xmlns:a16="http://schemas.microsoft.com/office/drawing/2014/main" id="{9033B7DE-9249-48E0-9B0C-EF729B643D4E}"/>
              </a:ext>
            </a:extLst>
          </p:cNvPr>
          <p:cNvSpPr>
            <a:spLocks noGrp="1"/>
          </p:cNvSpPr>
          <p:nvPr/>
        </p:nvSpPr>
        <p:spPr>
          <a:xfrm>
            <a:off x="4295775" y="1581150"/>
            <a:ext cx="7134225"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Tách validation / test, bổ sung URL mới theo thời gian</a:t>
            </a:r>
          </a:p>
        </p:txBody>
      </p:sp>
      <p:sp>
        <p:nvSpPr>
          <p:cNvPr id="5" name="text-4">
            <a:extLst>
              <a:ext uri="{FF2B5EF4-FFF2-40B4-BE49-F238E27FC236}">
                <a16:creationId xmlns:a16="http://schemas.microsoft.com/office/drawing/2014/main" id="{6781B1EE-7D11-4DF0-B3AF-5A470A199D61}"/>
              </a:ext>
            </a:extLst>
          </p:cNvPr>
          <p:cNvSpPr>
            <a:spLocks noGrp="1"/>
          </p:cNvSpPr>
          <p:nvPr/>
        </p:nvSpPr>
        <p:spPr>
          <a:xfrm>
            <a:off x="609600" y="2647950"/>
            <a:ext cx="345757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02  Cải thiện mô hình</a:t>
            </a:r>
          </a:p>
        </p:txBody>
      </p:sp>
      <p:sp>
        <p:nvSpPr>
          <p:cNvPr id="6" name="text-5">
            <a:extLst>
              <a:ext uri="{FF2B5EF4-FFF2-40B4-BE49-F238E27FC236}">
                <a16:creationId xmlns:a16="http://schemas.microsoft.com/office/drawing/2014/main" id="{F559498C-F06B-4402-B6B0-856A0008FAE7}"/>
              </a:ext>
            </a:extLst>
          </p:cNvPr>
          <p:cNvSpPr>
            <a:spLocks noGrp="1"/>
          </p:cNvSpPr>
          <p:nvPr/>
        </p:nvSpPr>
        <p:spPr>
          <a:xfrm>
            <a:off x="4295775" y="2647950"/>
            <a:ext cx="7134225"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TLS và tuổi domain thật, ablation HTTPS, calibration</a:t>
            </a:r>
          </a:p>
        </p:txBody>
      </p:sp>
      <p:sp>
        <p:nvSpPr>
          <p:cNvPr id="7" name="text-6">
            <a:extLst>
              <a:ext uri="{FF2B5EF4-FFF2-40B4-BE49-F238E27FC236}">
                <a16:creationId xmlns:a16="http://schemas.microsoft.com/office/drawing/2014/main" id="{542C7530-138B-4705-A92B-FB3F9D459225}"/>
              </a:ext>
            </a:extLst>
          </p:cNvPr>
          <p:cNvSpPr>
            <a:spLocks noGrp="1"/>
          </p:cNvSpPr>
          <p:nvPr/>
        </p:nvSpPr>
        <p:spPr>
          <a:xfrm>
            <a:off x="609600" y="3714750"/>
            <a:ext cx="345757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03  Hoàn thiện bộ quét</a:t>
            </a:r>
          </a:p>
        </p:txBody>
      </p:sp>
      <p:sp>
        <p:nvSpPr>
          <p:cNvPr id="8" name="text-7">
            <a:extLst>
              <a:ext uri="{FF2B5EF4-FFF2-40B4-BE49-F238E27FC236}">
                <a16:creationId xmlns:a16="http://schemas.microsoft.com/office/drawing/2014/main" id="{A1F33280-6FFA-4E70-9B71-13D5A1BBA8B2}"/>
              </a:ext>
            </a:extLst>
          </p:cNvPr>
          <p:cNvSpPr>
            <a:spLocks noGrp="1"/>
          </p:cNvSpPr>
          <p:nvPr/>
        </p:nvSpPr>
        <p:spPr>
          <a:xfrm>
            <a:off x="4295775" y="3714750"/>
            <a:ext cx="7134225"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JavaScript, trạng thái unknown, thêm thương hiệu Việt Nam</a:t>
            </a:r>
          </a:p>
        </p:txBody>
      </p:sp>
      <p:sp>
        <p:nvSpPr>
          <p:cNvPr id="9" name="text-8">
            <a:extLst>
              <a:ext uri="{FF2B5EF4-FFF2-40B4-BE49-F238E27FC236}">
                <a16:creationId xmlns:a16="http://schemas.microsoft.com/office/drawing/2014/main" id="{222CB9D1-51B0-4EB4-A418-F428F410E80A}"/>
              </a:ext>
            </a:extLst>
          </p:cNvPr>
          <p:cNvSpPr>
            <a:spLocks noGrp="1"/>
          </p:cNvSpPr>
          <p:nvPr/>
        </p:nvSpPr>
        <p:spPr>
          <a:xfrm>
            <a:off x="609600" y="4781550"/>
            <a:ext cx="3457575"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04  Mở rộng sử dụng</a:t>
            </a:r>
          </a:p>
        </p:txBody>
      </p:sp>
      <p:sp>
        <p:nvSpPr>
          <p:cNvPr id="10" name="text-9">
            <a:extLst>
              <a:ext uri="{FF2B5EF4-FFF2-40B4-BE49-F238E27FC236}">
                <a16:creationId xmlns:a16="http://schemas.microsoft.com/office/drawing/2014/main" id="{571A8004-970C-43A5-92D9-EFE593209A7D}"/>
              </a:ext>
            </a:extLst>
          </p:cNvPr>
          <p:cNvSpPr>
            <a:spLocks noGrp="1"/>
          </p:cNvSpPr>
          <p:nvPr/>
        </p:nvSpPr>
        <p:spPr>
          <a:xfrm>
            <a:off x="4295775" y="4781550"/>
            <a:ext cx="7134225"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Tiện ích trình duyệt cảnh báo khi truy cập</a:t>
            </a:r>
          </a:p>
        </p:txBody>
      </p:sp>
    </p:spTree>
    <p:extLst>
      <p:ext uri="{BB962C8B-B14F-4D97-AF65-F5344CB8AC3E}">
        <p14:creationId xmlns:p14="http://schemas.microsoft.com/office/powerpoint/2010/main" val="1380975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C9DEE790-CDDD-40FA-86D5-A88041B5D6EF}"/>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FFFFFF"/>
                </a:solidFill>
                <a:latin typeface="Arial"/>
                <a:ea typeface="Arial"/>
                <a:cs typeface="Arial"/>
              </a:defRPr>
            </a:pPr>
            <a:r>
              <a:rPr sz="3300" b="1">
                <a:solidFill>
                  <a:srgbClr val="FFFFFF"/>
                </a:solidFill>
                <a:latin typeface="Arial"/>
                <a:ea typeface="Arial"/>
                <a:cs typeface="Arial"/>
              </a:rPr>
              <a:t>Kết luận</a:t>
            </a:r>
          </a:p>
        </p:txBody>
      </p:sp>
      <p:sp>
        <p:nvSpPr>
          <p:cNvPr id="2" name="text-1">
            <a:extLst>
              <a:ext uri="{FF2B5EF4-FFF2-40B4-BE49-F238E27FC236}">
                <a16:creationId xmlns:a16="http://schemas.microsoft.com/office/drawing/2014/main" id="{BB3580AE-2D7C-453A-AC13-7E0B408AF570}"/>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95B4C7"/>
                </a:solidFill>
                <a:latin typeface="Arial"/>
                <a:ea typeface="Arial"/>
                <a:cs typeface="Arial"/>
              </a:defRPr>
            </a:pPr>
            <a:r>
              <a:rPr sz="1200" b="0">
                <a:solidFill>
                  <a:srgbClr val="95B4C7"/>
                </a:solidFill>
                <a:latin typeface="Arial"/>
                <a:ea typeface="Arial"/>
                <a:cs typeface="Arial"/>
              </a:rPr>
              <a:t>19</a:t>
            </a:r>
          </a:p>
        </p:txBody>
      </p:sp>
      <p:sp>
        <p:nvSpPr>
          <p:cNvPr id="3" name="text-2">
            <a:extLst>
              <a:ext uri="{FF2B5EF4-FFF2-40B4-BE49-F238E27FC236}">
                <a16:creationId xmlns:a16="http://schemas.microsoft.com/office/drawing/2014/main" id="{92251E6B-56CF-4A53-B4BE-7C716DC5E828}"/>
              </a:ext>
            </a:extLst>
          </p:cNvPr>
          <p:cNvSpPr>
            <a:spLocks noGrp="1"/>
          </p:cNvSpPr>
          <p:nvPr/>
        </p:nvSpPr>
        <p:spPr>
          <a:xfrm>
            <a:off x="609600" y="1666875"/>
            <a:ext cx="10572750" cy="1333500"/>
          </a:xfrm>
          <a:prstGeom prst="rect">
            <a:avLst/>
          </a:prstGeom>
          <a:noFill/>
          <a:ln w="0">
            <a:noFill/>
          </a:ln>
        </p:spPr>
        <p:txBody>
          <a:bodyPr>
            <a:noAutofit/>
          </a:bodyPr>
          <a:lstStyle/>
          <a:p>
            <a:pPr algn="l">
              <a:defRPr sz="3375" b="1">
                <a:solidFill>
                  <a:srgbClr val="FFFFFF"/>
                </a:solidFill>
                <a:latin typeface="Arial"/>
                <a:ea typeface="Arial"/>
                <a:cs typeface="Arial"/>
              </a:defRPr>
            </a:pPr>
            <a:r>
              <a:rPr sz="3375" b="1">
                <a:solidFill>
                  <a:srgbClr val="FFFFFF"/>
                </a:solidFill>
                <a:latin typeface="Arial"/>
                <a:ea typeface="Arial"/>
                <a:cs typeface="Arial"/>
              </a:rPr>
              <a:t>Đồ án Python kết hợp nhiều nguồn</a:t>
            </a:r>
          </a:p>
          <a:p>
            <a:pPr algn="l">
              <a:defRPr sz="3375" b="1">
                <a:solidFill>
                  <a:srgbClr val="FFFFFF"/>
                </a:solidFill>
                <a:latin typeface="Arial"/>
                <a:ea typeface="Arial"/>
                <a:cs typeface="Arial"/>
              </a:defRPr>
            </a:pPr>
            <a:r>
              <a:rPr sz="3375" b="1">
                <a:solidFill>
                  <a:srgbClr val="FFFFFF"/>
                </a:solidFill>
                <a:latin typeface="Arial"/>
                <a:ea typeface="Arial"/>
                <a:cs typeface="Arial"/>
              </a:rPr>
              <a:t>bằng chứng về rủi ro website</a:t>
            </a:r>
          </a:p>
        </p:txBody>
      </p:sp>
      <p:sp>
        <p:nvSpPr>
          <p:cNvPr id="4" name="text-3">
            <a:extLst>
              <a:ext uri="{FF2B5EF4-FFF2-40B4-BE49-F238E27FC236}">
                <a16:creationId xmlns:a16="http://schemas.microsoft.com/office/drawing/2014/main" id="{1EDFEAD8-58DD-486E-A296-0DD7C32038CA}"/>
              </a:ext>
            </a:extLst>
          </p:cNvPr>
          <p:cNvSpPr>
            <a:spLocks noGrp="1"/>
          </p:cNvSpPr>
          <p:nvPr/>
        </p:nvSpPr>
        <p:spPr>
          <a:xfrm>
            <a:off x="609600" y="3514725"/>
            <a:ext cx="10572750" cy="1666875"/>
          </a:xfrm>
          <a:prstGeom prst="rect">
            <a:avLst/>
          </a:prstGeom>
          <a:noFill/>
          <a:ln w="0">
            <a:noFill/>
          </a:ln>
        </p:spPr>
        <p:txBody>
          <a:bodyPr>
            <a:noAutofit/>
          </a:bodyPr>
          <a:lstStyle/>
          <a:p>
            <a:pPr algn="l">
              <a:defRPr sz="2325" b="0">
                <a:solidFill>
                  <a:srgbClr val="BAD6E3"/>
                </a:solidFill>
                <a:latin typeface="Arial"/>
                <a:ea typeface="Arial"/>
                <a:cs typeface="Arial"/>
              </a:defRPr>
            </a:pPr>
            <a:r>
              <a:rPr sz="2325" b="0">
                <a:solidFill>
                  <a:srgbClr val="BAD6E3"/>
                </a:solidFill>
                <a:latin typeface="Arial"/>
                <a:ea typeface="Arial"/>
                <a:cs typeface="Arial"/>
              </a:rPr>
              <a:t>Luật + XGBoost + danh sách đen</a:t>
            </a:r>
          </a:p>
          <a:p>
            <a:pPr algn="l">
              <a:defRPr sz="2325" b="0">
                <a:solidFill>
                  <a:srgbClr val="BAD6E3"/>
                </a:solidFill>
                <a:latin typeface="Arial"/>
                <a:ea typeface="Arial"/>
                <a:cs typeface="Arial"/>
              </a:defRPr>
            </a:pPr>
            <a:r>
              <a:rPr sz="2325" b="0">
                <a:solidFill>
                  <a:srgbClr val="BAD6E3"/>
                </a:solidFill>
                <a:latin typeface="Arial"/>
                <a:ea typeface="Arial"/>
                <a:cs typeface="Arial"/>
              </a:rPr>
              <a:t>Giao diện web, REST API và lịch sử quét</a:t>
            </a:r>
          </a:p>
          <a:p>
            <a:pPr algn="l">
              <a:defRPr sz="2325" b="0">
                <a:solidFill>
                  <a:srgbClr val="BAD6E3"/>
                </a:solidFill>
                <a:latin typeface="Arial"/>
                <a:ea typeface="Arial"/>
                <a:cs typeface="Arial"/>
              </a:defRPr>
            </a:pPr>
            <a:r>
              <a:rPr sz="2325" b="0">
                <a:solidFill>
                  <a:srgbClr val="BAD6E3"/>
                </a:solidFill>
                <a:latin typeface="Arial"/>
                <a:ea typeface="Arial"/>
                <a:cs typeface="Arial"/>
              </a:rPr>
              <a:t>Dấu hiệu có giải thích và kiểm soát khi tải URL</a:t>
            </a:r>
          </a:p>
        </p:txBody>
      </p:sp>
      <p:sp>
        <p:nvSpPr>
          <p:cNvPr id="5" name="text-4">
            <a:extLst>
              <a:ext uri="{FF2B5EF4-FFF2-40B4-BE49-F238E27FC236}">
                <a16:creationId xmlns:a16="http://schemas.microsoft.com/office/drawing/2014/main" id="{97EAE678-E3E5-4223-84D9-0D629BBD3E48}"/>
              </a:ext>
            </a:extLst>
          </p:cNvPr>
          <p:cNvSpPr>
            <a:spLocks noGrp="1"/>
          </p:cNvSpPr>
          <p:nvPr/>
        </p:nvSpPr>
        <p:spPr>
          <a:xfrm>
            <a:off x="609600" y="5495925"/>
            <a:ext cx="10287000" cy="581025"/>
          </a:xfrm>
          <a:prstGeom prst="rect">
            <a:avLst/>
          </a:prstGeom>
          <a:noFill/>
          <a:ln w="0">
            <a:noFill/>
          </a:ln>
        </p:spPr>
        <p:txBody>
          <a:bodyPr>
            <a:noAutofit/>
          </a:bodyPr>
          <a:lstStyle/>
          <a:p>
            <a:pPr algn="l">
              <a:defRPr sz="3000" b="1">
                <a:solidFill>
                  <a:srgbClr val="9DE0DD"/>
                </a:solidFill>
                <a:latin typeface="Arial"/>
                <a:ea typeface="Arial"/>
                <a:cs typeface="Arial"/>
              </a:defRPr>
            </a:pPr>
            <a:r>
              <a:rPr sz="3000" b="1">
                <a:solidFill>
                  <a:srgbClr val="9DE0DD"/>
                </a:solidFill>
                <a:latin typeface="Arial"/>
                <a:ea typeface="Arial"/>
                <a:cs typeface="Arial"/>
              </a:rPr>
              <a:t>FNR 3,47%     F1 97,58%</a:t>
            </a:r>
          </a:p>
        </p:txBody>
      </p:sp>
    </p:spTree>
    <p:extLst>
      <p:ext uri="{BB962C8B-B14F-4D97-AF65-F5344CB8AC3E}">
        <p14:creationId xmlns:p14="http://schemas.microsoft.com/office/powerpoint/2010/main" val="13141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6" name="text-0">
            <a:extLst>
              <a:ext uri="{FF2B5EF4-FFF2-40B4-BE49-F238E27FC236}">
                <a16:creationId xmlns:a16="http://schemas.microsoft.com/office/drawing/2014/main" id="{C587AE60-D9D7-4EBC-8A15-A980D0C9758A}"/>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Phụ lục: kết quả đầy đủ của 4 mô hình</a:t>
            </a:r>
          </a:p>
        </p:txBody>
      </p:sp>
      <p:sp>
        <p:nvSpPr>
          <p:cNvPr id="2" name="text-1">
            <a:extLst>
              <a:ext uri="{FF2B5EF4-FFF2-40B4-BE49-F238E27FC236}">
                <a16:creationId xmlns:a16="http://schemas.microsoft.com/office/drawing/2014/main" id="{710358A7-6240-47A2-B0BA-CC1B4F6B2D94}"/>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20</a:t>
            </a:r>
          </a:p>
        </p:txBody>
      </p:sp>
      <p:graphicFrame>
        <p:nvGraphicFramePr>
          <p:cNvPr id="8" name="Table 7"/>
          <p:cNvGraphicFramePr/>
          <p:nvPr/>
        </p:nvGraphicFramePr>
        <p:xfrm>
          <a:off x="609600" y="1638300"/>
          <a:ext cx="10972800" cy="3238500"/>
        </p:xfrm>
        <a:graphic>
          <a:graphicData uri="http://schemas.openxmlformats.org/drawingml/2006/table">
            <a:tbl>
              <a:tblPr/>
              <a:tblGrid>
                <a:gridCol w="3019425">
                  <a:extLst>
                    <a:ext uri="{9D8B030D-6E8A-4147-A177-3AD203B41FA5}">
                      <a16:colId xmlns:a16="http://schemas.microsoft.com/office/drawing/2014/main" val="20000"/>
                    </a:ext>
                  </a:extLst>
                </a:gridCol>
                <a:gridCol w="1590675">
                  <a:extLst>
                    <a:ext uri="{9D8B030D-6E8A-4147-A177-3AD203B41FA5}">
                      <a16:colId xmlns:a16="http://schemas.microsoft.com/office/drawing/2014/main" val="20001"/>
                    </a:ext>
                  </a:extLst>
                </a:gridCol>
                <a:gridCol w="1590675">
                  <a:extLst>
                    <a:ext uri="{9D8B030D-6E8A-4147-A177-3AD203B41FA5}">
                      <a16:colId xmlns:a16="http://schemas.microsoft.com/office/drawing/2014/main" val="20002"/>
                    </a:ext>
                  </a:extLst>
                </a:gridCol>
                <a:gridCol w="1590675">
                  <a:extLst>
                    <a:ext uri="{9D8B030D-6E8A-4147-A177-3AD203B41FA5}">
                      <a16:colId xmlns:a16="http://schemas.microsoft.com/office/drawing/2014/main" val="20003"/>
                    </a:ext>
                  </a:extLst>
                </a:gridCol>
                <a:gridCol w="1590675">
                  <a:extLst>
                    <a:ext uri="{9D8B030D-6E8A-4147-A177-3AD203B41FA5}">
                      <a16:colId xmlns:a16="http://schemas.microsoft.com/office/drawing/2014/main" val="20004"/>
                    </a:ext>
                  </a:extLst>
                </a:gridCol>
                <a:gridCol w="1590675">
                  <a:extLst>
                    <a:ext uri="{9D8B030D-6E8A-4147-A177-3AD203B41FA5}">
                      <a16:colId xmlns:a16="http://schemas.microsoft.com/office/drawing/2014/main" val="20005"/>
                    </a:ext>
                  </a:extLst>
                </a:gridCol>
              </a:tblGrid>
              <a:tr h="647700">
                <a:tc>
                  <a:txBody>
                    <a:bodyPr/>
                    <a:lstStyle/>
                    <a:p>
                      <a:r>
                        <a:rPr sz="1725" b="1">
                          <a:solidFill>
                            <a:srgbClr val="FFFFFF"/>
                          </a:solidFill>
                          <a:latin typeface="Arial"/>
                          <a:ea typeface="Arial"/>
                          <a:cs typeface="Arial"/>
                        </a:rPr>
                        <a:t>Mô hình</a:t>
                      </a:r>
                    </a:p>
                  </a:txBody>
                  <a:tcPr marL="152400" marR="133350" marT="95250" marB="95250">
                    <a:solidFill>
                      <a:srgbClr val="102A43"/>
                    </a:solidFill>
                  </a:tcPr>
                </a:tc>
                <a:tc>
                  <a:txBody>
                    <a:bodyPr/>
                    <a:lstStyle/>
                    <a:p>
                      <a:r>
                        <a:rPr sz="1725" b="1">
                          <a:solidFill>
                            <a:srgbClr val="FFFFFF"/>
                          </a:solidFill>
                          <a:latin typeface="Arial"/>
                          <a:ea typeface="Arial"/>
                          <a:cs typeface="Arial"/>
                        </a:rPr>
                        <a:t>FNR</a:t>
                      </a:r>
                    </a:p>
                  </a:txBody>
                  <a:tcPr marL="152400" marR="133350" marT="95250" marB="95250">
                    <a:solidFill>
                      <a:srgbClr val="102A43"/>
                    </a:solidFill>
                  </a:tcPr>
                </a:tc>
                <a:tc>
                  <a:txBody>
                    <a:bodyPr/>
                    <a:lstStyle/>
                    <a:p>
                      <a:r>
                        <a:rPr sz="1725" b="1">
                          <a:solidFill>
                            <a:srgbClr val="FFFFFF"/>
                          </a:solidFill>
                          <a:latin typeface="Arial"/>
                          <a:ea typeface="Arial"/>
                          <a:cs typeface="Arial"/>
                        </a:rPr>
                        <a:t>Recall</a:t>
                      </a:r>
                    </a:p>
                  </a:txBody>
                  <a:tcPr marL="152400" marR="133350" marT="95250" marB="95250">
                    <a:solidFill>
                      <a:srgbClr val="102A43"/>
                    </a:solidFill>
                  </a:tcPr>
                </a:tc>
                <a:tc>
                  <a:txBody>
                    <a:bodyPr/>
                    <a:lstStyle/>
                    <a:p>
                      <a:r>
                        <a:rPr sz="1725" b="1">
                          <a:solidFill>
                            <a:srgbClr val="FFFFFF"/>
                          </a:solidFill>
                          <a:latin typeface="Arial"/>
                          <a:ea typeface="Arial"/>
                          <a:cs typeface="Arial"/>
                        </a:rPr>
                        <a:t>Precision</a:t>
                      </a:r>
                    </a:p>
                  </a:txBody>
                  <a:tcPr marL="152400" marR="133350" marT="95250" marB="95250">
                    <a:solidFill>
                      <a:srgbClr val="102A43"/>
                    </a:solidFill>
                  </a:tcPr>
                </a:tc>
                <a:tc>
                  <a:txBody>
                    <a:bodyPr/>
                    <a:lstStyle/>
                    <a:p>
                      <a:r>
                        <a:rPr sz="1725" b="1">
                          <a:solidFill>
                            <a:srgbClr val="FFFFFF"/>
                          </a:solidFill>
                          <a:latin typeface="Arial"/>
                          <a:ea typeface="Arial"/>
                          <a:cs typeface="Arial"/>
                        </a:rPr>
                        <a:t>F1</a:t>
                      </a:r>
                    </a:p>
                  </a:txBody>
                  <a:tcPr marL="152400" marR="133350" marT="95250" marB="95250">
                    <a:solidFill>
                      <a:srgbClr val="102A43"/>
                    </a:solidFill>
                  </a:tcPr>
                </a:tc>
                <a:tc>
                  <a:txBody>
                    <a:bodyPr/>
                    <a:lstStyle/>
                    <a:p>
                      <a:r>
                        <a:rPr sz="1725" b="1">
                          <a:solidFill>
                            <a:srgbClr val="FFFFFF"/>
                          </a:solidFill>
                          <a:latin typeface="Arial"/>
                          <a:ea typeface="Arial"/>
                          <a:cs typeface="Arial"/>
                        </a:rPr>
                        <a:t>Accuracy</a:t>
                      </a:r>
                    </a:p>
                  </a:txBody>
                  <a:tcPr marL="152400" marR="133350" marT="95250" marB="95250">
                    <a:solidFill>
                      <a:srgbClr val="102A43"/>
                    </a:solidFill>
                  </a:tcPr>
                </a:tc>
                <a:extLst>
                  <a:ext uri="{0D108BD9-81ED-4DB2-BD59-A6C34878D82A}">
                    <a16:rowId xmlns:a16="http://schemas.microsoft.com/office/drawing/2014/main" val="10000"/>
                  </a:ext>
                </a:extLst>
              </a:tr>
              <a:tr h="647700">
                <a:tc>
                  <a:txBody>
                    <a:bodyPr/>
                    <a:lstStyle/>
                    <a:p>
                      <a:r>
                        <a:rPr sz="1725">
                          <a:solidFill>
                            <a:srgbClr val="102A43"/>
                          </a:solidFill>
                          <a:latin typeface="Arial"/>
                          <a:ea typeface="Arial"/>
                          <a:cs typeface="Arial"/>
                        </a:rPr>
                        <a:t>Logistic Regression</a:t>
                      </a:r>
                    </a:p>
                  </a:txBody>
                  <a:tcPr marL="152400" marR="133350" marT="95250" marB="95250">
                    <a:solidFill>
                      <a:srgbClr val="FFFFFF"/>
                    </a:solidFill>
                  </a:tcPr>
                </a:tc>
                <a:tc>
                  <a:txBody>
                    <a:bodyPr/>
                    <a:lstStyle/>
                    <a:p>
                      <a:r>
                        <a:rPr sz="1725">
                          <a:solidFill>
                            <a:srgbClr val="102A43"/>
                          </a:solidFill>
                          <a:latin typeface="Arial"/>
                          <a:ea typeface="Arial"/>
                          <a:cs typeface="Arial"/>
                        </a:rPr>
                        <a:t>5,50%</a:t>
                      </a:r>
                    </a:p>
                  </a:txBody>
                  <a:tcPr marL="152400" marR="133350" marT="95250" marB="95250">
                    <a:solidFill>
                      <a:srgbClr val="FFFFFF"/>
                    </a:solidFill>
                  </a:tcPr>
                </a:tc>
                <a:tc>
                  <a:txBody>
                    <a:bodyPr/>
                    <a:lstStyle/>
                    <a:p>
                      <a:r>
                        <a:rPr sz="1725">
                          <a:solidFill>
                            <a:srgbClr val="102A43"/>
                          </a:solidFill>
                          <a:latin typeface="Arial"/>
                          <a:ea typeface="Arial"/>
                          <a:cs typeface="Arial"/>
                        </a:rPr>
                        <a:t>94,50%</a:t>
                      </a:r>
                    </a:p>
                  </a:txBody>
                  <a:tcPr marL="152400" marR="133350" marT="95250" marB="95250">
                    <a:solidFill>
                      <a:srgbClr val="FFFFFF"/>
                    </a:solidFill>
                  </a:tcPr>
                </a:tc>
                <a:tc>
                  <a:txBody>
                    <a:bodyPr/>
                    <a:lstStyle/>
                    <a:p>
                      <a:r>
                        <a:rPr sz="1725">
                          <a:solidFill>
                            <a:srgbClr val="102A43"/>
                          </a:solidFill>
                          <a:latin typeface="Arial"/>
                          <a:ea typeface="Arial"/>
                          <a:cs typeface="Arial"/>
                        </a:rPr>
                        <a:t>97,30%</a:t>
                      </a:r>
                    </a:p>
                  </a:txBody>
                  <a:tcPr marL="152400" marR="133350" marT="95250" marB="95250">
                    <a:solidFill>
                      <a:srgbClr val="FFFFFF"/>
                    </a:solidFill>
                  </a:tcPr>
                </a:tc>
                <a:tc>
                  <a:txBody>
                    <a:bodyPr/>
                    <a:lstStyle/>
                    <a:p>
                      <a:r>
                        <a:rPr sz="1725">
                          <a:solidFill>
                            <a:srgbClr val="102A43"/>
                          </a:solidFill>
                          <a:latin typeface="Arial"/>
                          <a:ea typeface="Arial"/>
                          <a:cs typeface="Arial"/>
                        </a:rPr>
                        <a:t>95,88%</a:t>
                      </a:r>
                    </a:p>
                  </a:txBody>
                  <a:tcPr marL="152400" marR="133350" marT="95250" marB="95250">
                    <a:solidFill>
                      <a:srgbClr val="FFFFFF"/>
                    </a:solidFill>
                  </a:tcPr>
                </a:tc>
                <a:tc>
                  <a:txBody>
                    <a:bodyPr/>
                    <a:lstStyle/>
                    <a:p>
                      <a:r>
                        <a:rPr sz="1725">
                          <a:solidFill>
                            <a:srgbClr val="102A43"/>
                          </a:solidFill>
                          <a:latin typeface="Arial"/>
                          <a:ea typeface="Arial"/>
                          <a:cs typeface="Arial"/>
                        </a:rPr>
                        <a:t>96,34%</a:t>
                      </a:r>
                    </a:p>
                  </a:txBody>
                  <a:tcPr marL="152400" marR="133350" marT="95250" marB="95250">
                    <a:solidFill>
                      <a:srgbClr val="FFFFFF"/>
                    </a:solidFill>
                  </a:tcPr>
                </a:tc>
                <a:extLst>
                  <a:ext uri="{0D108BD9-81ED-4DB2-BD59-A6C34878D82A}">
                    <a16:rowId xmlns:a16="http://schemas.microsoft.com/office/drawing/2014/main" val="10001"/>
                  </a:ext>
                </a:extLst>
              </a:tr>
              <a:tr h="647700">
                <a:tc>
                  <a:txBody>
                    <a:bodyPr/>
                    <a:lstStyle/>
                    <a:p>
                      <a:r>
                        <a:rPr sz="1725">
                          <a:solidFill>
                            <a:srgbClr val="102A43"/>
                          </a:solidFill>
                          <a:latin typeface="Arial"/>
                          <a:ea typeface="Arial"/>
                          <a:cs typeface="Arial"/>
                        </a:rPr>
                        <a:t>Decision Tree</a:t>
                      </a:r>
                    </a:p>
                  </a:txBody>
                  <a:tcPr marL="152400" marR="133350" marT="95250" marB="95250">
                    <a:solidFill>
                      <a:srgbClr val="FFFFFF"/>
                    </a:solidFill>
                  </a:tcPr>
                </a:tc>
                <a:tc>
                  <a:txBody>
                    <a:bodyPr/>
                    <a:lstStyle/>
                    <a:p>
                      <a:r>
                        <a:rPr sz="1725">
                          <a:solidFill>
                            <a:srgbClr val="102A43"/>
                          </a:solidFill>
                          <a:latin typeface="Arial"/>
                          <a:ea typeface="Arial"/>
                          <a:cs typeface="Arial"/>
                        </a:rPr>
                        <a:t>4,49%</a:t>
                      </a:r>
                    </a:p>
                  </a:txBody>
                  <a:tcPr marL="152400" marR="133350" marT="95250" marB="95250">
                    <a:solidFill>
                      <a:srgbClr val="FFFFFF"/>
                    </a:solidFill>
                  </a:tcPr>
                </a:tc>
                <a:tc>
                  <a:txBody>
                    <a:bodyPr/>
                    <a:lstStyle/>
                    <a:p>
                      <a:r>
                        <a:rPr sz="1725">
                          <a:solidFill>
                            <a:srgbClr val="102A43"/>
                          </a:solidFill>
                          <a:latin typeface="Arial"/>
                          <a:ea typeface="Arial"/>
                          <a:cs typeface="Arial"/>
                        </a:rPr>
                        <a:t>95,51%</a:t>
                      </a:r>
                    </a:p>
                  </a:txBody>
                  <a:tcPr marL="152400" marR="133350" marT="95250" marB="95250">
                    <a:solidFill>
                      <a:srgbClr val="FFFFFF"/>
                    </a:solidFill>
                  </a:tcPr>
                </a:tc>
                <a:tc>
                  <a:txBody>
                    <a:bodyPr/>
                    <a:lstStyle/>
                    <a:p>
                      <a:r>
                        <a:rPr sz="1725">
                          <a:solidFill>
                            <a:srgbClr val="102A43"/>
                          </a:solidFill>
                          <a:latin typeface="Arial"/>
                          <a:ea typeface="Arial"/>
                          <a:cs typeface="Arial"/>
                        </a:rPr>
                        <a:t>98,68%</a:t>
                      </a:r>
                    </a:p>
                  </a:txBody>
                  <a:tcPr marL="152400" marR="133350" marT="95250" marB="95250">
                    <a:solidFill>
                      <a:srgbClr val="FFFFFF"/>
                    </a:solidFill>
                  </a:tcPr>
                </a:tc>
                <a:tc>
                  <a:txBody>
                    <a:bodyPr/>
                    <a:lstStyle/>
                    <a:p>
                      <a:r>
                        <a:rPr sz="1725">
                          <a:solidFill>
                            <a:srgbClr val="102A43"/>
                          </a:solidFill>
                          <a:latin typeface="Arial"/>
                          <a:ea typeface="Arial"/>
                          <a:cs typeface="Arial"/>
                        </a:rPr>
                        <a:t>97,07%</a:t>
                      </a:r>
                    </a:p>
                  </a:txBody>
                  <a:tcPr marL="152400" marR="133350" marT="95250" marB="95250">
                    <a:solidFill>
                      <a:srgbClr val="FFFFFF"/>
                    </a:solidFill>
                  </a:tcPr>
                </a:tc>
                <a:tc>
                  <a:txBody>
                    <a:bodyPr/>
                    <a:lstStyle/>
                    <a:p>
                      <a:r>
                        <a:rPr sz="1725">
                          <a:solidFill>
                            <a:srgbClr val="102A43"/>
                          </a:solidFill>
                          <a:latin typeface="Arial"/>
                          <a:ea typeface="Arial"/>
                          <a:cs typeface="Arial"/>
                        </a:rPr>
                        <a:t>97,41%</a:t>
                      </a:r>
                    </a:p>
                  </a:txBody>
                  <a:tcPr marL="152400" marR="133350" marT="95250" marB="95250">
                    <a:solidFill>
                      <a:srgbClr val="FFFFFF"/>
                    </a:solidFill>
                  </a:tcPr>
                </a:tc>
                <a:extLst>
                  <a:ext uri="{0D108BD9-81ED-4DB2-BD59-A6C34878D82A}">
                    <a16:rowId xmlns:a16="http://schemas.microsoft.com/office/drawing/2014/main" val="10002"/>
                  </a:ext>
                </a:extLst>
              </a:tr>
              <a:tr h="647700">
                <a:tc>
                  <a:txBody>
                    <a:bodyPr/>
                    <a:lstStyle/>
                    <a:p>
                      <a:r>
                        <a:rPr sz="1725">
                          <a:solidFill>
                            <a:srgbClr val="102A43"/>
                          </a:solidFill>
                          <a:latin typeface="Arial"/>
                          <a:ea typeface="Arial"/>
                          <a:cs typeface="Arial"/>
                        </a:rPr>
                        <a:t>Random Forest</a:t>
                      </a:r>
                    </a:p>
                  </a:txBody>
                  <a:tcPr marL="152400" marR="133350" marT="95250" marB="95250">
                    <a:solidFill>
                      <a:srgbClr val="FFFFFF"/>
                    </a:solidFill>
                  </a:tcPr>
                </a:tc>
                <a:tc>
                  <a:txBody>
                    <a:bodyPr/>
                    <a:lstStyle/>
                    <a:p>
                      <a:r>
                        <a:rPr sz="1725">
                          <a:solidFill>
                            <a:srgbClr val="102A43"/>
                          </a:solidFill>
                          <a:latin typeface="Arial"/>
                          <a:ea typeface="Arial"/>
                          <a:cs typeface="Arial"/>
                        </a:rPr>
                        <a:t>3,56%</a:t>
                      </a:r>
                    </a:p>
                  </a:txBody>
                  <a:tcPr marL="152400" marR="133350" marT="95250" marB="95250">
                    <a:solidFill>
                      <a:srgbClr val="FFFFFF"/>
                    </a:solidFill>
                  </a:tcPr>
                </a:tc>
                <a:tc>
                  <a:txBody>
                    <a:bodyPr/>
                    <a:lstStyle/>
                    <a:p>
                      <a:r>
                        <a:rPr sz="1725">
                          <a:solidFill>
                            <a:srgbClr val="102A43"/>
                          </a:solidFill>
                          <a:latin typeface="Arial"/>
                          <a:ea typeface="Arial"/>
                          <a:cs typeface="Arial"/>
                        </a:rPr>
                        <a:t>96,44%</a:t>
                      </a:r>
                    </a:p>
                  </a:txBody>
                  <a:tcPr marL="152400" marR="133350" marT="95250" marB="95250">
                    <a:solidFill>
                      <a:srgbClr val="FFFFFF"/>
                    </a:solidFill>
                  </a:tcPr>
                </a:tc>
                <a:tc>
                  <a:txBody>
                    <a:bodyPr/>
                    <a:lstStyle/>
                    <a:p>
                      <a:r>
                        <a:rPr sz="1725">
                          <a:solidFill>
                            <a:srgbClr val="102A43"/>
                          </a:solidFill>
                          <a:latin typeface="Arial"/>
                          <a:ea typeface="Arial"/>
                          <a:cs typeface="Arial"/>
                        </a:rPr>
                        <a:t>98,51%</a:t>
                      </a:r>
                    </a:p>
                  </a:txBody>
                  <a:tcPr marL="152400" marR="133350" marT="95250" marB="95250">
                    <a:solidFill>
                      <a:srgbClr val="FFFFFF"/>
                    </a:solidFill>
                  </a:tcPr>
                </a:tc>
                <a:tc>
                  <a:txBody>
                    <a:bodyPr/>
                    <a:lstStyle/>
                    <a:p>
                      <a:r>
                        <a:rPr sz="1725">
                          <a:solidFill>
                            <a:srgbClr val="102A43"/>
                          </a:solidFill>
                          <a:latin typeface="Arial"/>
                          <a:ea typeface="Arial"/>
                          <a:cs typeface="Arial"/>
                        </a:rPr>
                        <a:t>97,47%</a:t>
                      </a:r>
                    </a:p>
                  </a:txBody>
                  <a:tcPr marL="152400" marR="133350" marT="95250" marB="95250">
                    <a:solidFill>
                      <a:srgbClr val="FFFFFF"/>
                    </a:solidFill>
                  </a:tcPr>
                </a:tc>
                <a:tc>
                  <a:txBody>
                    <a:bodyPr/>
                    <a:lstStyle/>
                    <a:p>
                      <a:r>
                        <a:rPr sz="1725">
                          <a:solidFill>
                            <a:srgbClr val="102A43"/>
                          </a:solidFill>
                          <a:latin typeface="Arial"/>
                          <a:ea typeface="Arial"/>
                          <a:cs typeface="Arial"/>
                        </a:rPr>
                        <a:t>97,74%</a:t>
                      </a:r>
                    </a:p>
                  </a:txBody>
                  <a:tcPr marL="152400" marR="133350" marT="95250" marB="95250">
                    <a:solidFill>
                      <a:srgbClr val="FFFFFF"/>
                    </a:solidFill>
                  </a:tcPr>
                </a:tc>
                <a:extLst>
                  <a:ext uri="{0D108BD9-81ED-4DB2-BD59-A6C34878D82A}">
                    <a16:rowId xmlns:a16="http://schemas.microsoft.com/office/drawing/2014/main" val="10003"/>
                  </a:ext>
                </a:extLst>
              </a:tr>
              <a:tr h="647700">
                <a:tc>
                  <a:txBody>
                    <a:bodyPr/>
                    <a:lstStyle/>
                    <a:p>
                      <a:r>
                        <a:rPr sz="1725" b="1">
                          <a:solidFill>
                            <a:srgbClr val="007F86"/>
                          </a:solidFill>
                          <a:latin typeface="Arial"/>
                          <a:ea typeface="Arial"/>
                          <a:cs typeface="Arial"/>
                        </a:rPr>
                        <a:t>XGBoost</a:t>
                      </a:r>
                    </a:p>
                  </a:txBody>
                  <a:tcPr marL="152400" marR="133350" marT="95250" marB="95250">
                    <a:solidFill>
                      <a:srgbClr val="E5F2F1"/>
                    </a:solidFill>
                  </a:tcPr>
                </a:tc>
                <a:tc>
                  <a:txBody>
                    <a:bodyPr/>
                    <a:lstStyle/>
                    <a:p>
                      <a:r>
                        <a:rPr sz="1725" b="1">
                          <a:solidFill>
                            <a:srgbClr val="007F86"/>
                          </a:solidFill>
                          <a:latin typeface="Arial"/>
                          <a:ea typeface="Arial"/>
                          <a:cs typeface="Arial"/>
                        </a:rPr>
                        <a:t>3,47%</a:t>
                      </a:r>
                    </a:p>
                  </a:txBody>
                  <a:tcPr marL="152400" marR="133350" marT="95250" marB="95250">
                    <a:solidFill>
                      <a:srgbClr val="E5F2F1"/>
                    </a:solidFill>
                  </a:tcPr>
                </a:tc>
                <a:tc>
                  <a:txBody>
                    <a:bodyPr/>
                    <a:lstStyle/>
                    <a:p>
                      <a:r>
                        <a:rPr sz="1725" b="1">
                          <a:solidFill>
                            <a:srgbClr val="007F86"/>
                          </a:solidFill>
                          <a:latin typeface="Arial"/>
                          <a:ea typeface="Arial"/>
                          <a:cs typeface="Arial"/>
                        </a:rPr>
                        <a:t>96,53%</a:t>
                      </a:r>
                    </a:p>
                  </a:txBody>
                  <a:tcPr marL="152400" marR="133350" marT="95250" marB="95250">
                    <a:solidFill>
                      <a:srgbClr val="E5F2F1"/>
                    </a:solidFill>
                  </a:tcPr>
                </a:tc>
                <a:tc>
                  <a:txBody>
                    <a:bodyPr/>
                    <a:lstStyle/>
                    <a:p>
                      <a:r>
                        <a:rPr sz="1725" b="1">
                          <a:solidFill>
                            <a:srgbClr val="007F86"/>
                          </a:solidFill>
                          <a:latin typeface="Arial"/>
                          <a:ea typeface="Arial"/>
                          <a:cs typeface="Arial"/>
                        </a:rPr>
                        <a:t>98,66%</a:t>
                      </a:r>
                    </a:p>
                  </a:txBody>
                  <a:tcPr marL="152400" marR="133350" marT="95250" marB="95250">
                    <a:solidFill>
                      <a:srgbClr val="E5F2F1"/>
                    </a:solidFill>
                  </a:tcPr>
                </a:tc>
                <a:tc>
                  <a:txBody>
                    <a:bodyPr/>
                    <a:lstStyle/>
                    <a:p>
                      <a:r>
                        <a:rPr sz="1725" b="1">
                          <a:solidFill>
                            <a:srgbClr val="007F86"/>
                          </a:solidFill>
                          <a:latin typeface="Arial"/>
                          <a:ea typeface="Arial"/>
                          <a:cs typeface="Arial"/>
                        </a:rPr>
                        <a:t>97,58%</a:t>
                      </a:r>
                    </a:p>
                  </a:txBody>
                  <a:tcPr marL="152400" marR="133350" marT="95250" marB="95250">
                    <a:solidFill>
                      <a:srgbClr val="E5F2F1"/>
                    </a:solidFill>
                  </a:tcPr>
                </a:tc>
                <a:tc>
                  <a:txBody>
                    <a:bodyPr/>
                    <a:lstStyle/>
                    <a:p>
                      <a:r>
                        <a:rPr sz="1725" b="1">
                          <a:solidFill>
                            <a:srgbClr val="007F86"/>
                          </a:solidFill>
                          <a:latin typeface="Arial"/>
                          <a:ea typeface="Arial"/>
                          <a:cs typeface="Arial"/>
                        </a:rPr>
                        <a:t>97,85%</a:t>
                      </a:r>
                    </a:p>
                  </a:txBody>
                  <a:tcPr marL="152400" marR="133350" marT="95250" marB="95250">
                    <a:solidFill>
                      <a:srgbClr val="E5F2F1"/>
                    </a:solidFill>
                  </a:tcPr>
                </a:tc>
                <a:extLst>
                  <a:ext uri="{0D108BD9-81ED-4DB2-BD59-A6C34878D82A}">
                    <a16:rowId xmlns:a16="http://schemas.microsoft.com/office/drawing/2014/main" val="10004"/>
                  </a:ext>
                </a:extLst>
              </a:tr>
            </a:tbl>
          </a:graphicData>
        </a:graphic>
      </p:graphicFrame>
      <p:sp>
        <p:nvSpPr>
          <p:cNvPr id="4" name="text-2">
            <a:extLst>
              <a:ext uri="{FF2B5EF4-FFF2-40B4-BE49-F238E27FC236}">
                <a16:creationId xmlns:a16="http://schemas.microsoft.com/office/drawing/2014/main" id="{AC0ED3E8-60A7-4CDF-ABAE-B4B0386141C2}"/>
              </a:ext>
            </a:extLst>
          </p:cNvPr>
          <p:cNvSpPr>
            <a:spLocks noGrp="1"/>
          </p:cNvSpPr>
          <p:nvPr/>
        </p:nvSpPr>
        <p:spPr>
          <a:xfrm>
            <a:off x="609600" y="5257800"/>
            <a:ext cx="10858500" cy="381000"/>
          </a:xfrm>
          <a:prstGeom prst="rect">
            <a:avLst/>
          </a:prstGeom>
          <a:noFill/>
          <a:ln w="0">
            <a:noFill/>
          </a:ln>
        </p:spPr>
        <p:txBody>
          <a:bodyPr>
            <a:noAutofit/>
          </a:bodyPr>
          <a:lstStyle/>
          <a:p>
            <a:pPr algn="l">
              <a:defRPr sz="2025" b="1">
                <a:solidFill>
                  <a:srgbClr val="007F86"/>
                </a:solidFill>
                <a:latin typeface="Arial"/>
                <a:ea typeface="Arial"/>
                <a:cs typeface="Arial"/>
              </a:defRPr>
            </a:pPr>
            <a:r>
              <a:rPr sz="2025" b="1">
                <a:solidFill>
                  <a:srgbClr val="007F86"/>
                </a:solidFill>
                <a:latin typeface="Arial"/>
                <a:ea typeface="Arial"/>
                <a:cs typeface="Arial"/>
              </a:rPr>
              <a:t>Số URL phishing bị bỏ sót</a:t>
            </a:r>
          </a:p>
        </p:txBody>
      </p:sp>
      <p:sp>
        <p:nvSpPr>
          <p:cNvPr id="5" name="text-3">
            <a:extLst>
              <a:ext uri="{FF2B5EF4-FFF2-40B4-BE49-F238E27FC236}">
                <a16:creationId xmlns:a16="http://schemas.microsoft.com/office/drawing/2014/main" id="{DE10D306-8B06-4623-8559-A92B8B072B42}"/>
              </a:ext>
            </a:extLst>
          </p:cNvPr>
          <p:cNvSpPr>
            <a:spLocks noGrp="1"/>
          </p:cNvSpPr>
          <p:nvPr/>
        </p:nvSpPr>
        <p:spPr>
          <a:xfrm>
            <a:off x="609600" y="5743575"/>
            <a:ext cx="10858500" cy="457200"/>
          </a:xfrm>
          <a:prstGeom prst="rect">
            <a:avLst/>
          </a:prstGeom>
          <a:noFill/>
          <a:ln w="0">
            <a:noFill/>
          </a:ln>
        </p:spPr>
        <p:txBody>
          <a:bodyPr>
            <a:noAutofit/>
          </a:bodyPr>
          <a:lstStyle/>
          <a:p>
            <a:pPr algn="l">
              <a:defRPr sz="1800" b="0">
                <a:solidFill>
                  <a:srgbClr val="102A43"/>
                </a:solidFill>
                <a:latin typeface="Arial"/>
                <a:ea typeface="Arial"/>
                <a:cs typeface="Arial"/>
              </a:defRPr>
            </a:pPr>
            <a:r>
              <a:rPr sz="1800" b="0">
                <a:solidFill>
                  <a:srgbClr val="102A43"/>
                </a:solidFill>
                <a:latin typeface="Arial"/>
                <a:ea typeface="Arial"/>
                <a:cs typeface="Arial"/>
              </a:rPr>
              <a:t>Logistic: 1.223    Decision Tree: 998    Random Forest: 791    XGBoost: 772</a:t>
            </a:r>
          </a:p>
        </p:txBody>
      </p:sp>
    </p:spTree>
    <p:extLst>
      <p:ext uri="{BB962C8B-B14F-4D97-AF65-F5344CB8AC3E}">
        <p14:creationId xmlns:p14="http://schemas.microsoft.com/office/powerpoint/2010/main" val="81765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7F8"/>
        </a:solidFill>
        <a:effectLst/>
      </p:bgPr>
    </p:bg>
    <p:spTree>
      <p:nvGrpSpPr>
        <p:cNvPr id="1" name=""/>
        <p:cNvGrpSpPr/>
        <p:nvPr/>
      </p:nvGrpSpPr>
      <p:grpSpPr>
        <a:xfrm>
          <a:off x="0" y="0"/>
          <a:ext cx="0" cy="0"/>
          <a:chOff x="0" y="0"/>
          <a:chExt cx="0" cy="0"/>
        </a:xfrm>
      </p:grpSpPr>
      <p:sp>
        <p:nvSpPr>
          <p:cNvPr id="11" name="text-0">
            <a:extLst>
              <a:ext uri="{FF2B5EF4-FFF2-40B4-BE49-F238E27FC236}">
                <a16:creationId xmlns:a16="http://schemas.microsoft.com/office/drawing/2014/main" id="{7FC332BD-A3ED-49D1-8BCD-38483C154FF8}"/>
              </a:ext>
            </a:extLst>
          </p:cNvPr>
          <p:cNvSpPr>
            <a:spLocks noGrp="1"/>
          </p:cNvSpPr>
          <p:nvPr/>
        </p:nvSpPr>
        <p:spPr>
          <a:xfrm>
            <a:off x="533400" y="361950"/>
            <a:ext cx="11125200" cy="1000125"/>
          </a:xfrm>
          <a:prstGeom prst="rect">
            <a:avLst/>
          </a:prstGeom>
          <a:noFill/>
          <a:ln w="0">
            <a:noFill/>
          </a:ln>
        </p:spPr>
        <p:txBody>
          <a:bodyPr>
            <a:noAutofit/>
          </a:bodyPr>
          <a:lstStyle/>
          <a:p>
            <a:pPr algn="l">
              <a:defRPr sz="3300" b="1">
                <a:solidFill>
                  <a:srgbClr val="102A43"/>
                </a:solidFill>
                <a:latin typeface="Arial"/>
                <a:ea typeface="Arial"/>
                <a:cs typeface="Arial"/>
              </a:defRPr>
            </a:pPr>
            <a:r>
              <a:rPr sz="3300" b="1">
                <a:solidFill>
                  <a:srgbClr val="102A43"/>
                </a:solidFill>
                <a:latin typeface="Arial"/>
                <a:ea typeface="Arial"/>
                <a:cs typeface="Arial"/>
              </a:rPr>
              <a:t>Phụ lục: trao đổi khi bảo vệ</a:t>
            </a:r>
          </a:p>
        </p:txBody>
      </p:sp>
      <p:sp>
        <p:nvSpPr>
          <p:cNvPr id="2" name="text-1">
            <a:extLst>
              <a:ext uri="{FF2B5EF4-FFF2-40B4-BE49-F238E27FC236}">
                <a16:creationId xmlns:a16="http://schemas.microsoft.com/office/drawing/2014/main" id="{40B63EE5-5386-4434-92F2-F9AEEDFB30F5}"/>
              </a:ext>
            </a:extLst>
          </p:cNvPr>
          <p:cNvSpPr>
            <a:spLocks noGrp="1"/>
          </p:cNvSpPr>
          <p:nvPr/>
        </p:nvSpPr>
        <p:spPr>
          <a:xfrm>
            <a:off x="11068050" y="6419850"/>
            <a:ext cx="571500" cy="228600"/>
          </a:xfrm>
          <a:prstGeom prst="rect">
            <a:avLst/>
          </a:prstGeom>
          <a:noFill/>
          <a:ln w="0">
            <a:noFill/>
          </a:ln>
        </p:spPr>
        <p:txBody>
          <a:bodyPr>
            <a:noAutofit/>
          </a:bodyPr>
          <a:lstStyle/>
          <a:p>
            <a:pPr algn="r">
              <a:defRPr sz="1200" b="0">
                <a:solidFill>
                  <a:srgbClr val="526777"/>
                </a:solidFill>
                <a:latin typeface="Arial"/>
                <a:ea typeface="Arial"/>
                <a:cs typeface="Arial"/>
              </a:defRPr>
            </a:pPr>
            <a:r>
              <a:rPr sz="1200" b="0">
                <a:solidFill>
                  <a:srgbClr val="526777"/>
                </a:solidFill>
                <a:latin typeface="Arial"/>
                <a:ea typeface="Arial"/>
                <a:cs typeface="Arial"/>
              </a:rPr>
              <a:t>21</a:t>
            </a:r>
          </a:p>
        </p:txBody>
      </p:sp>
      <p:sp>
        <p:nvSpPr>
          <p:cNvPr id="3" name="text-2">
            <a:extLst>
              <a:ext uri="{FF2B5EF4-FFF2-40B4-BE49-F238E27FC236}">
                <a16:creationId xmlns:a16="http://schemas.microsoft.com/office/drawing/2014/main" id="{A69ADFB6-BCB7-4590-9EB8-44DC74D5618A}"/>
              </a:ext>
            </a:extLst>
          </p:cNvPr>
          <p:cNvSpPr>
            <a:spLocks noGrp="1"/>
          </p:cNvSpPr>
          <p:nvPr/>
        </p:nvSpPr>
        <p:spPr>
          <a:xfrm>
            <a:off x="609600" y="1619250"/>
            <a:ext cx="348615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Vì sao chọn FNR?</a:t>
            </a:r>
          </a:p>
        </p:txBody>
      </p:sp>
      <p:sp>
        <p:nvSpPr>
          <p:cNvPr id="4" name="text-3">
            <a:extLst>
              <a:ext uri="{FF2B5EF4-FFF2-40B4-BE49-F238E27FC236}">
                <a16:creationId xmlns:a16="http://schemas.microsoft.com/office/drawing/2014/main" id="{7B318F0C-3AD8-4109-9784-8A159219D11E}"/>
              </a:ext>
            </a:extLst>
          </p:cNvPr>
          <p:cNvSpPr>
            <a:spLocks noGrp="1"/>
          </p:cNvSpPr>
          <p:nvPr/>
        </p:nvSpPr>
        <p:spPr>
          <a:xfrm>
            <a:off x="4324350" y="1619250"/>
            <a:ext cx="71056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Theo dõi trực tiếp tỷ lệ phishing bị bỏ sót</a:t>
            </a:r>
          </a:p>
        </p:txBody>
      </p:sp>
      <p:sp>
        <p:nvSpPr>
          <p:cNvPr id="5" name="text-4">
            <a:extLst>
              <a:ext uri="{FF2B5EF4-FFF2-40B4-BE49-F238E27FC236}">
                <a16:creationId xmlns:a16="http://schemas.microsoft.com/office/drawing/2014/main" id="{336D0794-6916-453D-8C35-ED71C84AD798}"/>
              </a:ext>
            </a:extLst>
          </p:cNvPr>
          <p:cNvSpPr>
            <a:spLocks noGrp="1"/>
          </p:cNvSpPr>
          <p:nvPr/>
        </p:nvSpPr>
        <p:spPr>
          <a:xfrm>
            <a:off x="609600" y="2695575"/>
            <a:ext cx="348615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Điểm 80 là 80%?</a:t>
            </a:r>
          </a:p>
        </p:txBody>
      </p:sp>
      <p:sp>
        <p:nvSpPr>
          <p:cNvPr id="6" name="text-5">
            <a:extLst>
              <a:ext uri="{FF2B5EF4-FFF2-40B4-BE49-F238E27FC236}">
                <a16:creationId xmlns:a16="http://schemas.microsoft.com/office/drawing/2014/main" id="{DBD2E56A-1D5D-4484-8773-BB4A0EE44F00}"/>
              </a:ext>
            </a:extLst>
          </p:cNvPr>
          <p:cNvSpPr>
            <a:spLocks noGrp="1"/>
          </p:cNvSpPr>
          <p:nvPr/>
        </p:nvSpPr>
        <p:spPr>
          <a:xfrm>
            <a:off x="4324350" y="2695575"/>
            <a:ext cx="71056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Là chỉ số tổng hợp, tách biệt với xác suất ML</a:t>
            </a:r>
          </a:p>
        </p:txBody>
      </p:sp>
      <p:sp>
        <p:nvSpPr>
          <p:cNvPr id="7" name="text-6">
            <a:extLst>
              <a:ext uri="{FF2B5EF4-FFF2-40B4-BE49-F238E27FC236}">
                <a16:creationId xmlns:a16="http://schemas.microsoft.com/office/drawing/2014/main" id="{B856CC6C-CFCB-43E5-8251-E2514BED50A3}"/>
              </a:ext>
            </a:extLst>
          </p:cNvPr>
          <p:cNvSpPr>
            <a:spLocks noGrp="1"/>
          </p:cNvSpPr>
          <p:nvPr/>
        </p:nvSpPr>
        <p:spPr>
          <a:xfrm>
            <a:off x="609600" y="3771900"/>
            <a:ext cx="348615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Không có blacklist?</a:t>
            </a:r>
          </a:p>
        </p:txBody>
      </p:sp>
      <p:sp>
        <p:nvSpPr>
          <p:cNvPr id="8" name="text-7">
            <a:extLst>
              <a:ext uri="{FF2B5EF4-FFF2-40B4-BE49-F238E27FC236}">
                <a16:creationId xmlns:a16="http://schemas.microsoft.com/office/drawing/2014/main" id="{01180BDE-C80B-49B4-8658-AEDD33CEA704}"/>
              </a:ext>
            </a:extLst>
          </p:cNvPr>
          <p:cNvSpPr>
            <a:spLocks noGrp="1"/>
          </p:cNvSpPr>
          <p:nvPr/>
        </p:nvSpPr>
        <p:spPr>
          <a:xfrm>
            <a:off x="4324350" y="3771900"/>
            <a:ext cx="71056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Vẫn đánh giá bằng luật và mô hình</a:t>
            </a:r>
          </a:p>
        </p:txBody>
      </p:sp>
      <p:sp>
        <p:nvSpPr>
          <p:cNvPr id="9" name="text-8">
            <a:extLst>
              <a:ext uri="{FF2B5EF4-FFF2-40B4-BE49-F238E27FC236}">
                <a16:creationId xmlns:a16="http://schemas.microsoft.com/office/drawing/2014/main" id="{3E2D2CA8-E511-4C3E-B2C4-626989AB6B30}"/>
              </a:ext>
            </a:extLst>
          </p:cNvPr>
          <p:cNvSpPr>
            <a:spLocks noGrp="1"/>
          </p:cNvSpPr>
          <p:nvPr/>
        </p:nvSpPr>
        <p:spPr>
          <a:xfrm>
            <a:off x="609600" y="4848225"/>
            <a:ext cx="3486150" cy="762000"/>
          </a:xfrm>
          <a:prstGeom prst="rect">
            <a:avLst/>
          </a:prstGeom>
          <a:noFill/>
          <a:ln w="0">
            <a:noFill/>
          </a:ln>
        </p:spPr>
        <p:txBody>
          <a:bodyPr>
            <a:noAutofit/>
          </a:bodyPr>
          <a:lstStyle/>
          <a:p>
            <a:pPr algn="l">
              <a:defRPr sz="2100" b="1">
                <a:solidFill>
                  <a:srgbClr val="007F86"/>
                </a:solidFill>
                <a:latin typeface="Arial"/>
                <a:ea typeface="Arial"/>
                <a:cs typeface="Arial"/>
              </a:defRPr>
            </a:pPr>
            <a:r>
              <a:rPr sz="2100" b="1">
                <a:solidFill>
                  <a:srgbClr val="007F86"/>
                </a:solidFill>
                <a:latin typeface="Arial"/>
                <a:ea typeface="Arial"/>
                <a:cs typeface="Arial"/>
              </a:rPr>
              <a:t>WHOIS thất bại?</a:t>
            </a:r>
          </a:p>
        </p:txBody>
      </p:sp>
      <p:sp>
        <p:nvSpPr>
          <p:cNvPr id="10" name="text-9">
            <a:extLst>
              <a:ext uri="{FF2B5EF4-FFF2-40B4-BE49-F238E27FC236}">
                <a16:creationId xmlns:a16="http://schemas.microsoft.com/office/drawing/2014/main" id="{837E43EF-D3B0-466A-A8F4-1A7CC87236A4}"/>
              </a:ext>
            </a:extLst>
          </p:cNvPr>
          <p:cNvSpPr>
            <a:spLocks noGrp="1"/>
          </p:cNvSpPr>
          <p:nvPr/>
        </p:nvSpPr>
        <p:spPr>
          <a:xfrm>
            <a:off x="4324350" y="4848225"/>
            <a:ext cx="7105650" cy="838200"/>
          </a:xfrm>
          <a:prstGeom prst="rect">
            <a:avLst/>
          </a:prstGeom>
          <a:noFill/>
          <a:ln w="0">
            <a:noFill/>
          </a:ln>
        </p:spPr>
        <p:txBody>
          <a:bodyPr>
            <a:noAutofit/>
          </a:bodyPr>
          <a:lstStyle/>
          <a:p>
            <a:pPr algn="l">
              <a:defRPr sz="1950" b="0">
                <a:solidFill>
                  <a:srgbClr val="102A43"/>
                </a:solidFill>
                <a:latin typeface="Arial"/>
                <a:ea typeface="Arial"/>
                <a:cs typeface="Arial"/>
              </a:defRPr>
            </a:pPr>
            <a:r>
              <a:rPr sz="1950" b="0">
                <a:solidFill>
                  <a:srgbClr val="102A43"/>
                </a:solidFill>
                <a:latin typeface="Arial"/>
                <a:ea typeface="Arial"/>
                <a:cs typeface="Arial"/>
              </a:rPr>
              <a:t>Giữ tuổi domain chưa rõ, báo thiếu dữ liệu</a:t>
            </a:r>
          </a:p>
        </p:txBody>
      </p:sp>
    </p:spTree>
    <p:extLst>
      <p:ext uri="{BB962C8B-B14F-4D97-AF65-F5344CB8AC3E}">
        <p14:creationId xmlns:p14="http://schemas.microsoft.com/office/powerpoint/2010/main" val="8615987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5079</Words>
  <Application>Microsoft Office PowerPoint</Application>
  <DocSecurity>0</DocSecurity>
  <PresentationFormat>Widescreen</PresentationFormat>
  <Paragraphs>482</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DRD Nguyễn Thành Lộc</cp:lastModifiedBy>
  <cp:revision>1</cp:revision>
  <dcterms:created xsi:type="dcterms:W3CDTF">2026-09-28T08:17:44Z</dcterms:created>
  <dcterms:modified xsi:type="dcterms:W3CDTF">2026-09-28T09:13:19Z</dcterms:modified>
</cp:coreProperties>
</file>